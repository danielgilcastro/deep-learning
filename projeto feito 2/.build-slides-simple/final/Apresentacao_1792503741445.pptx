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aeec26c15b4a06" /><Relationship Type="http://schemas.openxmlformats.org/officeDocument/2006/relationships/extended-properties" Target="/docProps/app.xml" Id="R1a0b7dc5e9ec442c" /><Relationship Type="http://schemas.openxmlformats.org/officeDocument/2006/relationships/officeDocument" Target="/ppt/presentation.xml" Id="Rb65d702baa9a49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d208c0fc1f4997"/>
  </p:sldMasterIdLst>
  <p:notesMasterIdLst>
    <p:notesMasterId xmlns:r="http://schemas.openxmlformats.org/officeDocument/2006/relationships" r:id="R3c3724b594974c72"/>
  </p:notesMasterIdLst>
  <p:sldIdLst>
    <p:sldId xmlns:r="http://schemas.openxmlformats.org/officeDocument/2006/relationships" id="256" r:id="Re2b4e65074554315"/>
    <p:sldId xmlns:r="http://schemas.openxmlformats.org/officeDocument/2006/relationships" id="257" r:id="R03d7463119184e51"/>
    <p:sldId xmlns:r="http://schemas.openxmlformats.org/officeDocument/2006/relationships" id="258" r:id="R1421c54031954f36"/>
    <p:sldId xmlns:r="http://schemas.openxmlformats.org/officeDocument/2006/relationships" id="259" r:id="Rc128c7ce47b7485f"/>
    <p:sldId xmlns:r="http://schemas.openxmlformats.org/officeDocument/2006/relationships" id="260" r:id="R1592ba69740342f5"/>
    <p:sldId xmlns:r="http://schemas.openxmlformats.org/officeDocument/2006/relationships" id="261" r:id="R7ab9c8df1ef942af"/>
    <p:sldId xmlns:r="http://schemas.openxmlformats.org/officeDocument/2006/relationships" id="262" r:id="R83b25261530a4d1d"/>
    <p:sldId xmlns:r="http://schemas.openxmlformats.org/officeDocument/2006/relationships" id="263" r:id="R2391536d78c34d2c"/>
    <p:sldId xmlns:r="http://schemas.openxmlformats.org/officeDocument/2006/relationships" id="264" r:id="Raaa5b672b7d94795"/>
    <p:sldId xmlns:r="http://schemas.openxmlformats.org/officeDocument/2006/relationships" id="265" r:id="R081789ee8e704b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10a070fd7f4779" /><Relationship Type="http://schemas.openxmlformats.org/officeDocument/2006/relationships/slideMaster" Target="/ppt/slideMasters/slideMaster1.xml" Id="R25d208c0fc1f4997" /><Relationship Type="http://schemas.openxmlformats.org/officeDocument/2006/relationships/notesMaster" Target="/ppt/notesMasters/notesMaster1.xml" Id="R3c3724b594974c72" /><Relationship Type="http://schemas.openxmlformats.org/officeDocument/2006/relationships/presProps" Target="/ppt/presProps.xml" Id="Re6fc66bbaf1c4f6f" /><Relationship Type="http://schemas.openxmlformats.org/officeDocument/2006/relationships/tableStyles" Target="/ppt/tableStyles.xml" Id="R13665c6119e84bee" /><Relationship Type="http://schemas.openxmlformats.org/officeDocument/2006/relationships/slide" Target="/ppt/slides/slide1.xml" Id="Re2b4e65074554315" /><Relationship Type="http://schemas.openxmlformats.org/officeDocument/2006/relationships/slide" Target="/ppt/slides/slide2.xml" Id="R03d7463119184e51" /><Relationship Type="http://schemas.openxmlformats.org/officeDocument/2006/relationships/slide" Target="/ppt/slides/slide3.xml" Id="R1421c54031954f36" /><Relationship Type="http://schemas.openxmlformats.org/officeDocument/2006/relationships/slide" Target="/ppt/slides/slide4.xml" Id="Rc128c7ce47b7485f" /><Relationship Type="http://schemas.openxmlformats.org/officeDocument/2006/relationships/slide" Target="/ppt/slides/slide5.xml" Id="R1592ba69740342f5" /><Relationship Type="http://schemas.openxmlformats.org/officeDocument/2006/relationships/slide" Target="/ppt/slides/slide6.xml" Id="R7ab9c8df1ef942af" /><Relationship Type="http://schemas.openxmlformats.org/officeDocument/2006/relationships/slide" Target="/ppt/slides/slide7.xml" Id="R83b25261530a4d1d" /><Relationship Type="http://schemas.openxmlformats.org/officeDocument/2006/relationships/slide" Target="/ppt/slides/slide8.xml" Id="R2391536d78c34d2c" /><Relationship Type="http://schemas.openxmlformats.org/officeDocument/2006/relationships/slide" Target="/ppt/slides/slide9.xml" Id="Raaa5b672b7d94795" /><Relationship Type="http://schemas.openxmlformats.org/officeDocument/2006/relationships/slide" Target="/ppt/slides/slide10.xml" Id="R081789ee8e704b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20b896fb5f44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4b9b5a4aef4b0e" /><Relationship Type="http://schemas.openxmlformats.org/officeDocument/2006/relationships/notesMaster" Target="/ppt/notesMasters/notesMaster1.xml" Id="R4ecbb3156c0f44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4b57c1b0cd4944" /><Relationship Type="http://schemas.openxmlformats.org/officeDocument/2006/relationships/notesMaster" Target="/ppt/notesMasters/notesMaster1.xml" Id="Re65ebfca9c8242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25299193c241fc" /><Relationship Type="http://schemas.openxmlformats.org/officeDocument/2006/relationships/notesMaster" Target="/ppt/notesMasters/notesMaster1.xml" Id="R6cd7e628138e4d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2b344be61741c2" /><Relationship Type="http://schemas.openxmlformats.org/officeDocument/2006/relationships/notesMaster" Target="/ppt/notesMasters/notesMaster1.xml" Id="R3bf17963446741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111d2fba224e12" /><Relationship Type="http://schemas.openxmlformats.org/officeDocument/2006/relationships/notesMaster" Target="/ppt/notesMasters/notesMaster1.xml" Id="Rf40cc5c8593442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363ea8c4f544b6" /><Relationship Type="http://schemas.openxmlformats.org/officeDocument/2006/relationships/notesMaster" Target="/ppt/notesMasters/notesMaster1.xml" Id="R0643ad9c15224e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64b9da40194dfc" /><Relationship Type="http://schemas.openxmlformats.org/officeDocument/2006/relationships/notesMaster" Target="/ppt/notesMasters/notesMaster1.xml" Id="Re4817666d34b42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f11b0c448d456a" /><Relationship Type="http://schemas.openxmlformats.org/officeDocument/2006/relationships/notesMaster" Target="/ppt/notesMasters/notesMaster1.xml" Id="R12c23702c5c442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aa7491dc4b494e" /><Relationship Type="http://schemas.openxmlformats.org/officeDocument/2006/relationships/notesMaster" Target="/ppt/notesMasters/notesMaster1.xml" Id="R4c5c5f536e5d47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9e573d264f45b4" /><Relationship Type="http://schemas.openxmlformats.org/officeDocument/2006/relationships/notesMaster" Target="/ppt/notesMasters/notesMaster1.xml" Id="Re6eb9f60ffad4e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Bruno Groppo. Dizer que a tarefa é classificar um caractere isolado. Fonte: Descrição do Projeto e notebook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entrada, saída e a referência de prever sempre 0. Fonte: notebook do projeto; Descrição do Projeto, seção de experimentos.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base escolhida foi Binary Alpha Digits. São 1.404 imagens, 39 por classe. Exemplos vêm do treino. Fonte: notebook do projeto e arquivo público da Universidade de Nova York.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Há imagens idênticas com rótulos 0 e O. Mantivemos cópias no mesmo conjunto para evitar vazamento de dados. Fonte: notebook do projeto; aula 3 sobre vazamento.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camadas convolucionais procuram padrões; a redução diminui a imagem; a saída escolhe uma classe. Fonte: aula 4, notebook e PDF (formato portátil de documento); notebook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época, lote, perda e parada antecipada. A saída softmax e a perda com rótulos inteiros aparecem na aula 3; a parada antecipada, na aula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Acurácia é porcentagem de acertos. O Dropout desliga temporariamente saídas durante o treino. Fonte: aula 5 e resultados da validação no notebook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treino e validação. A rede inicial recuperou a época 10; a rede com Dropout, a 29. A perda de treino cai depois que a validação deixa de melhorar, sinal de sobreajuste. Fonte: aulas 3 e 5 e históricos do notebook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rede foi escolhida antes do teste. Fonte: notebook do projeto; Modelo de Relatório, seção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modelo pode demonstrar a classificação de um caractere isolado. Há imagens iguais com rótulos 0 e O. Não foi testado em outras imagens. Fonte: relatório, seções 5 e 6; Modelo de Relatório.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d1162e57a47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be6091f3847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a6c4ee1214c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3c6cfa1bc4b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26079cbaad4a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9e6fcd4f549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9D2D02-6541-43E8-AABA-753F54883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3D5EBB-5153-4C90-9534-171D6B4B33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D3EDB2-1135-4BF6-86BD-DA980653D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A94FF7-60DF-4C9A-9502-48E3223DA2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C6D098-2A99-4B63-968F-2754B2323B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9D98CE-83A9-4DC0-ABC7-B270A436EB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095003-7DB7-42E9-952E-C543EE0F80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DADA5D-0C57-4F83-A889-B9C7367BE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26C41C-E058-465C-B3FA-FE4DC440D4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E0A799-F5B7-4CEB-856D-FA3BDCF245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4614a3642f4d41" /><Relationship Type="http://schemas.openxmlformats.org/officeDocument/2006/relationships/slideLayout" Target="/ppt/slideLayouts/slideLayout1.xml" Id="R7a20cc9b64904a20" /><Relationship Type="http://schemas.openxmlformats.org/officeDocument/2006/relationships/slideLayout" Target="/ppt/slideLayouts/slideLayout2.xml" Id="R8e6c2a4bfc0b44e5" /><Relationship Type="http://schemas.openxmlformats.org/officeDocument/2006/relationships/slideLayout" Target="/ppt/slideLayouts/slideLayout3.xml" Id="R9c9c35044e3c4734" /><Relationship Type="http://schemas.openxmlformats.org/officeDocument/2006/relationships/slideLayout" Target="/ppt/slideLayouts/slideLayout4.xml" Id="Rcbc30bb8384648b4" /><Relationship Type="http://schemas.openxmlformats.org/officeDocument/2006/relationships/slideLayout" Target="/ppt/slideLayouts/slideLayout5.xml" Id="R8510ee3ce22446b3" /><Relationship Type="http://schemas.openxmlformats.org/officeDocument/2006/relationships/slideLayout" Target="/ppt/slideLayouts/slideLayout6.xml" Id="R28f36793b7a24f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20cc9b64904a20"/>
    <p:sldLayoutId xmlns:r="http://schemas.openxmlformats.org/officeDocument/2006/relationships" id="2147483650" r:id="R8e6c2a4bfc0b44e5"/>
    <p:sldLayoutId xmlns:r="http://schemas.openxmlformats.org/officeDocument/2006/relationships" id="2147483651" r:id="R9c9c35044e3c4734"/>
    <p:sldLayoutId xmlns:r="http://schemas.openxmlformats.org/officeDocument/2006/relationships" id="2147483652" r:id="Rcbc30bb8384648b4"/>
    <p:sldLayoutId xmlns:r="http://schemas.openxmlformats.org/officeDocument/2006/relationships" id="2147483653" r:id="R8510ee3ce22446b3"/>
    <p:sldLayoutId xmlns:r="http://schemas.openxmlformats.org/officeDocument/2006/relationships" id="2147483654" r:id="R28f36793b7a24f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0b434108246c6" /><Relationship Type="http://schemas.openxmlformats.org/officeDocument/2006/relationships/notesSlide" Target="/ppt/notesSlides/notesSlide1.xml" Id="Rd439e9f16b1449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883e4e80a4b7e" /><Relationship Type="http://schemas.openxmlformats.org/officeDocument/2006/relationships/notesSlide" Target="/ppt/notesSlides/notesSlide2.xml" Id="R6896adf32d1449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a0e90ec1a413b" /><Relationship Type="http://schemas.openxmlformats.org/officeDocument/2006/relationships/image" Target="/ppt/media/image.png" Id="R0107f56fc1eb40e0" /><Relationship Type="http://schemas.openxmlformats.org/officeDocument/2006/relationships/notesSlide" Target="/ppt/notesSlides/notesSlide3.xml" Id="R9cf11e3b77ea44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2ea3c9e2541d9" /><Relationship Type="http://schemas.openxmlformats.org/officeDocument/2006/relationships/notesSlide" Target="/ppt/notesSlides/notesSlide4.xml" Id="R77b94ab63b044f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ec6aef6e94cbb" /><Relationship Type="http://schemas.openxmlformats.org/officeDocument/2006/relationships/notesSlide" Target="/ppt/notesSlides/notesSlide5.xml" Id="R011b605f221848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a6f695100f4a8c" /><Relationship Type="http://schemas.openxmlformats.org/officeDocument/2006/relationships/notesSlide" Target="/ppt/notesSlides/notesSlide6.xml" Id="R9ca4c4bb8eb443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9f9170f29c463b" /><Relationship Type="http://schemas.openxmlformats.org/officeDocument/2006/relationships/notesSlide" Target="/ppt/notesSlides/notesSlide7.xml" Id="R66739d26f8dc40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052713c3741c2" /><Relationship Type="http://schemas.openxmlformats.org/officeDocument/2006/relationships/image" Target="/ppt/media/image2.png" Id="R53a002e4b6ba4111" /><Relationship Type="http://schemas.openxmlformats.org/officeDocument/2006/relationships/notesSlide" Target="/ppt/notesSlides/notesSlide8.xml" Id="Rfad7dd4398204a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b54471423c4b98" /><Relationship Type="http://schemas.openxmlformats.org/officeDocument/2006/relationships/image" Target="/ppt/media/image3.png" Id="Rb4be412061ab4c61" /><Relationship Type="http://schemas.openxmlformats.org/officeDocument/2006/relationships/notesSlide" Target="/ppt/notesSlides/notesSlide9.xml" Id="R7d031c61eb544d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060816652b400b" /><Relationship Type="http://schemas.openxmlformats.org/officeDocument/2006/relationships/notesSlide" Target="/ppt/notesSlides/notesSlide10.xml" Id="Reb0f5d0237e34d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8020E-36D3-449D-8144-314B7676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Reconhecimento de letras e números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781EA-EB3B-4D74-A77F-468AE20C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Grupo 4 | Disciplina 3 | 19/10/2026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43392-048C-43CE-A84E-0B49E3DA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E84F9-8C78-4D17-9B9A-B3B68DD3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Uma imagem de 20 × 16 pixels.</a:t>
            </a:r>
          </a:p>
          <a:p xmlns:a="http://schemas.openxmlformats.org/drawingml/2006/main">
            <a: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Uma resposta entre 36 classes.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80F07-B168-4419-9F5E-73489D30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Bruno Groppo · Bruno Pimentel · Reynato Junior</a:t>
            </a:r>
          </a:p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Wallace Jardim · Daniel Gil</a:t>
            </a:r>
          </a:p>
        </p:txBody>
      </p:sp>
    </p:spTree>
    <p:extLst>
      <p:ext uri="{BB962C8B-B14F-4D97-AF65-F5344CB8AC3E}">
        <p14:creationId xmlns:p14="http://schemas.microsoft.com/office/powerpoint/2010/main" val="4818083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FA96D-509F-43B9-8F6D-3CA2EC16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Problema e referência simples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721BF-5381-429F-87A6-67876B03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Bruno Groppo | 2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877E4-789A-4460-BA20-58AA1B4A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C54BA-B196-4682-96DC-C2309280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F72C4-AACA-4223-A092-35F7C21E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095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Uma imagem com um único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número ou letra maiúscula.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C8FDD-6373-42A3-8B34-86F9D34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Saída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5737F-1537-401D-92A0-15FE5F75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Escolha de uma entre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36 classes possíveis.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B335B-CA63-475F-B93C-C7DE1719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Referência: prever sempre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01498-164F-4C4E-ADA4-1B90D3EE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Acertou 6 de 217 imagens de validação: 2,76%.</a:t>
            </a:r>
          </a:p>
        </p:txBody>
      </p:sp>
    </p:spTree>
    <p:extLst>
      <p:ext uri="{BB962C8B-B14F-4D97-AF65-F5344CB8AC3E}">
        <p14:creationId xmlns:p14="http://schemas.microsoft.com/office/powerpoint/2010/main" val="7378301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411A8-1E53-4E3C-B615-37E97CC4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Os dados do projeto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2322C-87C6-40BA-B657-E0B672EF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Bruno Pimentel | 1 minuto e 30 segundos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4C8ED-ABCB-4B39-B4C1-5E087C15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EADBD-1361-479C-B651-B5625901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7C80"/>
                </a:solidFill>
                <a:latin typeface="Arial"/>
                <a:ea typeface="Arial"/>
                <a:cs typeface="Arial"/>
              </a:rPr>
              <a:t>1.404 imagens · 36 classes · 39 imagens por classe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7F460-C386-4778-9DF0-71A3885506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7f56fc1eb40e0"/>
          <a:stretch xmlns:a="http://schemas.openxmlformats.org/drawingml/2006/main"/>
        </p:blipFill>
        <p:spPr>
          <a:xfrm xmlns:a="http://schemas.openxmlformats.org/drawingml/2006/main">
            <a:off x="2625222" y="2028825"/>
            <a:ext cx="6941556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92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FB286-9F71-4AE5-BBB8-EC0B1458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Como dividimos os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ECC5D-93D8-4946-8662-CC2B221D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Bruno Pimentel | 1 minuto e 30 segundos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1FAB3-90F3-4427-891A-945F6A04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D5F21-D30D-460F-BE7C-E55C8E18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Imagens iguais com rótulos 0 e O ficaram juntas.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Nenhuma cópia exata passa de um conjunto para outro.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C57AF-51AF-4FD0-87AC-1DA65000BB68}"/>
              </a:ext>
            </a:extLst>
          </p:cNvPr>
          <p:cNvGraphicFramePr/>
          <p:nvPr/>
        </p:nvGraphicFramePr>
        <p:xfrm>
          <a:off xmlns:a="http://schemas.openxmlformats.org/drawingml/2006/main" x="609600" y="293370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143125"/>
                <a:gridCol w="4924425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Conjunto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Imagens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Uso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Treino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971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Ajustar a rede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Validação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Escolher a rede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Teste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Avaliar no final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F05EA-7952-4086-AFC8-6C203F0E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7C80"/>
                </a:solidFill>
                <a:latin typeface="Arial"/>
                <a:ea typeface="Arial"/>
                <a:cs typeface="Arial"/>
              </a:rPr>
              <a:t>Não temos informação sobre quem escreveu os caracteres.</a:t>
            </a:r>
          </a:p>
        </p:txBody>
      </p:sp>
    </p:spTree>
    <p:extLst>
      <p:ext uri="{BB962C8B-B14F-4D97-AF65-F5344CB8AC3E}">
        <p14:creationId xmlns:p14="http://schemas.microsoft.com/office/powerpoint/2010/main" val="260938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51496-E595-432B-BE66-78F05B52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Como a rede classifica a imagem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D7D46-354A-4541-AEB4-1212B3E0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Reynato Junior | 2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E075A-C4E5-4ADB-B681-48C0AF0F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9F67E-65AF-4463-8C15-0A44B77DDB07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674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Etapa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O que acontece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Imagem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20 × 16 pixels, valores 0 ou 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Duas convoluções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Procuram traços e curvas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Duas reduções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Diminuem o tamanho dos dados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Camada densa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Combina o que foi encontrado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Saída softmax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Escolhe uma entre 36 classes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EA263-BD4E-44B7-94FF-2755BCB6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7C80"/>
                </a:solidFill>
                <a:latin typeface="Arial"/>
                <a:ea typeface="Arial"/>
                <a:cs typeface="Arial"/>
              </a:rPr>
              <a:t>A segunda versão acrescenta Dropout durante o treino.</a:t>
            </a:r>
          </a:p>
        </p:txBody>
      </p:sp>
    </p:spTree>
    <p:extLst>
      <p:ext uri="{BB962C8B-B14F-4D97-AF65-F5344CB8AC3E}">
        <p14:creationId xmlns:p14="http://schemas.microsoft.com/office/powerpoint/2010/main" val="4163644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0ACDE-2D3E-4803-9D41-F538AF9B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Treinamento e escolha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A707D-ACFC-41DD-BDE4-62451FC3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Reynato Junior | 1 minuto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E9538-AAB8-415D-AB0E-A288CF3E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94C79-D491-4A85-A599-CFBB0BD4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Lote: 32 imagens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Limite: 80 épocas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Uma época: todo o treino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EC26C-9930-441B-B690-B6B7E3CB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 perda mede o erro.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 validação ajuda a decidir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quando parar.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8BF21-B707-46DF-B976-505E8DAB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Escolhemos a rede pela acurácia na validação.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FCDF1-0E47-46BE-ABE3-A5156905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7C80"/>
                </a:solidFill>
                <a:latin typeface="Arial"/>
                <a:ea typeface="Arial"/>
                <a:cs typeface="Arial"/>
              </a:rPr>
              <a:t>O teste ficou reservado para depois da escolha.</a:t>
            </a:r>
          </a:p>
        </p:txBody>
      </p:sp>
    </p:spTree>
    <p:extLst>
      <p:ext uri="{BB962C8B-B14F-4D97-AF65-F5344CB8AC3E}">
        <p14:creationId xmlns:p14="http://schemas.microsoft.com/office/powerpoint/2010/main" val="8584602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116C4-C7AE-4256-921A-1C47EA84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Comparação na 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8128E-FB74-44DE-8ED9-0BAA53E1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Wallace Jardim | 1 minuto e 30 segundos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75A3D-9223-4F9D-B450-0822AA9F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43FDD-E11A-4FD3-A408-5DE4F42009D2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81250"/>
                <a:gridCol w="2400300"/>
              </a:tblGrid>
              <a:tr h="7334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Acertos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Acurácia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Referência: sempre 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 de 217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2,76%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Rede com camadas densas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155 de 217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71,43%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Rede convolucional inicial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160 de 217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73,73%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Rede com Dropout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168 de 217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77,42%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FFE9-5DFC-4B64-A593-252DF370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Dropout: oito acertos a mais nesta execução.</a:t>
            </a:r>
          </a:p>
        </p:txBody>
      </p:sp>
    </p:spTree>
    <p:extLst>
      <p:ext uri="{BB962C8B-B14F-4D97-AF65-F5344CB8AC3E}">
        <p14:creationId xmlns:p14="http://schemas.microsoft.com/office/powerpoint/2010/main" val="8315428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7D345-EECB-46E9-9DBC-7492FDDD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Perda durante o treinamento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F3282-3D25-450F-90B1-0C11B506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Wallace Jardim | 1 minuto e 30 segundos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71AFE-1280-4E6D-95BE-22FD470D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CFA82-3BD3-4D42-B867-C1D64EA1D3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002e4b6ba4111"/>
          <a:stretch xmlns:a="http://schemas.openxmlformats.org/drawingml/2006/main"/>
        </p:blipFill>
        <p:spPr>
          <a:xfrm xmlns:a="http://schemas.openxmlformats.org/drawingml/2006/main">
            <a:off x="2222612" y="1438275"/>
            <a:ext cx="7699150" cy="3810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E4942-41EA-4E9E-8DCB-0363701F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F5D"/>
                </a:solidFill>
                <a:latin typeface="Arial"/>
                <a:ea typeface="Arial"/>
                <a:cs typeface="Arial"/>
              </a:rPr>
              <a:t>A perda de treino caiu. A validação parou de melhorar.</a:t>
            </a:r>
          </a:p>
          <a:p xmlns:a="http://schemas.openxmlformats.org/drawingml/2006/main">
            <a: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F5D"/>
                </a:solidFill>
                <a:latin typeface="Arial"/>
                <a:ea typeface="Arial"/>
                <a:cs typeface="Arial"/>
              </a:rPr>
              <a:t>Isso indica sobreajuste; o Dropout ajudou nesta execução.</a:t>
            </a:r>
          </a:p>
        </p:txBody>
      </p:sp>
    </p:spTree>
    <p:extLst>
      <p:ext uri="{BB962C8B-B14F-4D97-AF65-F5344CB8AC3E}">
        <p14:creationId xmlns:p14="http://schemas.microsoft.com/office/powerpoint/2010/main" val="610645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D5E1F-D9BD-4C2E-BC3F-81867145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Resultado no teste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15753-60DC-4945-8B4C-0FD6B060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Daniel Gil | 2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C1955-40EA-43F4-8AE4-112A8345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2E7AE-80A8-4BA1-8922-A8EBC6F978A0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81250"/>
                <a:gridCol w="2400300"/>
              </a:tblGrid>
              <a:tr h="650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Acertos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Acurácia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Referência: sempre 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 de 216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2,78%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Rede escolhida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178 de 216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82,41%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EBE21-1DEF-44A4-B4DB-AE37F57AA2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e412061ab4c61"/>
          <a:stretch xmlns:a="http://schemas.openxmlformats.org/drawingml/2006/main"/>
        </p:blipFill>
        <p:spPr>
          <a:xfrm xmlns:a="http://schemas.openxmlformats.org/drawingml/2006/main">
            <a:off x="1310771" y="3619500"/>
            <a:ext cx="5855707" cy="2428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C6E80-0A1C-451C-BD46-A166F7E4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5D"/>
                </a:solidFill>
                <a:latin typeface="Arial"/>
                <a:ea typeface="Arial"/>
                <a:cs typeface="Arial"/>
              </a:rPr>
              <a:t>38 erros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5D"/>
                </a:solidFill>
                <a:latin typeface="Arial"/>
                <a:ea typeface="Arial"/>
                <a:cs typeface="Arial"/>
              </a:rPr>
              <a:t>O → 0: 4 vezes</a:t>
            </a:r>
          </a:p>
          <a:p xmlns:a="http://schemas.openxmlformats.org/drawingml/2006/main">
            <a: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5D"/>
                </a:solidFill>
                <a:latin typeface="Arial"/>
                <a:ea typeface="Arial"/>
                <a:cs typeface="Arial"/>
              </a:rPr>
              <a:t>S → 5: 2 vezes</a:t>
            </a:r>
          </a:p>
        </p:txBody>
      </p:sp>
    </p:spTree>
    <p:extLst>
      <p:ext uri="{BB962C8B-B14F-4D97-AF65-F5344CB8AC3E}">
        <p14:creationId xmlns:p14="http://schemas.microsoft.com/office/powerpoint/2010/main" val="18031605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B1A80-7DB3-40BF-AC97-D29B55AF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Limites e uso possível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16DBD-7D6B-469B-BAC9-6F883578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Daniel Gil | 1 minuto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21986-C516-4DC8-9A7F-D5F7AC2D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B58F1-CCC8-451D-95B1-3290A621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Demonstração com um caractere isolado.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FFEB2-61EF-4D9B-BA00-FE811061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85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As mesmas imagens podem ser chamadas de 0 ou O.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Há somente seis exemplos por classe no teste.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Não testamos fotos, placas ou documentos reais.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9CCCD-6C80-4270-AA57-F3B1BA70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Uma pessoa deve conferir cada sugestão do modelo.</a:t>
            </a:r>
          </a:p>
        </p:txBody>
      </p:sp>
    </p:spTree>
    <p:extLst>
      <p:ext uri="{BB962C8B-B14F-4D97-AF65-F5344CB8AC3E}">
        <p14:creationId xmlns:p14="http://schemas.microsoft.com/office/powerpoint/2010/main" val="1608327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2026-10-20T13:42:20.9300000Z</dcterms:created>
  <dcterms:modified xsi:type="dcterms:W3CDTF">2026-10-20T13:42:20.9300000Z</dcterms:modified>
</coreProperties>
</file>