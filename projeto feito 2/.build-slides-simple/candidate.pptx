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18ed64df594d34" /><Relationship Type="http://schemas.openxmlformats.org/officeDocument/2006/relationships/extended-properties" Target="/docProps/app.xml" Id="Rf9256254483247a0" /><Relationship Type="http://schemas.openxmlformats.org/officeDocument/2006/relationships/officeDocument" Target="/ppt/presentation.xml" Id="R2370eff3b7d64f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13622f0a4f4e06"/>
  </p:sldMasterIdLst>
  <p:notesMasterIdLst>
    <p:notesMasterId xmlns:r="http://schemas.openxmlformats.org/officeDocument/2006/relationships" r:id="Rd29430600c4c4d75"/>
  </p:notesMasterIdLst>
  <p:sldIdLst>
    <p:sldId xmlns:r="http://schemas.openxmlformats.org/officeDocument/2006/relationships" id="256" r:id="R95a980f4fd684fa3"/>
    <p:sldId xmlns:r="http://schemas.openxmlformats.org/officeDocument/2006/relationships" id="257" r:id="R28287760e9f34b31"/>
    <p:sldId xmlns:r="http://schemas.openxmlformats.org/officeDocument/2006/relationships" id="258" r:id="Rec0bfecd5f21434b"/>
    <p:sldId xmlns:r="http://schemas.openxmlformats.org/officeDocument/2006/relationships" id="259" r:id="R9482813ddd354d5b"/>
    <p:sldId xmlns:r="http://schemas.openxmlformats.org/officeDocument/2006/relationships" id="260" r:id="R1a3d3b6db4e84fae"/>
    <p:sldId xmlns:r="http://schemas.openxmlformats.org/officeDocument/2006/relationships" id="261" r:id="R8e91f650f43b4e5e"/>
    <p:sldId xmlns:r="http://schemas.openxmlformats.org/officeDocument/2006/relationships" id="262" r:id="Raf5292cab8e642d3"/>
    <p:sldId xmlns:r="http://schemas.openxmlformats.org/officeDocument/2006/relationships" id="263" r:id="R887d0297c2a441db"/>
    <p:sldId xmlns:r="http://schemas.openxmlformats.org/officeDocument/2006/relationships" id="264" r:id="R15e4f7550fb74feb"/>
    <p:sldId xmlns:r="http://schemas.openxmlformats.org/officeDocument/2006/relationships" id="265" r:id="R1030c8ac97e44a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b87d74b2f3482f" /><Relationship Type="http://schemas.openxmlformats.org/officeDocument/2006/relationships/slideMaster" Target="/ppt/slideMasters/slideMaster1.xml" Id="Rb013622f0a4f4e06" /><Relationship Type="http://schemas.openxmlformats.org/officeDocument/2006/relationships/notesMaster" Target="/ppt/notesMasters/notesMaster1.xml" Id="Rd29430600c4c4d75" /><Relationship Type="http://schemas.openxmlformats.org/officeDocument/2006/relationships/presProps" Target="/ppt/presProps.xml" Id="R8cd3c86dfd304f2d" /><Relationship Type="http://schemas.openxmlformats.org/officeDocument/2006/relationships/tableStyles" Target="/ppt/tableStyles.xml" Id="R1e0e8e08ac5f4401" /><Relationship Type="http://schemas.openxmlformats.org/officeDocument/2006/relationships/slide" Target="/ppt/slides/slide1.xml" Id="R95a980f4fd684fa3" /><Relationship Type="http://schemas.openxmlformats.org/officeDocument/2006/relationships/slide" Target="/ppt/slides/slide2.xml" Id="R28287760e9f34b31" /><Relationship Type="http://schemas.openxmlformats.org/officeDocument/2006/relationships/slide" Target="/ppt/slides/slide3.xml" Id="Rec0bfecd5f21434b" /><Relationship Type="http://schemas.openxmlformats.org/officeDocument/2006/relationships/slide" Target="/ppt/slides/slide4.xml" Id="R9482813ddd354d5b" /><Relationship Type="http://schemas.openxmlformats.org/officeDocument/2006/relationships/slide" Target="/ppt/slides/slide5.xml" Id="R1a3d3b6db4e84fae" /><Relationship Type="http://schemas.openxmlformats.org/officeDocument/2006/relationships/slide" Target="/ppt/slides/slide6.xml" Id="R8e91f650f43b4e5e" /><Relationship Type="http://schemas.openxmlformats.org/officeDocument/2006/relationships/slide" Target="/ppt/slides/slide7.xml" Id="Raf5292cab8e642d3" /><Relationship Type="http://schemas.openxmlformats.org/officeDocument/2006/relationships/slide" Target="/ppt/slides/slide8.xml" Id="R887d0297c2a441db" /><Relationship Type="http://schemas.openxmlformats.org/officeDocument/2006/relationships/slide" Target="/ppt/slides/slide9.xml" Id="R15e4f7550fb74feb" /><Relationship Type="http://schemas.openxmlformats.org/officeDocument/2006/relationships/slide" Target="/ppt/slides/slide10.xml" Id="R1030c8ac97e44a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4dd9ac365643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05622d4c074ffc" /><Relationship Type="http://schemas.openxmlformats.org/officeDocument/2006/relationships/notesMaster" Target="/ppt/notesMasters/notesMaster1.xml" Id="R5f85e68bd4114d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bb0b3fa1704077" /><Relationship Type="http://schemas.openxmlformats.org/officeDocument/2006/relationships/notesMaster" Target="/ppt/notesMasters/notesMaster1.xml" Id="R6a20f5ba721f47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ca346045fb4d3d" /><Relationship Type="http://schemas.openxmlformats.org/officeDocument/2006/relationships/notesMaster" Target="/ppt/notesMasters/notesMaster1.xml" Id="Re9066fbfcdf744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18ee80416c4cc6" /><Relationship Type="http://schemas.openxmlformats.org/officeDocument/2006/relationships/notesMaster" Target="/ppt/notesMasters/notesMaster1.xml" Id="Rc8f66ebb74cb40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60f0f0cbcd4aad" /><Relationship Type="http://schemas.openxmlformats.org/officeDocument/2006/relationships/notesMaster" Target="/ppt/notesMasters/notesMaster1.xml" Id="R6c74acf7cc4347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50c8a6b1054467" /><Relationship Type="http://schemas.openxmlformats.org/officeDocument/2006/relationships/notesMaster" Target="/ppt/notesMasters/notesMaster1.xml" Id="R4a86de16322341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dc99f85fb944e9" /><Relationship Type="http://schemas.openxmlformats.org/officeDocument/2006/relationships/notesMaster" Target="/ppt/notesMasters/notesMaster1.xml" Id="R751e04dcec144a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f41914d71249fe" /><Relationship Type="http://schemas.openxmlformats.org/officeDocument/2006/relationships/notesMaster" Target="/ppt/notesMasters/notesMaster1.xml" Id="R2e94a64d607e49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3e06b95fa34873" /><Relationship Type="http://schemas.openxmlformats.org/officeDocument/2006/relationships/notesMaster" Target="/ppt/notesMasters/notesMaster1.xml" Id="Re542457279a04b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d0e81288f243fd" /><Relationship Type="http://schemas.openxmlformats.org/officeDocument/2006/relationships/notesMaster" Target="/ppt/notesMasters/notesMaster1.xml" Id="R5da9c8b317f64c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Bruno Groppo. Dizer que a tarefa é classificar um caractere isolado. Fonte: Descrição do Projeto e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entrada, saída e a referência de prever sempre 0. Fonte: notebook do projeto; Descrição do Projeto, seção de experimentos.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escolhida foi Binary Alpha Digits. São 1.404 imagens, 39 por classe. Exemplos vêm do treino. Fonte: notebook do projeto e arquivo público da Universidade de Nova York.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Há imagens idênticas com rótulos 0 e O. Mantivemos cópias no mesmo conjunto para evitar vazamento de dados. Fonte: notebook do projeto; aula 3 sobre vazamento.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camadas convolucionais procuram padrões; a redução diminui a imagem; a saída escolhe uma classe. Fonte: aula 4, notebook e PDF (formato portátil de documento);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época, lote, perda e parada antecipada. A saída softmax e a perda com rótulos inteiros aparecem na aula 3; a parada antecipada, na aula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Acurácia é porcentagem de acertos. O Dropout desliga temporariamente saídas durante o treino. Fonte: aula 5 e resultados da validação no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Comparar treino e validação. A rede inicial recuperou a época 10; a rede com Dropout, a 29. A perda de treino cai depois que a validação deixa de melhorar, sinal de sobreajuste. Fonte: aulas 3 e 5 e históricos do notebook do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rede foi escolhida antes do teste. Fonte: notebook do projeto; Modelo de Relatório, seção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modelo pode demonstrar a classificação de um caractere isolado. Há imagens iguais com rótulos 0 e O. Não foi testado em outras imagens. Fonte: relatório, seções 5 e 6; Modelo de Relatório.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081bc0c84488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05598aa0e411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294ecb0a24c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5b702779246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2e3b5fc8741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ceb47f41345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B89C37-98F1-4A8D-B725-A0B92FAC9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3C5BA6-E106-4821-8B1D-F39D180A13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39AED6-9449-4E21-908A-5F7E4CC3FB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4FAFEF-DABF-4D06-8917-5A06B1C39A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40A954-EF4B-4B72-9160-B286D4A444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BA10A2-30ED-4A21-BDC5-6CDE0619E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2B0C6C-8C59-4BB4-AEFD-C1091D75B1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890540-5766-4C42-864F-75D253C6B8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478695-AD03-48AC-9B00-9185BD487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A215AD-1E1F-4B1F-91C8-F503836D3C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9e982a18c4cfe" /><Relationship Type="http://schemas.openxmlformats.org/officeDocument/2006/relationships/slideLayout" Target="/ppt/slideLayouts/slideLayout1.xml" Id="R9fbdfc5436114821" /><Relationship Type="http://schemas.openxmlformats.org/officeDocument/2006/relationships/slideLayout" Target="/ppt/slideLayouts/slideLayout2.xml" Id="R76a6684d8def4b44" /><Relationship Type="http://schemas.openxmlformats.org/officeDocument/2006/relationships/slideLayout" Target="/ppt/slideLayouts/slideLayout3.xml" Id="R8a0be9b771014494" /><Relationship Type="http://schemas.openxmlformats.org/officeDocument/2006/relationships/slideLayout" Target="/ppt/slideLayouts/slideLayout4.xml" Id="R2d817e556ecd4b29" /><Relationship Type="http://schemas.openxmlformats.org/officeDocument/2006/relationships/slideLayout" Target="/ppt/slideLayouts/slideLayout5.xml" Id="R10d89c5822be4b07" /><Relationship Type="http://schemas.openxmlformats.org/officeDocument/2006/relationships/slideLayout" Target="/ppt/slideLayouts/slideLayout6.xml" Id="Rbb5f6651b45749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bdfc5436114821"/>
    <p:sldLayoutId xmlns:r="http://schemas.openxmlformats.org/officeDocument/2006/relationships" id="2147483650" r:id="R76a6684d8def4b44"/>
    <p:sldLayoutId xmlns:r="http://schemas.openxmlformats.org/officeDocument/2006/relationships" id="2147483651" r:id="R8a0be9b771014494"/>
    <p:sldLayoutId xmlns:r="http://schemas.openxmlformats.org/officeDocument/2006/relationships" id="2147483652" r:id="R2d817e556ecd4b29"/>
    <p:sldLayoutId xmlns:r="http://schemas.openxmlformats.org/officeDocument/2006/relationships" id="2147483653" r:id="R10d89c5822be4b07"/>
    <p:sldLayoutId xmlns:r="http://schemas.openxmlformats.org/officeDocument/2006/relationships" id="2147483654" r:id="Rbb5f6651b45749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1ca0a67cc145cf" /><Relationship Type="http://schemas.openxmlformats.org/officeDocument/2006/relationships/notesSlide" Target="/ppt/notesSlides/notesSlide1.xml" Id="R3d302b6a306140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395fd1049498d" /><Relationship Type="http://schemas.openxmlformats.org/officeDocument/2006/relationships/notesSlide" Target="/ppt/notesSlides/notesSlide2.xml" Id="Rfcd697613af04e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122f75d1324ae4" /><Relationship Type="http://schemas.openxmlformats.org/officeDocument/2006/relationships/image" Target="/ppt/media/image.png" Id="Rb4e44a340ef64e62" /><Relationship Type="http://schemas.openxmlformats.org/officeDocument/2006/relationships/notesSlide" Target="/ppt/notesSlides/notesSlide3.xml" Id="R0e36870db1164f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cb476b99543a6" /><Relationship Type="http://schemas.openxmlformats.org/officeDocument/2006/relationships/notesSlide" Target="/ppt/notesSlides/notesSlide4.xml" Id="R1633fa6dcb034b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e980dfb3c4089" /><Relationship Type="http://schemas.openxmlformats.org/officeDocument/2006/relationships/notesSlide" Target="/ppt/notesSlides/notesSlide5.xml" Id="R303c948bc7e1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f6241c6a7a4187" /><Relationship Type="http://schemas.openxmlformats.org/officeDocument/2006/relationships/notesSlide" Target="/ppt/notesSlides/notesSlide6.xml" Id="Rf85a51786d3240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e6e80d8334e37" /><Relationship Type="http://schemas.openxmlformats.org/officeDocument/2006/relationships/notesSlide" Target="/ppt/notesSlides/notesSlide7.xml" Id="Rc643fa5770854a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2579a00b84a2f" /><Relationship Type="http://schemas.openxmlformats.org/officeDocument/2006/relationships/image" Target="/ppt/media/image2.png" Id="R2ae182a9a1734cfc" /><Relationship Type="http://schemas.openxmlformats.org/officeDocument/2006/relationships/notesSlide" Target="/ppt/notesSlides/notesSlide8.xml" Id="R38544adb715040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d4aa12abb4c6f" /><Relationship Type="http://schemas.openxmlformats.org/officeDocument/2006/relationships/image" Target="/ppt/media/image3.png" Id="Rf6e385bf3bab4c40" /><Relationship Type="http://schemas.openxmlformats.org/officeDocument/2006/relationships/notesSlide" Target="/ppt/notesSlides/notesSlide9.xml" Id="R80d0deaf600f47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b1f7d11c4467d" /><Relationship Type="http://schemas.openxmlformats.org/officeDocument/2006/relationships/notesSlide" Target="/ppt/notesSlides/notesSlide10.xml" Id="R3c81bb73e4ac43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CDF0B-EACD-4334-9C88-19FE42AC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Reconhecimento de letras e números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2538C-A3E3-46D3-BC1E-401378A4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Grupo 4 | Disciplina 3 | 19/10/2026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9CE03-5E80-4CC6-A31A-8DD669FD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F607A-DE03-4A92-B4A4-E0D3A8A1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Uma imagem de 20 × 16 pixels.</a:t>
            </a:r>
          </a:p>
          <a:p xmlns:a="http://schemas.openxmlformats.org/drawingml/2006/main">
            <a:pPr>
              <a:defRPr sz="29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Uma resposta entre 36 classes.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310A5-96F6-4D7E-ABCD-BEB65597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Groppo · Bruno Pimentel · Reynato Junior</a:t>
            </a:r>
          </a:p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Wallace Jardim · Daniel Gil</a:t>
            </a:r>
          </a:p>
        </p:txBody>
      </p:sp>
    </p:spTree>
    <p:extLst>
      <p:ext uri="{BB962C8B-B14F-4D97-AF65-F5344CB8AC3E}">
        <p14:creationId xmlns:p14="http://schemas.microsoft.com/office/powerpoint/2010/main" val="12883764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95C08-FDC2-471D-BAF2-DBB1D40D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Problema e referência simples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FE0E6-3215-4EFD-AACE-AC57335A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Groppo | 2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5B901-0B9D-4196-B504-3F291EAE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49F17-3389-4139-A9E4-E16E54C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5729D-59AB-4B3F-A690-3067A61E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Uma imagem com um único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número ou letra maiúscula.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D3501-18A0-4502-B40C-EE2E8BCF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C6361-11F4-4CED-AF67-8EA90CC9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Escolha de uma entre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36 classes possíveis.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6AB04-58F6-4B26-854B-1D91413F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Referência: prever sempre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EFE9D-4756-4C4A-B523-65CBB956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Acertou 6 de 217 imagens de validação: 2,76%.</a:t>
            </a:r>
          </a:p>
        </p:txBody>
      </p:sp>
    </p:spTree>
    <p:extLst>
      <p:ext uri="{BB962C8B-B14F-4D97-AF65-F5344CB8AC3E}">
        <p14:creationId xmlns:p14="http://schemas.microsoft.com/office/powerpoint/2010/main" val="100742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5FF33-063C-4D2D-BDCA-2BF687E1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Os dados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0D17F-7B1B-4FA8-9192-CA95F5CF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Pimentel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438D1-409F-4693-B8E4-E95FB981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955AB-7918-42A8-BD61-0AB43F71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1.404 imagens · 36 classes · 39 imagens por classe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BAF8B-2CF7-49A1-AC85-C3B954ABF0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44a340ef64e62"/>
          <a:stretch xmlns:a="http://schemas.openxmlformats.org/drawingml/2006/main"/>
        </p:blipFill>
        <p:spPr>
          <a:xfrm xmlns:a="http://schemas.openxmlformats.org/drawingml/2006/main">
            <a:off x="2625222" y="2028825"/>
            <a:ext cx="6941556" cy="3857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C5650-4908-4B59-BAF8-BF63C3B2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MAT (arquivo de dados em formato MATLAB).</a:t>
            </a:r>
          </a:p>
        </p:txBody>
      </p:sp>
    </p:spTree>
    <p:extLst>
      <p:ext uri="{BB962C8B-B14F-4D97-AF65-F5344CB8AC3E}">
        <p14:creationId xmlns:p14="http://schemas.microsoft.com/office/powerpoint/2010/main" val="1656058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B2776-D196-4E0B-8E0E-16A0F6C5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Como dividimos os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84ECE-2B30-4E58-8FCB-65B039A9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Bruno Pimentel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31DAD-E1F6-4C55-A782-E47C01C0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380BD-B4A9-4D3A-8F0A-B06823B8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Imagens iguais com rótulos 0 e O ficaram juntas.</a:t>
            </a:r>
          </a:p>
          <a:p xmlns:a="http://schemas.openxmlformats.org/drawingml/2006/main">
            <a:pPr>
              <a:defRPr sz="22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Nenhuma cópia exata passa de um conjunto para outro.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0A216-54B0-44FE-8E2F-27EDD9FA9108}"/>
              </a:ext>
            </a:extLst>
          </p:cNvPr>
          <p:cNvGraphicFramePr/>
          <p:nvPr/>
        </p:nvGraphicFramePr>
        <p:xfrm>
          <a:off xmlns:a="http://schemas.openxmlformats.org/drawingml/2006/main" x="609600" y="293370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143125"/>
                <a:gridCol w="492442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Conjunto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Imagens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Uso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Treino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971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Ajustar a rede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Validação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Escolher a rede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Teste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Avaliar no final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01BF5-077C-4EB2-ACB1-EA01F3EA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Não temos informação sobre quem escreveu os caracteres.</a:t>
            </a:r>
          </a:p>
        </p:txBody>
      </p:sp>
    </p:spTree>
    <p:extLst>
      <p:ext uri="{BB962C8B-B14F-4D97-AF65-F5344CB8AC3E}">
        <p14:creationId xmlns:p14="http://schemas.microsoft.com/office/powerpoint/2010/main" val="1090444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87B12-9958-4204-9E29-0458B292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Como a rede classifica a imagem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57214-A7FA-4F93-9471-757993EC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Reynato Junior | 2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78490-9253-4773-A3FC-C8F6343A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A6FD4-C4EB-425A-BCA2-03650451602C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74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Etapa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O que acontece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Imagem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20 × 16 pixels, valores 0 ou 1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Duas convoluções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Procuram traços e curvas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Duas reduções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Diminuem o tamanho dos dados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Camada densa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Combina o que foi encontrado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Saída softmax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Escolhe uma entre 36 classes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3665E-7BAF-4C17-BCD4-7EE7ECD2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A segunda versão acrescenta Dropout durante o treino.</a:t>
            </a:r>
          </a:p>
        </p:txBody>
      </p:sp>
    </p:spTree>
    <p:extLst>
      <p:ext uri="{BB962C8B-B14F-4D97-AF65-F5344CB8AC3E}">
        <p14:creationId xmlns:p14="http://schemas.microsoft.com/office/powerpoint/2010/main" val="1088406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1EA90-5C36-47B7-AB51-176CDF6F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Treinamento e escolha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9E77F-06CE-4F76-A954-EA6478D8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Reynato Junior | 1 minuto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02556-2C7A-4E6B-A202-5586D950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B96B5-2C09-425D-B292-0A03CC28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Lote: 32 imagens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Limite: 80 épocas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Uma época: todo o treino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1056C-DF19-4929-BF11-5AAB0DD6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perda mede o erro.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validação ajuda a decidir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quando parar.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4C901-C884-4867-AB36-A239DD42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Escolhemos a rede pela acurácia na validação.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CAB65-9FBC-4F32-AAE5-05172943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7C80"/>
                </a:solidFill>
                <a:latin typeface="Arial"/>
                <a:ea typeface="Arial"/>
                <a:cs typeface="Arial"/>
              </a:rPr>
              <a:t>O teste ficou reservado para depois da escolha.</a:t>
            </a:r>
          </a:p>
        </p:txBody>
      </p:sp>
    </p:spTree>
    <p:extLst>
      <p:ext uri="{BB962C8B-B14F-4D97-AF65-F5344CB8AC3E}">
        <p14:creationId xmlns:p14="http://schemas.microsoft.com/office/powerpoint/2010/main" val="1222114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67D02-E20D-4573-AB2E-A5806A1D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Comparação na 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4134A-4236-40FA-B23E-C1158820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Wallace Jardim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1D41F2-1A91-4732-9629-3C3C963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96AAE-4686-4061-99AE-3600E2A37045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  <a:gridCol w="2400300"/>
              </a:tblGrid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Acertos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Acurácia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Referência: sempre 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2,76%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com camadas densas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155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71,43%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convolucional inicial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160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73,73%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com Dropout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168 de 217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77,42%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A8E5F-545C-492F-87EC-063F2804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Dropout: oito acertos a mais nesta execução.</a:t>
            </a:r>
          </a:p>
        </p:txBody>
      </p:sp>
    </p:spTree>
    <p:extLst>
      <p:ext uri="{BB962C8B-B14F-4D97-AF65-F5344CB8AC3E}">
        <p14:creationId xmlns:p14="http://schemas.microsoft.com/office/powerpoint/2010/main" val="5573794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36967-DDA4-48D2-B7C7-069FED46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Perda durante o treinamento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53D71-96DF-4DDF-B2DA-A92ADF10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Wallace Jardim | 1 minuto e 30 segundos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8A483-69DD-456A-80F1-F985F765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315CC-09B2-475D-8A3C-B2CB9AC5E4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182a9a1734cfc"/>
          <a:stretch xmlns:a="http://schemas.openxmlformats.org/drawingml/2006/main"/>
        </p:blipFill>
        <p:spPr>
          <a:xfrm xmlns:a="http://schemas.openxmlformats.org/drawingml/2006/main">
            <a:off x="2415091" y="1438275"/>
            <a:ext cx="7314193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DF55F-0ED4-4C0B-BCCF-DA646477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MLP (perceptron de múltiplas camadas); CNN (rede neural convolucional).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DC563-2334-4623-AB53-85253088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85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A perda de treino caiu. A validação parou de melhorar.</a:t>
            </a:r>
          </a:p>
          <a:p xmlns:a="http://schemas.openxmlformats.org/drawingml/2006/main">
            <a:pPr>
              <a:defRPr sz="2025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Isso indica sobreajuste; o Dropout ajudou nesta execução.</a:t>
            </a:r>
          </a:p>
        </p:txBody>
      </p:sp>
    </p:spTree>
    <p:extLst>
      <p:ext uri="{BB962C8B-B14F-4D97-AF65-F5344CB8AC3E}">
        <p14:creationId xmlns:p14="http://schemas.microsoft.com/office/powerpoint/2010/main" val="2476028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522C8-7AFF-4E73-B79F-F9875CE0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Resultado no teste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177F5-FD68-41AE-999F-4A8AE36E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Daniel Gil | 2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6B7F0-8881-4920-913C-435D4A1B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6D2A6-0FBD-4ABD-8D16-B4EE8A35DA84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  <a:gridCol w="2400300"/>
              </a:tblGrid>
              <a:tr h="650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Acertos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Acurácia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T w="4763">
                      <a:solidFill>
                        <a:srgbClr val="D6E1E7"/>
                      </a:solidFill>
                      <a:prstDash val="solid"/>
                    </a:lnT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E1EF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Referência: sempre 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6 de 216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2,78%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Rede escolhida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6E1E7"/>
                      </a:solidFill>
                      <a:prstDash val="solid"/>
                    </a:lnL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178 de 216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82,41%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6E1E7"/>
                      </a:solidFill>
                      <a:prstDash val="solid"/>
                    </a:lnR>
                    <a:lnB w="4763">
                      <a:solidFill>
                        <a:srgbClr val="D6E1E7"/>
                      </a:solidFill>
                      <a:prstDash val="solid"/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31A86-468D-415E-8DFD-57DEBCFD29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385bf3bab4c40"/>
          <a:stretch xmlns:a="http://schemas.openxmlformats.org/drawingml/2006/main"/>
        </p:blipFill>
        <p:spPr>
          <a:xfrm xmlns:a="http://schemas.openxmlformats.org/drawingml/2006/main">
            <a:off x="1310771" y="3619500"/>
            <a:ext cx="5855707" cy="2428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281EA-321E-49E7-81E2-6C512CB7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33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38 erros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O → 0: 4 vezes</a:t>
            </a:r>
          </a:p>
          <a:p xmlns:a="http://schemas.openxmlformats.org/drawingml/2006/main">
            <a:pPr>
              <a:defRPr sz="2100" b="0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3F5D"/>
                </a:solidFill>
                <a:latin typeface="Arial"/>
                <a:ea typeface="Arial"/>
                <a:cs typeface="Arial"/>
              </a:rPr>
              <a:t>S → 5: 2 vezes</a:t>
            </a:r>
          </a:p>
        </p:txBody>
      </p:sp>
    </p:spTree>
    <p:extLst>
      <p:ext uri="{BB962C8B-B14F-4D97-AF65-F5344CB8AC3E}">
        <p14:creationId xmlns:p14="http://schemas.microsoft.com/office/powerpoint/2010/main" val="4475103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E5B59-18AA-4897-A1A0-5F06C93B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Limites e uso possível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0BAA3-3C2C-4F66-9009-4471BA70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Daniel Gil | 1 minuto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77B23-F9EC-4A70-B24C-5C1436CD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579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D59AB-F47B-412E-96B9-27BA08C0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  <a:lvl1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1pPr>
            <a:lvl2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2pPr>
            <a:lvl3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3pPr>
            <a:lvl4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4pPr>
            <a:lvl5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5pPr>
            <a:lvl6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6pPr>
            <a:lvl7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7pPr>
            <a:lvl8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8pPr>
            <a:lvl9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Demonstração com um caractere isolado.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F421E-13FD-4F8F-BDD8-173CD58C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As mesmas imagens podem ser chamadas de 0 ou O.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Há somente seis exemplos por classe no teste.</a:t>
            </a:r>
          </a:p>
          <a:p xmlns:a="http://schemas.openxmlformats.org/drawingml/2006/main">
            <a:pPr>
              <a:defRPr sz="23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Não testamos fotos, placas ou documentos reais.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9CFD9-7510-4A86-90D7-4890C3A2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3F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3F5D"/>
                </a:solidFill>
                <a:latin typeface="Arial"/>
                <a:ea typeface="Arial"/>
                <a:cs typeface="Arial"/>
              </a:rPr>
              <a:t>Uma pessoa deve conferir cada sugestão do modelo.</a:t>
            </a:r>
          </a:p>
        </p:txBody>
      </p:sp>
    </p:spTree>
    <p:extLst>
      <p:ext uri="{BB962C8B-B14F-4D97-AF65-F5344CB8AC3E}">
        <p14:creationId xmlns:p14="http://schemas.microsoft.com/office/powerpoint/2010/main" val="1047315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2026-10-20T13:44:18.3290000Z</dcterms:created>
  <dcterms:modified xsi:type="dcterms:W3CDTF">2026-10-20T13:44:18.3290000Z</dcterms:modified>
</coreProperties>
</file>