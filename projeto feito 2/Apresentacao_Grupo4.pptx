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6069f5826e4ee6" /><Relationship Type="http://schemas.openxmlformats.org/officeDocument/2006/relationships/extended-properties" Target="/docProps/app.xml" Id="R8f23e1faeaa94d3b" /><Relationship Type="http://schemas.openxmlformats.org/officeDocument/2006/relationships/officeDocument" Target="/ppt/presentation.xml" Id="Rf9103adbc62746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45e88a645d4de6"/>
  </p:sldMasterIdLst>
  <p:notesMasterIdLst>
    <p:notesMasterId xmlns:r="http://schemas.openxmlformats.org/officeDocument/2006/relationships" r:id="R6d2d987a283b4492"/>
  </p:notesMasterIdLst>
  <p:sldIdLst>
    <p:sldId xmlns:r="http://schemas.openxmlformats.org/officeDocument/2006/relationships" id="256" r:id="Re10889580ff44ec9"/>
    <p:sldId xmlns:r="http://schemas.openxmlformats.org/officeDocument/2006/relationships" id="257" r:id="R99bb41af938742ba"/>
    <p:sldId xmlns:r="http://schemas.openxmlformats.org/officeDocument/2006/relationships" id="258" r:id="R2bdc2d9acb284ea5"/>
    <p:sldId xmlns:r="http://schemas.openxmlformats.org/officeDocument/2006/relationships" id="259" r:id="Ra3da029f02db41b0"/>
    <p:sldId xmlns:r="http://schemas.openxmlformats.org/officeDocument/2006/relationships" id="260" r:id="Rb4f8a57825f04ee4"/>
    <p:sldId xmlns:r="http://schemas.openxmlformats.org/officeDocument/2006/relationships" id="261" r:id="R993cf23c692b48f8"/>
    <p:sldId xmlns:r="http://schemas.openxmlformats.org/officeDocument/2006/relationships" id="262" r:id="Rabe440ce9ef2494c"/>
    <p:sldId xmlns:r="http://schemas.openxmlformats.org/officeDocument/2006/relationships" id="263" r:id="R6dbf2dc30059408b"/>
    <p:sldId xmlns:r="http://schemas.openxmlformats.org/officeDocument/2006/relationships" id="264" r:id="R939041fb42424978"/>
    <p:sldId xmlns:r="http://schemas.openxmlformats.org/officeDocument/2006/relationships" id="265" r:id="R84cce6872bee42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1048dc68be4ba3" /><Relationship Type="http://schemas.openxmlformats.org/officeDocument/2006/relationships/slideMaster" Target="/ppt/slideMasters/slideMaster1.xml" Id="R5645e88a645d4de6" /><Relationship Type="http://schemas.openxmlformats.org/officeDocument/2006/relationships/notesMaster" Target="/ppt/notesMasters/notesMaster1.xml" Id="R6d2d987a283b4492" /><Relationship Type="http://schemas.openxmlformats.org/officeDocument/2006/relationships/presProps" Target="/ppt/presProps.xml" Id="Rac069e7865b84af4" /><Relationship Type="http://schemas.openxmlformats.org/officeDocument/2006/relationships/tableStyles" Target="/ppt/tableStyles.xml" Id="R878316537c2a4bb0" /><Relationship Type="http://schemas.openxmlformats.org/officeDocument/2006/relationships/slide" Target="/ppt/slides/slide1.xml" Id="Re10889580ff44ec9" /><Relationship Type="http://schemas.openxmlformats.org/officeDocument/2006/relationships/slide" Target="/ppt/slides/slide2.xml" Id="R99bb41af938742ba" /><Relationship Type="http://schemas.openxmlformats.org/officeDocument/2006/relationships/slide" Target="/ppt/slides/slide3.xml" Id="R2bdc2d9acb284ea5" /><Relationship Type="http://schemas.openxmlformats.org/officeDocument/2006/relationships/slide" Target="/ppt/slides/slide4.xml" Id="Ra3da029f02db41b0" /><Relationship Type="http://schemas.openxmlformats.org/officeDocument/2006/relationships/slide" Target="/ppt/slides/slide5.xml" Id="Rb4f8a57825f04ee4" /><Relationship Type="http://schemas.openxmlformats.org/officeDocument/2006/relationships/slide" Target="/ppt/slides/slide6.xml" Id="R993cf23c692b48f8" /><Relationship Type="http://schemas.openxmlformats.org/officeDocument/2006/relationships/slide" Target="/ppt/slides/slide7.xml" Id="Rabe440ce9ef2494c" /><Relationship Type="http://schemas.openxmlformats.org/officeDocument/2006/relationships/slide" Target="/ppt/slides/slide8.xml" Id="R6dbf2dc30059408b" /><Relationship Type="http://schemas.openxmlformats.org/officeDocument/2006/relationships/slide" Target="/ppt/slides/slide9.xml" Id="R939041fb42424978" /><Relationship Type="http://schemas.openxmlformats.org/officeDocument/2006/relationships/slide" Target="/ppt/slides/slide10.xml" Id="R84cce6872bee42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a4563c0b1948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b186ed80f34fd2" /><Relationship Type="http://schemas.openxmlformats.org/officeDocument/2006/relationships/notesMaster" Target="/ppt/notesMasters/notesMaster1.xml" Id="R3bfa6fdc4f5740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bb9df58e6e42b9" /><Relationship Type="http://schemas.openxmlformats.org/officeDocument/2006/relationships/notesMaster" Target="/ppt/notesMasters/notesMaster1.xml" Id="Ra0673c1c29a44f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aee11b0d8549dc" /><Relationship Type="http://schemas.openxmlformats.org/officeDocument/2006/relationships/notesMaster" Target="/ppt/notesMasters/notesMaster1.xml" Id="Re86f16c273a04c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8adeb3d4734f05" /><Relationship Type="http://schemas.openxmlformats.org/officeDocument/2006/relationships/notesMaster" Target="/ppt/notesMasters/notesMaster1.xml" Id="R11cca1f9bf1347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727a1413424267" /><Relationship Type="http://schemas.openxmlformats.org/officeDocument/2006/relationships/notesMaster" Target="/ppt/notesMasters/notesMaster1.xml" Id="R919116f97f444e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c5a2a6fbca4e7c" /><Relationship Type="http://schemas.openxmlformats.org/officeDocument/2006/relationships/notesMaster" Target="/ppt/notesMasters/notesMaster1.xml" Id="R9218bcd93c004b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e9e6f9b94945d3" /><Relationship Type="http://schemas.openxmlformats.org/officeDocument/2006/relationships/notesMaster" Target="/ppt/notesMasters/notesMaster1.xml" Id="R71f6dccc82ea48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989be72df74576" /><Relationship Type="http://schemas.openxmlformats.org/officeDocument/2006/relationships/notesMaster" Target="/ppt/notesMasters/notesMaster1.xml" Id="Rc01d8fb1daae4a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fd35936d6545e0" /><Relationship Type="http://schemas.openxmlformats.org/officeDocument/2006/relationships/notesMaster" Target="/ppt/notesMasters/notesMaster1.xml" Id="Ra8c2cc0b86e446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ec975dfe6442d0" /><Relationship Type="http://schemas.openxmlformats.org/officeDocument/2006/relationships/notesMaster" Target="/ppt/notesMasters/notesMaster1.xml" Id="R1347c66310344c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Bruno Groppo. Dizer que a tarefa é classificar um caractere isolado. Fonte: Descrição do Projeto e notebook do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entrada, saída e a referência de prever sempre 0. Fonte: notebook do projeto; Descrição do Projeto, seção de experimentos.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equipe escolheu Binary Alpha Digits no catálogo TensorFlow Datasets. O notebook baixa o arquivo bruto do endereço público indicado para a base. São 1.404 imagens, 39 por classe. Exemplos vêm do treino.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Há imagens idênticas com rótulos 0 e O. Mantivemos cópias no mesmo conjunto para evitar vazamento de dados. Fonte: notebook do projeto; aula 3 sobre vazamento.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camadas convolucionais procuram padrões; a redução diminui a imagem; a saída escolhe uma classe. Fonte: aula 4, notebook e PDF (formato portátil de documento); notebook do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época, lote, perda e parada antecipada. A saída softmax e a perda com rótulos inteiros aparecem na aula 3; a parada antecipada, na aula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Acurácia é porcentagem de acertos. O Dropout desliga temporariamente saídas durante o treino. Fonte: aula 5 e resultados da validação no notebook do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treino e validação. A rede inicial recuperou a época 10; a rede com Dropout, a 29. A perda de treino cai depois que a validação deixa de melhorar, sinal de sobreajuste. Fonte: aulas 3 e 5 e históricos do notebook do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rede foi escolhida antes do teste. Fonte: notebook do projeto; Modelo de Relatório, seção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modelo pode demonstrar a classificação de um caractere isolado. Há imagens iguais com rótulos 0 e O. Não foi testado em outras imagens. Fonte: relatório, seções 5 e 6; Modelo de Relatório.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eaceb2d00d4bf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aecba6f573430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bdfb7ccee14b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800f339a5d41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2c15dedc784f4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2a9f05c84a41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A39FDF-D34D-4398-9759-991FBB0364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4359F63-A995-4C17-BD6E-55342E0172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C76C3F7-34C2-429E-B469-F006C646A4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6E16E1-DBCD-4BE3-A34B-7E54B6641F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32B52EF-0CC1-4641-8A75-FF704EF5FE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AF0CCB-3326-4B88-AE49-6E23DE6F25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63FBF0-3B97-4754-A5C1-D040377BCE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C7486F5-BE17-4F24-A166-03914FCC4C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4D8E9C-4F48-43DE-9DF5-22843F8709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C2615A-A64F-4CA6-B5CB-CA6FA238EC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d17974add247b9" /><Relationship Type="http://schemas.openxmlformats.org/officeDocument/2006/relationships/slideLayout" Target="/ppt/slideLayouts/slideLayout1.xml" Id="R36e3bf7f3a404884" /><Relationship Type="http://schemas.openxmlformats.org/officeDocument/2006/relationships/slideLayout" Target="/ppt/slideLayouts/slideLayout2.xml" Id="R970f42ea67574aaf" /><Relationship Type="http://schemas.openxmlformats.org/officeDocument/2006/relationships/slideLayout" Target="/ppt/slideLayouts/slideLayout3.xml" Id="R6a3af038f18348cc" /><Relationship Type="http://schemas.openxmlformats.org/officeDocument/2006/relationships/slideLayout" Target="/ppt/slideLayouts/slideLayout4.xml" Id="R39997cb2aa5d428b" /><Relationship Type="http://schemas.openxmlformats.org/officeDocument/2006/relationships/slideLayout" Target="/ppt/slideLayouts/slideLayout5.xml" Id="Ra3fff127d4294ad8" /><Relationship Type="http://schemas.openxmlformats.org/officeDocument/2006/relationships/slideLayout" Target="/ppt/slideLayouts/slideLayout6.xml" Id="Rf1f203c9f42e42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e3bf7f3a404884"/>
    <p:sldLayoutId xmlns:r="http://schemas.openxmlformats.org/officeDocument/2006/relationships" id="2147483650" r:id="R970f42ea67574aaf"/>
    <p:sldLayoutId xmlns:r="http://schemas.openxmlformats.org/officeDocument/2006/relationships" id="2147483651" r:id="R6a3af038f18348cc"/>
    <p:sldLayoutId xmlns:r="http://schemas.openxmlformats.org/officeDocument/2006/relationships" id="2147483652" r:id="R39997cb2aa5d428b"/>
    <p:sldLayoutId xmlns:r="http://schemas.openxmlformats.org/officeDocument/2006/relationships" id="2147483653" r:id="Ra3fff127d4294ad8"/>
    <p:sldLayoutId xmlns:r="http://schemas.openxmlformats.org/officeDocument/2006/relationships" id="2147483654" r:id="Rf1f203c9f42e42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6524dcdaa844f0" /><Relationship Type="http://schemas.openxmlformats.org/officeDocument/2006/relationships/notesSlide" Target="/ppt/notesSlides/notesSlide1.xml" Id="R3c252fc4e0be48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8a06b58eba46fe" /><Relationship Type="http://schemas.openxmlformats.org/officeDocument/2006/relationships/notesSlide" Target="/ppt/notesSlides/notesSlide2.xml" Id="R1f730346b8544f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047453777d42e7" /><Relationship Type="http://schemas.openxmlformats.org/officeDocument/2006/relationships/image" Target="/ppt/media/image.png" Id="R20506bd6412443fd" /><Relationship Type="http://schemas.openxmlformats.org/officeDocument/2006/relationships/notesSlide" Target="/ppt/notesSlides/notesSlide3.xml" Id="Rc069d5b133ec49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9b354d2fe0465d" /><Relationship Type="http://schemas.openxmlformats.org/officeDocument/2006/relationships/notesSlide" Target="/ppt/notesSlides/notesSlide4.xml" Id="Rbb39b6a29a6d4e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a1402da1404624" /><Relationship Type="http://schemas.openxmlformats.org/officeDocument/2006/relationships/notesSlide" Target="/ppt/notesSlides/notesSlide5.xml" Id="Rfb2b31ba13ab43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6b4dc80c93443b" /><Relationship Type="http://schemas.openxmlformats.org/officeDocument/2006/relationships/notesSlide" Target="/ppt/notesSlides/notesSlide6.xml" Id="Re6bcd160677c43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c78a9c29e549e1" /><Relationship Type="http://schemas.openxmlformats.org/officeDocument/2006/relationships/notesSlide" Target="/ppt/notesSlides/notesSlide7.xml" Id="Rb706e0e8c82645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08d8e9faaa4068" /><Relationship Type="http://schemas.openxmlformats.org/officeDocument/2006/relationships/image" Target="/ppt/media/image2.png" Id="Rdcb39e8594b94cbf" /><Relationship Type="http://schemas.openxmlformats.org/officeDocument/2006/relationships/notesSlide" Target="/ppt/notesSlides/notesSlide8.xml" Id="Ra73d8abe6a4349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2d1754b56f45c4" /><Relationship Type="http://schemas.openxmlformats.org/officeDocument/2006/relationships/image" Target="/ppt/media/image3.png" Id="Rf5ddcc90e6d64d9a" /><Relationship Type="http://schemas.openxmlformats.org/officeDocument/2006/relationships/notesSlide" Target="/ppt/notesSlides/notesSlide9.xml" Id="R2e11e737bff341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771aabbb774e25" /><Relationship Type="http://schemas.openxmlformats.org/officeDocument/2006/relationships/notesSlide" Target="/ppt/notesSlides/notesSlide10.xml" Id="Rabd102c3c1e149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EE804-B477-494E-9DB3-7EEB335C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Reconhecimento de letras e números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5BB00-645E-4E8F-92C0-98745D71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Grupo 4 | Disciplina 3 | 19/10/2026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4C91A-3124-4BB9-9933-C0C84C7B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2287A-E0DB-4650-8300-84942750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7C80"/>
                </a:solidFill>
                <a:latin typeface="Arial"/>
                <a:ea typeface="Arial"/>
                <a:cs typeface="Arial"/>
              </a:rPr>
              <a:t>Uma imagem de 20 × 16 pixels.</a:t>
            </a:r>
          </a:p>
          <a:p xmlns:a="http://schemas.openxmlformats.org/drawingml/2006/main">
            <a: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7C80"/>
                </a:solidFill>
                <a:latin typeface="Arial"/>
                <a:ea typeface="Arial"/>
                <a:cs typeface="Arial"/>
              </a:rPr>
              <a:t>Uma resposta entre 36 classes.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0787F-5078-44CB-A323-75A543E4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Bruno Groppo · Bruno Pimentel · Reynato Junior</a:t>
            </a:r>
          </a:p>
          <a:p xmlns:a="http://schemas.openxmlformats.org/drawingml/2006/main">
            <a: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Wallace Jardim · Daniel Gil</a:t>
            </a:r>
          </a:p>
        </p:txBody>
      </p:sp>
    </p:spTree>
    <p:extLst>
      <p:ext uri="{BB962C8B-B14F-4D97-AF65-F5344CB8AC3E}">
        <p14:creationId xmlns:p14="http://schemas.microsoft.com/office/powerpoint/2010/main" val="19566987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268A65-0703-4C98-9524-CC76E9A3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Problema e referência simples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BFACA-C6A1-4331-BCAE-221C92DE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Bruno Groppo | 2 minutos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FFD19-25D7-4C9C-A31F-8626A6DA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D9939-D470-4F76-A2DB-ECA46285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7C80"/>
                </a:solidFill>
                <a:latin typeface="Arial"/>
                <a:ea typeface="Arial"/>
                <a:cs typeface="Arial"/>
              </a:rPr>
              <a:t>Entrada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F9C33-F91C-4289-B213-DA66EEDE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095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Uma imagem com um único</a:t>
            </a:r>
          </a:p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número ou letra maiúscula.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BBF93-3810-439A-8370-264529E5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7C80"/>
                </a:solidFill>
                <a:latin typeface="Arial"/>
                <a:ea typeface="Arial"/>
                <a:cs typeface="Arial"/>
              </a:rPr>
              <a:t>Saída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2A0B3-DAA1-40EA-8E58-95D7FAC4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Escolha de uma entre</a:t>
            </a:r>
          </a:p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36 classes possíveis.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A135E-54DB-408E-A425-5B3A6327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Referência: prever sempre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95958-E334-40DD-81E6-FC6430BB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Acertou 6 de 217 imagens de validação: 2,76%.</a:t>
            </a:r>
          </a:p>
        </p:txBody>
      </p:sp>
    </p:spTree>
    <p:extLst>
      <p:ext uri="{BB962C8B-B14F-4D97-AF65-F5344CB8AC3E}">
        <p14:creationId xmlns:p14="http://schemas.microsoft.com/office/powerpoint/2010/main" val="7260244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F6225-936E-4D20-BA54-E166EFBA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Os dados do projeto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32D2F-EF2E-43D9-A7B0-7529D4C8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Bruno Pimentel | 1 minuto e 30 segundos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A7012-0374-4B36-AD1D-74F35998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6B7E5-C404-4A2A-92B9-DB026511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7C80"/>
                </a:solidFill>
                <a:latin typeface="Arial"/>
                <a:ea typeface="Arial"/>
                <a:cs typeface="Arial"/>
              </a:rPr>
              <a:t>1.404 imagens · 36 classes · 39 imagens por classe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D1128-9FF8-4776-B08A-08DBE5A0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Fonte da escolha: catálogo TensorFlow Datasets.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6B9F2-9D83-4B26-9C99-EFA732D706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06bd6412443fd"/>
          <a:stretch xmlns:a="http://schemas.openxmlformats.org/drawingml/2006/main"/>
        </p:blipFill>
        <p:spPr>
          <a:xfrm xmlns:a="http://schemas.openxmlformats.org/drawingml/2006/main">
            <a:off x="2839468" y="2152650"/>
            <a:ext cx="6513065" cy="3619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69B764-DE11-4FCB-A774-2DFAEA26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MAT (arquivo de dados em formato MATLAB).</a:t>
            </a:r>
          </a:p>
        </p:txBody>
      </p:sp>
    </p:spTree>
    <p:extLst>
      <p:ext uri="{BB962C8B-B14F-4D97-AF65-F5344CB8AC3E}">
        <p14:creationId xmlns:p14="http://schemas.microsoft.com/office/powerpoint/2010/main" val="17024559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12C56-FFF6-4A2D-80A5-68ECDDAB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Como dividimos os dados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20598-529A-4882-9189-58F9D8F7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Bruno Pimentel | 1 minuto e 30 segundos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F78E3-98DE-4994-A357-8DBAF17E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D52A6-6ADA-4A88-8EFF-A12FD3FC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Imagens iguais com rótulos 0 e O ficaram juntas.</a:t>
            </a:r>
          </a:p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Nenhuma cópia exata passa de um conjunto para outro.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BC063-5337-49DE-886E-3CE6D8C1A6B7}"/>
              </a:ext>
            </a:extLst>
          </p:cNvPr>
          <p:cNvGraphicFramePr/>
          <p:nvPr/>
        </p:nvGraphicFramePr>
        <p:xfrm>
          <a:off xmlns:a="http://schemas.openxmlformats.org/drawingml/2006/main" x="609600" y="2933700"/>
          <a:ext xmlns:a="http://schemas.openxmlformats.org/drawingml/2006/main" cx="109728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2143125"/>
                <a:gridCol w="4924425"/>
              </a:tblGrid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Conjunto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Imagens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Uso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Treino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971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Ajustar a rede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Validação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217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Escolher a rede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Teste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216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Avaliar no final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0B6BA-50B4-4074-89AF-970767CE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7C80"/>
                </a:solidFill>
                <a:latin typeface="Arial"/>
                <a:ea typeface="Arial"/>
                <a:cs typeface="Arial"/>
              </a:rPr>
              <a:t>Não temos informação sobre quem escreveu os caracteres.</a:t>
            </a:r>
          </a:p>
        </p:txBody>
      </p:sp>
    </p:spTree>
    <p:extLst>
      <p:ext uri="{BB962C8B-B14F-4D97-AF65-F5344CB8AC3E}">
        <p14:creationId xmlns:p14="http://schemas.microsoft.com/office/powerpoint/2010/main" val="7886240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93CEB-96B6-4B0B-975A-81374396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Como a rede classifica a imagem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E5CC3-CCD4-4B2A-B4D6-BAF123C0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Reynato Junior | 2 minutos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66786-A265-428C-9BC5-1D42DBBC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94253-CB0A-423A-9E64-B037693EAB69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6746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Etapa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O que acontece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Imagem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20 × 16 pixels, valores 0 ou 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Duas convoluções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Procuram traços e curvas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Duas reduções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Diminuem o tamanho dos dados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Camada densa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Combina o que foi encontrado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Saída softmax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Escolhe uma entre 36 classes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35768-A7DB-477A-A4C3-AB8A0B4A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7C80"/>
                </a:solidFill>
                <a:latin typeface="Arial"/>
                <a:ea typeface="Arial"/>
                <a:cs typeface="Arial"/>
              </a:rPr>
              <a:t>A segunda versão acrescenta Dropout durante o treino.</a:t>
            </a:r>
          </a:p>
        </p:txBody>
      </p:sp>
    </p:spTree>
    <p:extLst>
      <p:ext uri="{BB962C8B-B14F-4D97-AF65-F5344CB8AC3E}">
        <p14:creationId xmlns:p14="http://schemas.microsoft.com/office/powerpoint/2010/main" val="3338945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5223A-DC24-4970-95E4-5FE23C9E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Treinamento e escolha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10586-2D48-4491-A325-1E85180E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Reynato Junior | 1 minuto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14DEF-5467-45FC-9961-9EC36C9F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6861C-0D8D-4205-AF83-5C97E544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Lote: 32 imagens</a:t>
            </a:r>
          </a:p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Limite: 80 épocas</a:t>
            </a:r>
          </a:p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Uma época: todo o treino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0D6BB-F151-4B5B-851C-1FA08693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 perda mede o erro.</a:t>
            </a:r>
          </a:p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 validação ajuda a decidir</a:t>
            </a:r>
          </a:p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quando parar.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D6111-EB91-4AD7-BE85-0BA01481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Escolhemos a rede pela acurácia na validação.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C7D1A-F087-4726-9220-E456B99F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7C80"/>
                </a:solidFill>
                <a:latin typeface="Arial"/>
                <a:ea typeface="Arial"/>
                <a:cs typeface="Arial"/>
              </a:rPr>
              <a:t>O teste ficou reservado para depois da escolha.</a:t>
            </a:r>
          </a:p>
        </p:txBody>
      </p:sp>
    </p:spTree>
    <p:extLst>
      <p:ext uri="{BB962C8B-B14F-4D97-AF65-F5344CB8AC3E}">
        <p14:creationId xmlns:p14="http://schemas.microsoft.com/office/powerpoint/2010/main" val="987843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78351-0552-46BC-8630-D38DF1A6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Comparação na validação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9C43D-48E8-4641-81A9-B8634794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Wallace Jardim | 1 minuto e 30 segundos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A422A-FA7B-41F7-8722-2186A371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7E5E1-B2D9-4EC4-AA70-A0441A00A4B3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381250"/>
                <a:gridCol w="2400300"/>
              </a:tblGrid>
              <a:tr h="7334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Modelo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Acertos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Acurácia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Referência: sempre 0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6 de 217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2,76%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Rede com camadas densas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155 de 217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71,43%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Rede convolucional inicial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160 de 217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73,73%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Rede com Dropout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168 de 217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77,42%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A8602-3970-407A-81D8-15E1B9C5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7C80"/>
                </a:solidFill>
                <a:latin typeface="Arial"/>
                <a:ea typeface="Arial"/>
                <a:cs typeface="Arial"/>
              </a:rPr>
              <a:t>Dropout: oito acertos a mais nesta execução.</a:t>
            </a:r>
          </a:p>
        </p:txBody>
      </p:sp>
    </p:spTree>
    <p:extLst>
      <p:ext uri="{BB962C8B-B14F-4D97-AF65-F5344CB8AC3E}">
        <p14:creationId xmlns:p14="http://schemas.microsoft.com/office/powerpoint/2010/main" val="1120990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39A8A-BD9D-4521-B609-80C73DE6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Perda durante o treinamento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D4D0B-CE20-402B-97AC-EDDDEC18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Wallace Jardim | 1 minuto e 30 segundos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A39BD-36B3-471D-8B3C-E547CB83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7A50A-3854-4DB7-BFA8-D4E2EE4B1C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39e8594b94cbf"/>
          <a:stretch xmlns:a="http://schemas.openxmlformats.org/drawingml/2006/main"/>
        </p:blipFill>
        <p:spPr>
          <a:xfrm xmlns:a="http://schemas.openxmlformats.org/drawingml/2006/main">
            <a:off x="2415091" y="1438275"/>
            <a:ext cx="7314193" cy="3619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5A257-0872-4B4A-971B-FE6D83A4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MLP (perceptron de múltiplas camadas); CNN (rede neural convolucional).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8FF9A-73B7-4DBA-BEEC-0EAF2BB2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858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F5D"/>
                </a:solidFill>
                <a:latin typeface="Arial"/>
                <a:ea typeface="Arial"/>
                <a:cs typeface="Arial"/>
              </a:rPr>
              <a:t>A perda de treino caiu. A validação parou de melhorar.</a:t>
            </a:r>
          </a:p>
          <a:p xmlns:a="http://schemas.openxmlformats.org/drawingml/2006/main">
            <a: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F5D"/>
                </a:solidFill>
                <a:latin typeface="Arial"/>
                <a:ea typeface="Arial"/>
                <a:cs typeface="Arial"/>
              </a:rPr>
              <a:t>Isso indica sobreajuste; o Dropout ajudou nesta execução.</a:t>
            </a:r>
          </a:p>
        </p:txBody>
      </p:sp>
    </p:spTree>
    <p:extLst>
      <p:ext uri="{BB962C8B-B14F-4D97-AF65-F5344CB8AC3E}">
        <p14:creationId xmlns:p14="http://schemas.microsoft.com/office/powerpoint/2010/main" val="295799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E030A-4A66-42CC-BCB0-F0C4D782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Resultado no teste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3637D-3781-4D56-ADB1-350A7A26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Daniel Gil | 2 minutos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5FE71-689D-4BA3-B46B-D5335EA2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1DBD8-6D00-4EF6-ABBE-5F78CC2F783D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381250"/>
                <a:gridCol w="2400300"/>
              </a:tblGrid>
              <a:tr h="650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Modelo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Acertos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Acurácia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Referência: sempre 0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6 de 216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2,78%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Rede escolhida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178 de 216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82,41%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CE69F-DB88-4764-9AF2-163C43C53C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ddcc90e6d64d9a"/>
          <a:stretch xmlns:a="http://schemas.openxmlformats.org/drawingml/2006/main"/>
        </p:blipFill>
        <p:spPr>
          <a:xfrm xmlns:a="http://schemas.openxmlformats.org/drawingml/2006/main">
            <a:off x="1310771" y="3619500"/>
            <a:ext cx="5855707" cy="2428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61242-3C4F-4071-8797-90A47FCB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48100"/>
            <a:ext cx="3333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F5D"/>
                </a:solidFill>
                <a:latin typeface="Arial"/>
                <a:ea typeface="Arial"/>
                <a:cs typeface="Arial"/>
              </a:rPr>
              <a:t>38 erros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F5D"/>
                </a:solidFill>
                <a:latin typeface="Arial"/>
                <a:ea typeface="Arial"/>
                <a:cs typeface="Arial"/>
              </a:rPr>
              <a:t>O → 0: 4 vezes</a:t>
            </a:r>
          </a:p>
          <a:p xmlns:a="http://schemas.openxmlformats.org/drawingml/2006/main">
            <a: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F5D"/>
                </a:solidFill>
                <a:latin typeface="Arial"/>
                <a:ea typeface="Arial"/>
                <a:cs typeface="Arial"/>
              </a:rPr>
              <a:t>S → 5: 2 vezes</a:t>
            </a:r>
          </a:p>
        </p:txBody>
      </p:sp>
    </p:spTree>
    <p:extLst>
      <p:ext uri="{BB962C8B-B14F-4D97-AF65-F5344CB8AC3E}">
        <p14:creationId xmlns:p14="http://schemas.microsoft.com/office/powerpoint/2010/main" val="14890048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1C275-55F0-422C-AD8D-1414B00D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Limites e uso possível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76E7A-FD21-4078-BF31-DE7F8641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Daniel Gil | 1 minuto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BBE38-8F42-4F8D-8103-B19566FA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93284-84A0-422A-BB2C-E62D12E9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57C80"/>
                </a:solidFill>
                <a:latin typeface="Arial"/>
                <a:ea typeface="Arial"/>
                <a:cs typeface="Arial"/>
              </a:rPr>
              <a:t>Demonstração com um caractere isolado.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AE966-7E1D-4764-9638-1B82522C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0858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As mesmas imagens podem ser chamadas de 0 ou O.</a:t>
            </a:r>
          </a:p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Há somente seis exemplos por classe no teste.</a:t>
            </a:r>
          </a:p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Não testamos fotos, placas ou documentos reais.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259B6-CDC8-48FD-B563-ABA18471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Uma pessoa deve conferir cada sugestão do modelo.</a:t>
            </a:r>
          </a:p>
        </p:txBody>
      </p:sp>
    </p:spTree>
    <p:extLst>
      <p:ext uri="{BB962C8B-B14F-4D97-AF65-F5344CB8AC3E}">
        <p14:creationId xmlns:p14="http://schemas.microsoft.com/office/powerpoint/2010/main" val="10914053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2026-10-20T14:31:41.6470000Z</dcterms:created>
  <dcterms:modified xsi:type="dcterms:W3CDTF">2026-10-20T14:31:41.6470000Z</dcterms:modified>
</coreProperties>
</file>