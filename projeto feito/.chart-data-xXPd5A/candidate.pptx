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44f2712adf04bb1" /><Relationship Type="http://schemas.openxmlformats.org/officeDocument/2006/relationships/extended-properties" Target="/docProps/app.xml" Id="R9b16001edfd34121" /><Relationship Type="http://schemas.openxmlformats.org/officeDocument/2006/relationships/officeDocument" Target="/ppt/presentation.xml" Id="R0a26e1b81238438a" /></Relationships>
</file>

<file path=ppt/presentation.xml><?xml version="1.0" encoding="utf-8"?>
<p:presentation xmlns:p="http://schemas.openxmlformats.org/presentationml/2006/main">
  <p:sldMasterIdLst>
    <p:sldMasterId xmlns:r="http://schemas.openxmlformats.org/officeDocument/2006/relationships" id="2147483648" r:id="R4a16993523af4b0d"/>
  </p:sldMasterIdLst>
  <p:notesMasterIdLst>
    <p:notesMasterId xmlns:r="http://schemas.openxmlformats.org/officeDocument/2006/relationships" r:id="Rd667abdcf28347bd"/>
  </p:notesMasterIdLst>
  <p:sldIdLst>
    <p:sldId xmlns:r="http://schemas.openxmlformats.org/officeDocument/2006/relationships" id="256" r:id="R335a35fd31314fb4"/>
    <p:sldId xmlns:r="http://schemas.openxmlformats.org/officeDocument/2006/relationships" id="257" r:id="R8a74b0d03c894fc0"/>
    <p:sldId xmlns:r="http://schemas.openxmlformats.org/officeDocument/2006/relationships" id="258" r:id="R155d54748d8d4636"/>
    <p:sldId xmlns:r="http://schemas.openxmlformats.org/officeDocument/2006/relationships" id="259" r:id="Rcd2cf968fbd14212"/>
    <p:sldId xmlns:r="http://schemas.openxmlformats.org/officeDocument/2006/relationships" id="260" r:id="R9345c06e4b03483f"/>
    <p:sldId xmlns:r="http://schemas.openxmlformats.org/officeDocument/2006/relationships" id="261" r:id="R86edcd5b317843b4"/>
    <p:sldId xmlns:r="http://schemas.openxmlformats.org/officeDocument/2006/relationships" id="262" r:id="R7ecc9ef5a44d46c8"/>
    <p:sldId xmlns:r="http://schemas.openxmlformats.org/officeDocument/2006/relationships" id="263" r:id="Rbe2019ee2f3f4782"/>
    <p:sldId xmlns:r="http://schemas.openxmlformats.org/officeDocument/2006/relationships" id="264" r:id="R0f499f2ba5f549a6"/>
    <p:sldId xmlns:r="http://schemas.openxmlformats.org/officeDocument/2006/relationships" id="265" r:id="R36f1e33594764a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e7e812e6474908" /><Relationship Type="http://schemas.openxmlformats.org/officeDocument/2006/relationships/slideMaster" Target="/ppt/slideMasters/slideMaster1.xml" Id="R4a16993523af4b0d" /><Relationship Type="http://schemas.openxmlformats.org/officeDocument/2006/relationships/notesMaster" Target="/ppt/notesMasters/notesMaster1.xml" Id="Rd667abdcf28347bd" /><Relationship Type="http://schemas.openxmlformats.org/officeDocument/2006/relationships/presProps" Target="/ppt/presProps.xml" Id="Re18983bb9eb94e01" /><Relationship Type="http://schemas.openxmlformats.org/officeDocument/2006/relationships/tableStyles" Target="/ppt/tableStyles.xml" Id="R90c8b2b869da456c" /><Relationship Type="http://schemas.openxmlformats.org/officeDocument/2006/relationships/slide" Target="/ppt/slides/slide1.xml" Id="R335a35fd31314fb4" /><Relationship Type="http://schemas.openxmlformats.org/officeDocument/2006/relationships/slide" Target="/ppt/slides/slide2.xml" Id="R8a74b0d03c894fc0" /><Relationship Type="http://schemas.openxmlformats.org/officeDocument/2006/relationships/slide" Target="/ppt/slides/slide3.xml" Id="R155d54748d8d4636" /><Relationship Type="http://schemas.openxmlformats.org/officeDocument/2006/relationships/slide" Target="/ppt/slides/slide4.xml" Id="Rcd2cf968fbd14212" /><Relationship Type="http://schemas.openxmlformats.org/officeDocument/2006/relationships/slide" Target="/ppt/slides/slide5.xml" Id="R9345c06e4b03483f" /><Relationship Type="http://schemas.openxmlformats.org/officeDocument/2006/relationships/slide" Target="/ppt/slides/slide6.xml" Id="R86edcd5b317843b4" /><Relationship Type="http://schemas.openxmlformats.org/officeDocument/2006/relationships/slide" Target="/ppt/slides/slide7.xml" Id="R7ecc9ef5a44d46c8" /><Relationship Type="http://schemas.openxmlformats.org/officeDocument/2006/relationships/slide" Target="/ppt/slides/slide8.xml" Id="Rbe2019ee2f3f4782" /><Relationship Type="http://schemas.openxmlformats.org/officeDocument/2006/relationships/slide" Target="/ppt/slides/slide9.xml" Id="R0f499f2ba5f549a6" /><Relationship Type="http://schemas.openxmlformats.org/officeDocument/2006/relationships/slide" Target="/ppt/slides/slide10.xml" Id="R36f1e33594764a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eaa141f35c4a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9ceddbe8408420b" /><Relationship Type="http://schemas.openxmlformats.org/officeDocument/2006/relationships/notesMaster" Target="/ppt/notesMasters/notesMaster1.xml" Id="R9383b952f4894b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5af88c6e52481a" /><Relationship Type="http://schemas.openxmlformats.org/officeDocument/2006/relationships/notesMaster" Target="/ppt/notesMasters/notesMaster1.xml" Id="R52dc7693d14c4b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0a63b2c72454247" /><Relationship Type="http://schemas.openxmlformats.org/officeDocument/2006/relationships/notesMaster" Target="/ppt/notesMasters/notesMaster1.xml" Id="Rea1248b4c3fe4df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7be68e43ed4b29" /><Relationship Type="http://schemas.openxmlformats.org/officeDocument/2006/relationships/notesMaster" Target="/ppt/notesMasters/notesMaster1.xml" Id="R991fa7fc1e2d40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942126419d4dbe" /><Relationship Type="http://schemas.openxmlformats.org/officeDocument/2006/relationships/notesMaster" Target="/ppt/notesMasters/notesMaster1.xml" Id="R4f46766451e242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6979999b614910" /><Relationship Type="http://schemas.openxmlformats.org/officeDocument/2006/relationships/notesMaster" Target="/ppt/notesMasters/notesMaster1.xml" Id="Rde1531773fb049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a90501da2ff41be" /><Relationship Type="http://schemas.openxmlformats.org/officeDocument/2006/relationships/notesMaster" Target="/ppt/notesMasters/notesMaster1.xml" Id="Ra630bfba071243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72a63006bf4f36" /><Relationship Type="http://schemas.openxmlformats.org/officeDocument/2006/relationships/notesMaster" Target="/ppt/notesMasters/notesMaster1.xml" Id="Rf7899276a0054f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7dfa7fe0064408" /><Relationship Type="http://schemas.openxmlformats.org/officeDocument/2006/relationships/notesMaster" Target="/ppt/notesMasters/notesMaster1.xml" Id="R7cc45577ba3e43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e9b4593dd68479f" /><Relationship Type="http://schemas.openxmlformats.org/officeDocument/2006/relationships/notesMaster" Target="/ppt/notesMasters/notesMaster1.xml" Id="Re795af58513147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Bruno Groppo, 1 minuto. Abrir com o problema: um caractere binário isolado entra, uma classe sai. Explicar que não se trata de um leitor completo de placas. Fonte: respostas das sessões e Descrição do Projeto.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classificação multiclasse e por que uma CNN pode aprender traços. Baseline: frequência calculada no treino, empate resolvido pelo menor índice (0). Fonte: experimento.py, validacao.json. Não afirmar que basta superar um baseline constante para provar superioridade a outros métodos.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Mostrar alguns caracteres e explicar 1.404 imagens, 39 por classe e um canal. Fonte: https://www.tensorflow.org/datasets/catalog/binary_alpha_digits ; https://cs.nyu.edu/home/people/in_memoriam/roweis/data.html . Os exemplos vêm apenas do treino, figura amostras.png.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auditoria encontrou 1.363 imagens únicas, 39 grupos repetidos e 38 grupos conflitantes 0/O. Todas as imagens de 0 coincidem com O. Agrupar pelo hash antes de separar impede vazamento de cópias. Grupos são estratificados pela combinação de rótulos, seed 42. Fonte: auditoria.json, contagens.json, duplicatas.json. Sem escritor identificado, não garantimos independência por pessoa.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convolução, filtro compartilhado, pooling, Flatten e Dense. A dimensão do lote fica fora do input_shape. Conv2D usa padding same. Fontes: aula4 pp. PDF 129-140, aula5 p. PDF 49, experimento.py e CNN_Dropout_arquitetura.txt.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Sparse categorical crossentropy combina rótulo inteiro com saída softmax. Adam ajusta os pesos. EarlyStopping restaura a menor val_loss. A acurácia de validação escolhe a rede entre as configurações. Fontes: aula3 pp. PDF 50-64, aula5, https://keras.io/api/callbacks/early_stopping/ , configuracao.json.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Comparação feita nos mesmos 217 registros de validação. CNN inicial 160 acertos, CNN Dropout 168. Ganho de oito acertos, 3,69 pontos percentuais. Não houve teste de significância nem múltiplas sementes. Fonte: validacao.json.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 gráficos têm todas as épocas, com eixos numéricos. Valores arredondados a seis casas para compatibilidade com a planilha incorporada. CNN inicial: menor val_loss 0,840 na época 10, parou em 20. Dropout: 0,689 na época 29, parou em 39. Mesmo com Dropout há separação entre treino e validação. Não confundir menor val_loss com maior val_accuracy. Fonte: historicos.json e execucoes.json.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Somente baseline e CNN selecionada foram avaliados no teste. CNN Dropout: accuracy 82,41%, macro-F1 0,817. Matriz completa no relatório. O foi previsto como 0 em quatro casos; S como 5 em dois. O recall de O é 1/6, e K e S 3/6. A ambiguidade 0/O impõe pelo menos seis erros no teste. Fontes: teste.json, metricas_por_classe.json, principais_confusoes.json e previsoes_teste.npz.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Fechar com o que foi aprendido: comparação controlada e dados importam. Uso didático ou sugestão de transcrição com revisão humana. Não existe confiabilidade operacional demonstrada. Confirmar Colab limpo, aprovação do dataset e do grupo antes da entrega. Fontes: relatório seções 5 e 6; Descrição do Projeto; Modelo de Relatório.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e140f70bf142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7f63e03d6a4c0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630a61a955e46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78d53bd54c48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29c0ae4afb49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4c0b357fe247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BE5F1B-9D74-4A47-ABAF-75950E281D0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AD3B467-7A0D-4844-B770-716018349E8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BAE36B8-716F-49D0-AB04-5E81F6DA3DA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E9222C-9EFF-4CC5-B955-4B19270407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62DEC9-E4A4-4B00-8B37-487C5D4B4B1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5E27CB-B9E8-4504-8642-9B43DF9D1D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1D28C-9975-4A18-BAC5-CBE06741C9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5FF5DE6-C3FC-4793-93A8-9812E147F5B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CCCE50-D7A6-4A52-B210-8AA34C0EE5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2C2427-7317-4F99-BEF5-70C1B634BE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8e47e05ee7488a" /><Relationship Type="http://schemas.openxmlformats.org/officeDocument/2006/relationships/slideLayout" Target="/ppt/slideLayouts/slideLayout1.xml" Id="Rc33b5bf524bf4eda" /><Relationship Type="http://schemas.openxmlformats.org/officeDocument/2006/relationships/slideLayout" Target="/ppt/slideLayouts/slideLayout2.xml" Id="Rb6c17e46f0204ba3" /><Relationship Type="http://schemas.openxmlformats.org/officeDocument/2006/relationships/slideLayout" Target="/ppt/slideLayouts/slideLayout3.xml" Id="Ra3acc5e1b61e4563" /><Relationship Type="http://schemas.openxmlformats.org/officeDocument/2006/relationships/slideLayout" Target="/ppt/slideLayouts/slideLayout4.xml" Id="Rbfdece600b3c49b0" /><Relationship Type="http://schemas.openxmlformats.org/officeDocument/2006/relationships/slideLayout" Target="/ppt/slideLayouts/slideLayout5.xml" Id="Re45fcdb4e5884efc" /><Relationship Type="http://schemas.openxmlformats.org/officeDocument/2006/relationships/slideLayout" Target="/ppt/slideLayouts/slideLayout6.xml" Id="Ra4aacbc2742c44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3b5bf524bf4eda"/>
    <p:sldLayoutId xmlns:r="http://schemas.openxmlformats.org/officeDocument/2006/relationships" id="2147483650" r:id="Rb6c17e46f0204ba3"/>
    <p:sldLayoutId xmlns:r="http://schemas.openxmlformats.org/officeDocument/2006/relationships" id="2147483651" r:id="Ra3acc5e1b61e4563"/>
    <p:sldLayoutId xmlns:r="http://schemas.openxmlformats.org/officeDocument/2006/relationships" id="2147483652" r:id="Rbfdece600b3c49b0"/>
    <p:sldLayoutId xmlns:r="http://schemas.openxmlformats.org/officeDocument/2006/relationships" id="2147483653" r:id="Re45fcdb4e5884efc"/>
    <p:sldLayoutId xmlns:r="http://schemas.openxmlformats.org/officeDocument/2006/relationships" id="2147483654" r:id="Ra4aacbc2742c44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d9d1c5d32f453b" /><Relationship Type="http://schemas.openxmlformats.org/officeDocument/2006/relationships/notesSlide" Target="/ppt/notesSlides/notesSlide1.xml" Id="Rc443c6533faf4f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107845b9e824d10" /><Relationship Type="http://schemas.openxmlformats.org/officeDocument/2006/relationships/notesSlide" Target="/ppt/notesSlides/notesSlide2.xml" Id="Rcc68a9bd769246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2587167c294e8e" /><Relationship Type="http://schemas.openxmlformats.org/officeDocument/2006/relationships/image" Target="/ppt/media/image.png" Id="Rab3e3cbb9eaf4fc0" /><Relationship Type="http://schemas.openxmlformats.org/officeDocument/2006/relationships/notesSlide" Target="/ppt/notesSlides/notesSlide3.xml" Id="R73efcf2ea0b946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2480c710d5f406b" /><Relationship Type="http://schemas.openxmlformats.org/officeDocument/2006/relationships/notesSlide" Target="/ppt/notesSlides/notesSlide4.xml" Id="R9ca2bb82bca640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10f1e8c05a640c6" /><Relationship Type="http://schemas.openxmlformats.org/officeDocument/2006/relationships/notesSlide" Target="/ppt/notesSlides/notesSlide5.xml" Id="R846193f3efbf45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3955bcd453340dd" /><Relationship Type="http://schemas.openxmlformats.org/officeDocument/2006/relationships/notesSlide" Target="/ppt/notesSlides/notesSlide6.xml" Id="R3f564561d1c347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f4853264504861" /><Relationship Type="http://schemas.openxmlformats.org/officeDocument/2006/relationships/chart" Target="/ppt/slides/charts/chart1.xml" Id="Rc90219b31f674f3a" /><Relationship Type="http://schemas.openxmlformats.org/officeDocument/2006/relationships/notesSlide" Target="/ppt/notesSlides/notesSlide7.xml" Id="Recc31ae5cc2440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9f6dad69d684d43" /><Relationship Type="http://schemas.openxmlformats.org/officeDocument/2006/relationships/chart" Target="/ppt/slides/charts/chart2.xml" Id="R03d4131cdfa04af2" /><Relationship Type="http://schemas.openxmlformats.org/officeDocument/2006/relationships/chart" Target="/ppt/slides/charts/chart3.xml" Id="R80c29ab430db43d0" /><Relationship Type="http://schemas.openxmlformats.org/officeDocument/2006/relationships/notesSlide" Target="/ppt/notesSlides/notesSlide8.xml" Id="Rfff2ebdcf82443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947853bafec4921" /><Relationship Type="http://schemas.openxmlformats.org/officeDocument/2006/relationships/image" Target="/ppt/media/image2.png" Id="Re2186225b5cb4c73" /><Relationship Type="http://schemas.openxmlformats.org/officeDocument/2006/relationships/notesSlide" Target="/ppt/notesSlides/notesSlide9.xml" Id="R4abe11b04c6246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b08fc3844f24152" /><Relationship Type="http://schemas.openxmlformats.org/officeDocument/2006/relationships/notesSlide" Target="/ppt/notesSlides/notesSlide10.xml" Id="R958a8a9fb320454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Acurácia de validação</c:v>
          </c:tx>
          <c:spPr>
            <a:solidFill xmlns:a="http://schemas.openxmlformats.org/drawingml/2006/main">
              <a:srgbClr val="157C80"/>
            </a:solidFill>
          </c:spPr>
          <c:invertIfNegative val="0"/>
          <c:cat>
            <c:strRef>
              <c:f>'Chart Data'!$A$2:$A$5</c:f>
              <c:strCache>
                <c:ptCount val="4"/>
                <c:pt idx="0">
                  <c:v>Baseline</c:v>
                </c:pt>
                <c:pt idx="1">
                  <c:v>MLP</c:v>
                </c:pt>
                <c:pt idx="2">
                  <c:v>CNN inicial</c:v>
                </c:pt>
                <c:pt idx="3">
                  <c:v>CNN Dropout</c:v>
                </c:pt>
              </c:strCache>
            </c:strRef>
          </c:cat>
          <c:val>
            <c:numRef>
              <c:f>'Chart Data'!$B$2:$B$5</c:f>
              <c:numCache>
                <c:formatCode>0%</c:formatCode>
                <c:ptCount val="4"/>
                <c:pt idx="0">
                  <c:v>0.02765</c:v>
                </c:pt>
                <c:pt idx="1">
                  <c:v>0.714286</c:v>
                </c:pt>
                <c:pt idx="2">
                  <c:v>0.737327</c:v>
                </c:pt>
                <c:pt idx="3">
                  <c:v>0.774194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a:solidFill>
                    <a:srgbClr val="123F5D"/>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6E1E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latin typeface="Arial"/>
                <a:ea typeface="Arial"/>
                <a:cs typeface="Arial"/>
              </a:rPr>
              <a:t>CNN inicial</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plotArea>
      <c:scatterChart>
        <c:scatterStyle val="line"/>
        <c:varyColors val="0"/>
        <c:ser>
          <c:idx val="0"/>
          <c:order val="0"/>
          <c:tx>
            <c:v>Treino</c:v>
          </c:tx>
          <c:spPr>
            <a:ln xmlns:a="http://schemas.openxmlformats.org/drawingml/2006/main" w="28575">
              <a:solidFill>
                <a:srgbClr val="123F5D"/>
              </a:solidFill>
            </a:ln>
          </c:spPr>
          <c:xVal>
            <c:numRef>
              <c:f>'Chart Data'!$A$2:$A$21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Data'!$B$2:$B$21</c:f>
              <c:numCache>
                <c:formatCode>General</c:formatCode>
                <c:ptCount val="20"/>
                <c:pt idx="0">
                  <c:v>3.533036</c:v>
                </c:pt>
                <c:pt idx="1">
                  <c:v>3.107276</c:v>
                </c:pt>
                <c:pt idx="2">
                  <c:v>2.059161</c:v>
                </c:pt>
                <c:pt idx="3">
                  <c:v>1.382007</c:v>
                </c:pt>
                <c:pt idx="4">
                  <c:v>1.070727</c:v>
                </c:pt>
                <c:pt idx="5">
                  <c:v>0.914966</c:v>
                </c:pt>
                <c:pt idx="6">
                  <c:v>0.757121</c:v>
                </c:pt>
                <c:pt idx="7">
                  <c:v>0.644661</c:v>
                </c:pt>
                <c:pt idx="8">
                  <c:v>0.575426</c:v>
                </c:pt>
                <c:pt idx="9">
                  <c:v>0.509687</c:v>
                </c:pt>
                <c:pt idx="10">
                  <c:v>0.446626</c:v>
                </c:pt>
                <c:pt idx="11">
                  <c:v>0.393586</c:v>
                </c:pt>
                <c:pt idx="12">
                  <c:v>0.371104</c:v>
                </c:pt>
                <c:pt idx="13">
                  <c:v>0.353878</c:v>
                </c:pt>
                <c:pt idx="14">
                  <c:v>0.305555</c:v>
                </c:pt>
                <c:pt idx="15">
                  <c:v>0.290675</c:v>
                </c:pt>
                <c:pt idx="16">
                  <c:v>0.231438</c:v>
                </c:pt>
                <c:pt idx="17">
                  <c:v>0.237929</c:v>
                </c:pt>
                <c:pt idx="18">
                  <c:v>0.239872</c:v>
                </c:pt>
                <c:pt idx="19">
                  <c:v>0.177598</c:v>
                </c:pt>
              </c:numCache>
            </c:numRef>
          </c:yVal>
        </c:ser>
        <c:ser>
          <c:idx val="1"/>
          <c:order val="1"/>
          <c:tx>
            <c:v>Validação</c:v>
          </c:tx>
          <c:spPr>
            <a:ln xmlns:a="http://schemas.openxmlformats.org/drawingml/2006/main" w="28575">
              <a:solidFill>
                <a:srgbClr val="D97706"/>
              </a:solidFill>
            </a:ln>
          </c:spPr>
          <c:xVal>
            <c:numRef>
              <c:f>'Chart Data'!$C$2:$C$21</c:f>
              <c:numCache>
                <c:formatCode>General</c:formatCod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numCache>
            </c:numRef>
          </c:xVal>
          <c:yVal>
            <c:numRef>
              <c:f>'Chart Data'!$D$2:$D$21</c:f>
              <c:numCache>
                <c:formatCode>General</c:formatCode>
                <c:ptCount val="20"/>
                <c:pt idx="0">
                  <c:v>3.401455</c:v>
                </c:pt>
                <c:pt idx="1">
                  <c:v>2.615923</c:v>
                </c:pt>
                <c:pt idx="2">
                  <c:v>1.764795</c:v>
                </c:pt>
                <c:pt idx="3">
                  <c:v>1.342505</c:v>
                </c:pt>
                <c:pt idx="4">
                  <c:v>1.164081</c:v>
                </c:pt>
                <c:pt idx="5">
                  <c:v>1.035412</c:v>
                </c:pt>
                <c:pt idx="6">
                  <c:v>0.993543</c:v>
                </c:pt>
                <c:pt idx="7">
                  <c:v>1.045021</c:v>
                </c:pt>
                <c:pt idx="8">
                  <c:v>0.912854</c:v>
                </c:pt>
                <c:pt idx="9">
                  <c:v>0.839741</c:v>
                </c:pt>
                <c:pt idx="10">
                  <c:v>0.875925</c:v>
                </c:pt>
                <c:pt idx="11">
                  <c:v>0.890409</c:v>
                </c:pt>
                <c:pt idx="12">
                  <c:v>0.965881</c:v>
                </c:pt>
                <c:pt idx="13">
                  <c:v>0.920663</c:v>
                </c:pt>
                <c:pt idx="14">
                  <c:v>1.022483</c:v>
                </c:pt>
                <c:pt idx="15">
                  <c:v>0.904285</c:v>
                </c:pt>
                <c:pt idx="16">
                  <c:v>0.897593</c:v>
                </c:pt>
                <c:pt idx="17">
                  <c:v>0.862526</c:v>
                </c:pt>
                <c:pt idx="18">
                  <c:v>0.942572</c:v>
                </c:pt>
                <c:pt idx="19">
                  <c:v>0.888413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6E1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2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5"/>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025">
                <a:latin typeface="Arial"/>
                <a:ea typeface="Arial"/>
                <a:cs typeface="Arial"/>
              </a:rPr>
              <a:t>CNN Dropout</a:t>
            </a:r>
          </a:p>
        </c:rich>
      </c:tx>
      <c:overlay val="0"/>
      <c:txPr>
        <a:bodyPr xmlns:a="http://schemas.openxmlformats.org/drawingml/2006/main" anchorCtr="1"/>
        <a:lstStyle xmlns:a="http://schemas.openxmlformats.org/drawingml/2006/main"/>
        <a:p xmlns:a="http://schemas.openxmlformats.org/drawingml/2006/main">
          <a:pPr>
            <a:defRPr sz="2025">
              <a:latin typeface="Arial"/>
              <a:ea typeface="Arial"/>
              <a:cs typeface="Arial"/>
            </a:defRPr>
          </a:pPr>
        </a:p>
      </c:txPr>
    </c:title>
    <c:plotArea>
      <c:scatterChart>
        <c:scatterStyle val="line"/>
        <c:varyColors val="0"/>
        <c:ser>
          <c:idx val="0"/>
          <c:order val="0"/>
          <c:tx>
            <c:v>Treino</c:v>
          </c:tx>
          <c:spPr>
            <a:ln xmlns:a="http://schemas.openxmlformats.org/drawingml/2006/main" w="28575">
              <a:solidFill>
                <a:srgbClr val="123F5D"/>
              </a:solidFill>
            </a:ln>
          </c:spPr>
          <c:xVal>
            <c:numRef>
              <c:f>'Chart Data'!$A$2:$A$40</c:f>
              <c:numCache>
                <c:formatCode>General</c:formatCode>
                <c:ptCount val="3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numCache>
            </c:numRef>
          </c:xVal>
          <c:yVal>
            <c:numRef>
              <c:f>'Chart Data'!$B$2:$B$40</c:f>
              <c:numCache>
                <c:formatCode>General</c:formatCode>
                <c:ptCount val="39"/>
                <c:pt idx="0">
                  <c:v>3.551802</c:v>
                </c:pt>
                <c:pt idx="1">
                  <c:v>3.327293</c:v>
                </c:pt>
                <c:pt idx="2">
                  <c:v>2.77866</c:v>
                </c:pt>
                <c:pt idx="3">
                  <c:v>2.292079</c:v>
                </c:pt>
                <c:pt idx="4">
                  <c:v>1.886957</c:v>
                </c:pt>
                <c:pt idx="5">
                  <c:v>1.671787</c:v>
                </c:pt>
                <c:pt idx="6">
                  <c:v>1.456519</c:v>
                </c:pt>
                <c:pt idx="7">
                  <c:v>1.358083</c:v>
                </c:pt>
                <c:pt idx="8">
                  <c:v>1.197867</c:v>
                </c:pt>
                <c:pt idx="9">
                  <c:v>1.123148</c:v>
                </c:pt>
                <c:pt idx="10">
                  <c:v>1.069098</c:v>
                </c:pt>
                <c:pt idx="11">
                  <c:v>0.965461</c:v>
                </c:pt>
                <c:pt idx="12">
                  <c:v>0.951356</c:v>
                </c:pt>
                <c:pt idx="13">
                  <c:v>0.866504</c:v>
                </c:pt>
                <c:pt idx="14">
                  <c:v>0.795495</c:v>
                </c:pt>
                <c:pt idx="15">
                  <c:v>0.766986</c:v>
                </c:pt>
                <c:pt idx="16">
                  <c:v>0.722725</c:v>
                </c:pt>
                <c:pt idx="17">
                  <c:v>0.670898</c:v>
                </c:pt>
                <c:pt idx="18">
                  <c:v>0.64439</c:v>
                </c:pt>
                <c:pt idx="19">
                  <c:v>0.619145</c:v>
                </c:pt>
                <c:pt idx="20">
                  <c:v>0.618694</c:v>
                </c:pt>
                <c:pt idx="21">
                  <c:v>0.534751</c:v>
                </c:pt>
                <c:pt idx="22">
                  <c:v>0.488472</c:v>
                </c:pt>
                <c:pt idx="23">
                  <c:v>0.494781</c:v>
                </c:pt>
                <c:pt idx="24">
                  <c:v>0.45066</c:v>
                </c:pt>
                <c:pt idx="25">
                  <c:v>0.472498</c:v>
                </c:pt>
                <c:pt idx="26">
                  <c:v>0.40963</c:v>
                </c:pt>
                <c:pt idx="27">
                  <c:v>0.418251</c:v>
                </c:pt>
                <c:pt idx="28">
                  <c:v>0.423916</c:v>
                </c:pt>
                <c:pt idx="29">
                  <c:v>0.408229</c:v>
                </c:pt>
                <c:pt idx="30">
                  <c:v>0.305935</c:v>
                </c:pt>
                <c:pt idx="31">
                  <c:v>0.330663</c:v>
                </c:pt>
                <c:pt idx="32">
                  <c:v>0.290571</c:v>
                </c:pt>
                <c:pt idx="33">
                  <c:v>0.306968</c:v>
                </c:pt>
                <c:pt idx="34">
                  <c:v>0.311528</c:v>
                </c:pt>
                <c:pt idx="35">
                  <c:v>0.307317</c:v>
                </c:pt>
                <c:pt idx="36">
                  <c:v>0.31315</c:v>
                </c:pt>
                <c:pt idx="37">
                  <c:v>0.286059</c:v>
                </c:pt>
                <c:pt idx="38">
                  <c:v>0.30337</c:v>
                </c:pt>
              </c:numCache>
            </c:numRef>
          </c:yVal>
        </c:ser>
        <c:ser>
          <c:idx val="1"/>
          <c:order val="1"/>
          <c:tx>
            <c:v>Validação</c:v>
          </c:tx>
          <c:spPr>
            <a:ln xmlns:a="http://schemas.openxmlformats.org/drawingml/2006/main" w="28575">
              <a:solidFill>
                <a:srgbClr val="D97706"/>
              </a:solidFill>
            </a:ln>
          </c:spPr>
          <c:xVal>
            <c:numRef>
              <c:f>'Chart Data'!$C$2:$C$40</c:f>
              <c:numCache>
                <c:formatCode>General</c:formatCode>
                <c:ptCount val="39"/>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numCache>
            </c:numRef>
          </c:xVal>
          <c:yVal>
            <c:numRef>
              <c:f>'Chart Data'!$D$2:$D$40</c:f>
              <c:numCache>
                <c:formatCode>General</c:formatCode>
                <c:ptCount val="39"/>
                <c:pt idx="0">
                  <c:v>3.461399</c:v>
                </c:pt>
                <c:pt idx="1">
                  <c:v>3.022024</c:v>
                </c:pt>
                <c:pt idx="2">
                  <c:v>2.349824</c:v>
                </c:pt>
                <c:pt idx="3">
                  <c:v>1.781806</c:v>
                </c:pt>
                <c:pt idx="4">
                  <c:v>1.41515</c:v>
                </c:pt>
                <c:pt idx="5">
                  <c:v>1.268673</c:v>
                </c:pt>
                <c:pt idx="6">
                  <c:v>1.144305</c:v>
                </c:pt>
                <c:pt idx="7">
                  <c:v>1.069531</c:v>
                </c:pt>
                <c:pt idx="8">
                  <c:v>0.945487</c:v>
                </c:pt>
                <c:pt idx="9">
                  <c:v>0.923956</c:v>
                </c:pt>
                <c:pt idx="10">
                  <c:v>0.868562</c:v>
                </c:pt>
                <c:pt idx="11">
                  <c:v>0.837732</c:v>
                </c:pt>
                <c:pt idx="12">
                  <c:v>0.847555</c:v>
                </c:pt>
                <c:pt idx="13">
                  <c:v>0.823776</c:v>
                </c:pt>
                <c:pt idx="14">
                  <c:v>0.820319</c:v>
                </c:pt>
                <c:pt idx="15">
                  <c:v>0.784939</c:v>
                </c:pt>
                <c:pt idx="16">
                  <c:v>0.7396</c:v>
                </c:pt>
                <c:pt idx="17">
                  <c:v>0.765228</c:v>
                </c:pt>
                <c:pt idx="18">
                  <c:v>0.725034</c:v>
                </c:pt>
                <c:pt idx="19">
                  <c:v>0.745818</c:v>
                </c:pt>
                <c:pt idx="20">
                  <c:v>0.715018</c:v>
                </c:pt>
                <c:pt idx="21">
                  <c:v>0.722205</c:v>
                </c:pt>
                <c:pt idx="22">
                  <c:v>0.734265</c:v>
                </c:pt>
                <c:pt idx="23">
                  <c:v>0.725213</c:v>
                </c:pt>
                <c:pt idx="24">
                  <c:v>0.716264</c:v>
                </c:pt>
                <c:pt idx="25">
                  <c:v>0.698506</c:v>
                </c:pt>
                <c:pt idx="26">
                  <c:v>0.730054</c:v>
                </c:pt>
                <c:pt idx="27">
                  <c:v>0.713747</c:v>
                </c:pt>
                <c:pt idx="28">
                  <c:v>0.688759</c:v>
                </c:pt>
                <c:pt idx="29">
                  <c:v>0.693489</c:v>
                </c:pt>
                <c:pt idx="30">
                  <c:v>0.737158</c:v>
                </c:pt>
                <c:pt idx="31">
                  <c:v>0.696638</c:v>
                </c:pt>
                <c:pt idx="32">
                  <c:v>0.711104</c:v>
                </c:pt>
                <c:pt idx="33">
                  <c:v>0.705796</c:v>
                </c:pt>
                <c:pt idx="34">
                  <c:v>0.715709</c:v>
                </c:pt>
                <c:pt idx="35">
                  <c:v>0.725926</c:v>
                </c:pt>
                <c:pt idx="36">
                  <c:v>0.769814</c:v>
                </c:pt>
                <c:pt idx="37">
                  <c:v>0.706843</c:v>
                </c:pt>
                <c:pt idx="38">
                  <c:v>0.731392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6E1E7"/>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valAx>
      <c:valAx>
        <c:axId val="48650112"/>
        <c:scaling>
          <c:orientation val="minMax"/>
          <c:max val="4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Época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72768"/>
        <c:majorUnit val="10"/>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7B77AEC-3106-484D-87A7-50D6F9082C6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Reconhecimento de caracteres</a:t>
            </a:r>
          </a:p>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alfanuméricos</a:t>
            </a:r>
          </a:p>
        </p:txBody>
      </p:sp>
      <p:sp>
        <p:nvSpPr>
          <p:cNvPr id="2" name="">
            <a:extLst xmlns:a="http://schemas.openxmlformats.org/drawingml/2006/main">
              <a:ext uri="{FF2B5EF4-FFF2-40B4-BE49-F238E27FC236}">
                <a16:creationId xmlns:a16="http://schemas.microsoft.com/office/drawing/2014/main" id="{DA79A4D7-61DB-4B3B-BEAD-47513FA3B99F}"/>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Grupo 4 | IASEG | Deep Learning | 19/10/2026</a:t>
            </a:r>
          </a:p>
        </p:txBody>
      </p:sp>
      <p:sp>
        <p:nvSpPr>
          <p:cNvPr id="3" name="">
            <a:extLst xmlns:a="http://schemas.openxmlformats.org/drawingml/2006/main">
              <a:ext uri="{FF2B5EF4-FFF2-40B4-BE49-F238E27FC236}">
                <a16:creationId xmlns:a16="http://schemas.microsoft.com/office/drawing/2014/main" id="{57179DAB-7AFA-434C-8237-36105409CD0E}"/>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79032E13-D4A1-42A8-97E4-BB1AAEDA9C49}"/>
              </a:ext>
            </a:extLst>
          </p:cNvPr>
          <p:cNvSpPr>
            <a:spLocks xmlns:a="http://schemas.openxmlformats.org/drawingml/2006/main" noGrp="1"/>
          </p:cNvSpPr>
          <p:nvPr/>
        </p:nvSpPr>
        <p:spPr>
          <a:xfrm xmlns:a="http://schemas.openxmlformats.org/drawingml/2006/main">
            <a:off x="609600" y="22479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57C80"/>
                </a:solidFill>
                <a:latin typeface="Arial"/>
                <a:ea typeface="Arial"/>
                <a:cs typeface="Arial"/>
              </a:defRPr>
            </a:defPPr>
            <a:lvl1pPr>
              <a:defRPr sz="2550" b="0">
                <a:solidFill>
                  <a:srgbClr val="157C80"/>
                </a:solidFill>
                <a:latin typeface="Arial"/>
                <a:ea typeface="Arial"/>
                <a:cs typeface="Arial"/>
              </a:defRPr>
            </a:lvl1pPr>
            <a:lvl2pPr>
              <a:defRPr sz="2550" b="0">
                <a:solidFill>
                  <a:srgbClr val="157C80"/>
                </a:solidFill>
                <a:latin typeface="Arial"/>
                <a:ea typeface="Arial"/>
                <a:cs typeface="Arial"/>
              </a:defRPr>
            </a:lvl2pPr>
            <a:lvl3pPr>
              <a:defRPr sz="2550" b="0">
                <a:solidFill>
                  <a:srgbClr val="157C80"/>
                </a:solidFill>
                <a:latin typeface="Arial"/>
                <a:ea typeface="Arial"/>
                <a:cs typeface="Arial"/>
              </a:defRPr>
            </a:lvl3pPr>
            <a:lvl4pPr>
              <a:defRPr sz="2550" b="0">
                <a:solidFill>
                  <a:srgbClr val="157C80"/>
                </a:solidFill>
                <a:latin typeface="Arial"/>
                <a:ea typeface="Arial"/>
                <a:cs typeface="Arial"/>
              </a:defRPr>
            </a:lvl4pPr>
            <a:lvl5pPr>
              <a:defRPr sz="2550" b="0">
                <a:solidFill>
                  <a:srgbClr val="157C80"/>
                </a:solidFill>
                <a:latin typeface="Arial"/>
                <a:ea typeface="Arial"/>
                <a:cs typeface="Arial"/>
              </a:defRPr>
            </a:lvl5pPr>
            <a:lvl6pPr>
              <a:defRPr sz="2550" b="0">
                <a:solidFill>
                  <a:srgbClr val="157C80"/>
                </a:solidFill>
                <a:latin typeface="Arial"/>
                <a:ea typeface="Arial"/>
                <a:cs typeface="Arial"/>
              </a:defRPr>
            </a:lvl6pPr>
            <a:lvl7pPr>
              <a:defRPr sz="2550" b="0">
                <a:solidFill>
                  <a:srgbClr val="157C80"/>
                </a:solidFill>
                <a:latin typeface="Arial"/>
                <a:ea typeface="Arial"/>
                <a:cs typeface="Arial"/>
              </a:defRPr>
            </a:lvl7pPr>
            <a:lvl8pPr>
              <a:defRPr sz="2550" b="0">
                <a:solidFill>
                  <a:srgbClr val="157C80"/>
                </a:solidFill>
                <a:latin typeface="Arial"/>
                <a:ea typeface="Arial"/>
                <a:cs typeface="Arial"/>
              </a:defRPr>
            </a:lvl8pPr>
            <a:lvl9pPr>
              <a:defRPr sz="2550" b="0">
                <a:solidFill>
                  <a:srgbClr val="157C80"/>
                </a:solidFill>
                <a:latin typeface="Arial"/>
                <a:ea typeface="Arial"/>
                <a:cs typeface="Arial"/>
              </a:defRPr>
            </a:lvl9pPr>
          </a:lstStyle>
          <a:p xmlns:a="http://schemas.openxmlformats.org/drawingml/2006/main">
            <a:pPr>
              <a:defRPr sz="2550" b="0">
                <a:solidFill>
                  <a:srgbClr val="157C80"/>
                </a:solidFill>
                <a:latin typeface="Arial"/>
                <a:ea typeface="Arial"/>
                <a:cs typeface="Arial"/>
              </a:defRPr>
            </a:pPr>
            <a:r>
              <a:rPr sz="2550" b="0">
                <a:solidFill>
                  <a:srgbClr val="157C80"/>
                </a:solidFill>
                <a:latin typeface="Arial"/>
                <a:ea typeface="Arial"/>
                <a:cs typeface="Arial"/>
              </a:rPr>
              <a:t>Uma imagem de 20 × 16 pixels. Uma classe entre 0-9 e A-Z.</a:t>
            </a:r>
          </a:p>
        </p:txBody>
      </p:sp>
      <p:sp>
        <p:nvSpPr>
          <p:cNvPr id="5" name="">
            <a:extLst xmlns:a="http://schemas.openxmlformats.org/drawingml/2006/main">
              <a:ext uri="{FF2B5EF4-FFF2-40B4-BE49-F238E27FC236}">
                <a16:creationId xmlns:a16="http://schemas.microsoft.com/office/drawing/2014/main" id="{1A58300B-D333-471B-BEF8-221D1B55CCD7}"/>
              </a:ext>
            </a:extLst>
          </p:cNvPr>
          <p:cNvSpPr>
            <a:spLocks xmlns:a="http://schemas.openxmlformats.org/drawingml/2006/main" noGrp="1"/>
          </p:cNvSpPr>
          <p:nvPr/>
        </p:nvSpPr>
        <p:spPr>
          <a:xfrm xmlns:a="http://schemas.openxmlformats.org/drawingml/2006/main">
            <a:off x="609600" y="4381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16B"/>
                </a:solidFill>
                <a:latin typeface="Arial"/>
                <a:ea typeface="Arial"/>
                <a:cs typeface="Arial"/>
              </a:defRPr>
            </a:defPPr>
            <a:lvl1pPr>
              <a:defRPr sz="1875" b="0">
                <a:solidFill>
                  <a:srgbClr val="52616B"/>
                </a:solidFill>
                <a:latin typeface="Arial"/>
                <a:ea typeface="Arial"/>
                <a:cs typeface="Arial"/>
              </a:defRPr>
            </a:lvl1pPr>
            <a:lvl2pPr>
              <a:defRPr sz="1875" b="0">
                <a:solidFill>
                  <a:srgbClr val="52616B"/>
                </a:solidFill>
                <a:latin typeface="Arial"/>
                <a:ea typeface="Arial"/>
                <a:cs typeface="Arial"/>
              </a:defRPr>
            </a:lvl2pPr>
            <a:lvl3pPr>
              <a:defRPr sz="1875" b="0">
                <a:solidFill>
                  <a:srgbClr val="52616B"/>
                </a:solidFill>
                <a:latin typeface="Arial"/>
                <a:ea typeface="Arial"/>
                <a:cs typeface="Arial"/>
              </a:defRPr>
            </a:lvl3pPr>
            <a:lvl4pPr>
              <a:defRPr sz="1875" b="0">
                <a:solidFill>
                  <a:srgbClr val="52616B"/>
                </a:solidFill>
                <a:latin typeface="Arial"/>
                <a:ea typeface="Arial"/>
                <a:cs typeface="Arial"/>
              </a:defRPr>
            </a:lvl4pPr>
            <a:lvl5pPr>
              <a:defRPr sz="1875" b="0">
                <a:solidFill>
                  <a:srgbClr val="52616B"/>
                </a:solidFill>
                <a:latin typeface="Arial"/>
                <a:ea typeface="Arial"/>
                <a:cs typeface="Arial"/>
              </a:defRPr>
            </a:lvl5pPr>
            <a:lvl6pPr>
              <a:defRPr sz="1875" b="0">
                <a:solidFill>
                  <a:srgbClr val="52616B"/>
                </a:solidFill>
                <a:latin typeface="Arial"/>
                <a:ea typeface="Arial"/>
                <a:cs typeface="Arial"/>
              </a:defRPr>
            </a:lvl6pPr>
            <a:lvl7pPr>
              <a:defRPr sz="1875" b="0">
                <a:solidFill>
                  <a:srgbClr val="52616B"/>
                </a:solidFill>
                <a:latin typeface="Arial"/>
                <a:ea typeface="Arial"/>
                <a:cs typeface="Arial"/>
              </a:defRPr>
            </a:lvl7pPr>
            <a:lvl8pPr>
              <a:defRPr sz="1875" b="0">
                <a:solidFill>
                  <a:srgbClr val="52616B"/>
                </a:solidFill>
                <a:latin typeface="Arial"/>
                <a:ea typeface="Arial"/>
                <a:cs typeface="Arial"/>
              </a:defRPr>
            </a:lvl8pPr>
            <a:lvl9pPr>
              <a:defRPr sz="1875" b="0">
                <a:solidFill>
                  <a:srgbClr val="52616B"/>
                </a:solidFill>
                <a:latin typeface="Arial"/>
                <a:ea typeface="Arial"/>
                <a:cs typeface="Arial"/>
              </a:defRPr>
            </a:lvl9pPr>
          </a:lstStyle>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Bruno Groppo · Bruno Pimentel · Reynato Junior</a:t>
            </a:r>
          </a:p>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Wallace Jardim · Daniel Gil</a:t>
            </a:r>
          </a:p>
        </p:txBody>
      </p:sp>
    </p:spTree>
    <p:extLst>
      <p:ext uri="{BB962C8B-B14F-4D97-AF65-F5344CB8AC3E}">
        <p14:creationId xmlns:p14="http://schemas.microsoft.com/office/powerpoint/2010/main" val="170996633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7270F26-BDFF-4E20-A4CF-6E58F14001B6}"/>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Problema e referência de comparação</a:t>
            </a:r>
          </a:p>
        </p:txBody>
      </p:sp>
      <p:sp>
        <p:nvSpPr>
          <p:cNvPr id="2" name="">
            <a:extLst xmlns:a="http://schemas.openxmlformats.org/drawingml/2006/main">
              <a:ext uri="{FF2B5EF4-FFF2-40B4-BE49-F238E27FC236}">
                <a16:creationId xmlns:a16="http://schemas.microsoft.com/office/drawing/2014/main" id="{74E507DB-EAA6-4626-AA04-4C670B93A7B0}"/>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Groppo | 2 minutos</a:t>
            </a:r>
          </a:p>
        </p:txBody>
      </p:sp>
      <p:sp>
        <p:nvSpPr>
          <p:cNvPr id="3" name="">
            <a:extLst xmlns:a="http://schemas.openxmlformats.org/drawingml/2006/main">
              <a:ext uri="{FF2B5EF4-FFF2-40B4-BE49-F238E27FC236}">
                <a16:creationId xmlns:a16="http://schemas.microsoft.com/office/drawing/2014/main" id="{DD24C3E2-C40C-4FFC-9DC3-ADC245B4F312}"/>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8AFBEF7A-44F4-40DA-B351-4838324B7E28}"/>
              </a:ext>
            </a:extLst>
          </p:cNvPr>
          <p:cNvSpPr>
            <a:spLocks xmlns:a="http://schemas.openxmlformats.org/drawingml/2006/main" noGrp="1"/>
          </p:cNvSpPr>
          <p:nvPr/>
        </p:nvSpPr>
        <p:spPr>
          <a:xfrm xmlns:a="http://schemas.openxmlformats.org/drawingml/2006/main">
            <a:off x="609600" y="15811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7C80"/>
                </a:solidFill>
                <a:latin typeface="Arial"/>
                <a:ea typeface="Arial"/>
                <a:cs typeface="Arial"/>
              </a:defRPr>
            </a:defPPr>
            <a:lvl1pPr>
              <a:defRPr sz="2250" b="1">
                <a:solidFill>
                  <a:srgbClr val="157C80"/>
                </a:solidFill>
                <a:latin typeface="Arial"/>
                <a:ea typeface="Arial"/>
                <a:cs typeface="Arial"/>
              </a:defRPr>
            </a:lvl1pPr>
            <a:lvl2pPr>
              <a:defRPr sz="2250" b="1">
                <a:solidFill>
                  <a:srgbClr val="157C80"/>
                </a:solidFill>
                <a:latin typeface="Arial"/>
                <a:ea typeface="Arial"/>
                <a:cs typeface="Arial"/>
              </a:defRPr>
            </a:lvl2pPr>
            <a:lvl3pPr>
              <a:defRPr sz="2250" b="1">
                <a:solidFill>
                  <a:srgbClr val="157C80"/>
                </a:solidFill>
                <a:latin typeface="Arial"/>
                <a:ea typeface="Arial"/>
                <a:cs typeface="Arial"/>
              </a:defRPr>
            </a:lvl3pPr>
            <a:lvl4pPr>
              <a:defRPr sz="2250" b="1">
                <a:solidFill>
                  <a:srgbClr val="157C80"/>
                </a:solidFill>
                <a:latin typeface="Arial"/>
                <a:ea typeface="Arial"/>
                <a:cs typeface="Arial"/>
              </a:defRPr>
            </a:lvl4pPr>
            <a:lvl5pPr>
              <a:defRPr sz="2250" b="1">
                <a:solidFill>
                  <a:srgbClr val="157C80"/>
                </a:solidFill>
                <a:latin typeface="Arial"/>
                <a:ea typeface="Arial"/>
                <a:cs typeface="Arial"/>
              </a:defRPr>
            </a:lvl5pPr>
            <a:lvl6pPr>
              <a:defRPr sz="2250" b="1">
                <a:solidFill>
                  <a:srgbClr val="157C80"/>
                </a:solidFill>
                <a:latin typeface="Arial"/>
                <a:ea typeface="Arial"/>
                <a:cs typeface="Arial"/>
              </a:defRPr>
            </a:lvl6pPr>
            <a:lvl7pPr>
              <a:defRPr sz="2250" b="1">
                <a:solidFill>
                  <a:srgbClr val="157C80"/>
                </a:solidFill>
                <a:latin typeface="Arial"/>
                <a:ea typeface="Arial"/>
                <a:cs typeface="Arial"/>
              </a:defRPr>
            </a:lvl7pPr>
            <a:lvl8pPr>
              <a:defRPr sz="2250" b="1">
                <a:solidFill>
                  <a:srgbClr val="157C80"/>
                </a:solidFill>
                <a:latin typeface="Arial"/>
                <a:ea typeface="Arial"/>
                <a:cs typeface="Arial"/>
              </a:defRPr>
            </a:lvl8pPr>
            <a:lvl9pPr>
              <a:defRPr sz="2250" b="1">
                <a:solidFill>
                  <a:srgbClr val="157C80"/>
                </a:solidFill>
                <a:latin typeface="Arial"/>
                <a:ea typeface="Arial"/>
                <a:cs typeface="Arial"/>
              </a:defRPr>
            </a:lvl9pPr>
          </a:lstStyle>
          <a:p xmlns:a="http://schemas.openxmlformats.org/drawingml/2006/main">
            <a:pPr>
              <a:defRPr sz="2250" b="1">
                <a:solidFill>
                  <a:srgbClr val="157C80"/>
                </a:solidFill>
                <a:latin typeface="Arial"/>
                <a:ea typeface="Arial"/>
                <a:cs typeface="Arial"/>
              </a:defRPr>
            </a:pPr>
            <a:r>
              <a:rPr sz="2250" b="1">
                <a:solidFill>
                  <a:srgbClr val="157C80"/>
                </a:solidFill>
                <a:latin typeface="Arial"/>
                <a:ea typeface="Arial"/>
                <a:cs typeface="Arial"/>
              </a:rPr>
              <a:t>Entrada</a:t>
            </a:r>
          </a:p>
        </p:txBody>
      </p:sp>
      <p:sp>
        <p:nvSpPr>
          <p:cNvPr id="5" name="">
            <a:extLst xmlns:a="http://schemas.openxmlformats.org/drawingml/2006/main">
              <a:ext uri="{FF2B5EF4-FFF2-40B4-BE49-F238E27FC236}">
                <a16:creationId xmlns:a16="http://schemas.microsoft.com/office/drawing/2014/main" id="{B4848DEE-03E4-4727-A739-201E11A031C4}"/>
              </a:ext>
            </a:extLst>
          </p:cNvPr>
          <p:cNvSpPr>
            <a:spLocks xmlns:a="http://schemas.openxmlformats.org/drawingml/2006/main" noGrp="1"/>
          </p:cNvSpPr>
          <p:nvPr/>
        </p:nvSpPr>
        <p:spPr>
          <a:xfrm xmlns:a="http://schemas.openxmlformats.org/drawingml/2006/main">
            <a:off x="609600" y="21526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Um caractere isolado, binário,</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com orientação já definida.</a:t>
            </a:r>
          </a:p>
        </p:txBody>
      </p:sp>
      <p:sp>
        <p:nvSpPr>
          <p:cNvPr id="6" name="">
            <a:extLst xmlns:a="http://schemas.openxmlformats.org/drawingml/2006/main">
              <a:ext uri="{FF2B5EF4-FFF2-40B4-BE49-F238E27FC236}">
                <a16:creationId xmlns:a16="http://schemas.microsoft.com/office/drawing/2014/main" id="{E689C6AA-4379-4D89-97B4-FE52B4F74D29}"/>
              </a:ext>
            </a:extLst>
          </p:cNvPr>
          <p:cNvSpPr>
            <a:spLocks xmlns:a="http://schemas.openxmlformats.org/drawingml/2006/main" noGrp="1"/>
          </p:cNvSpPr>
          <p:nvPr/>
        </p:nvSpPr>
        <p:spPr>
          <a:xfrm xmlns:a="http://schemas.openxmlformats.org/drawingml/2006/main">
            <a:off x="6477000" y="15811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57C80"/>
                </a:solidFill>
                <a:latin typeface="Arial"/>
                <a:ea typeface="Arial"/>
                <a:cs typeface="Arial"/>
              </a:defRPr>
            </a:defPPr>
            <a:lvl1pPr>
              <a:defRPr sz="2250" b="1">
                <a:solidFill>
                  <a:srgbClr val="157C80"/>
                </a:solidFill>
                <a:latin typeface="Arial"/>
                <a:ea typeface="Arial"/>
                <a:cs typeface="Arial"/>
              </a:defRPr>
            </a:lvl1pPr>
            <a:lvl2pPr>
              <a:defRPr sz="2250" b="1">
                <a:solidFill>
                  <a:srgbClr val="157C80"/>
                </a:solidFill>
                <a:latin typeface="Arial"/>
                <a:ea typeface="Arial"/>
                <a:cs typeface="Arial"/>
              </a:defRPr>
            </a:lvl2pPr>
            <a:lvl3pPr>
              <a:defRPr sz="2250" b="1">
                <a:solidFill>
                  <a:srgbClr val="157C80"/>
                </a:solidFill>
                <a:latin typeface="Arial"/>
                <a:ea typeface="Arial"/>
                <a:cs typeface="Arial"/>
              </a:defRPr>
            </a:lvl3pPr>
            <a:lvl4pPr>
              <a:defRPr sz="2250" b="1">
                <a:solidFill>
                  <a:srgbClr val="157C80"/>
                </a:solidFill>
                <a:latin typeface="Arial"/>
                <a:ea typeface="Arial"/>
                <a:cs typeface="Arial"/>
              </a:defRPr>
            </a:lvl4pPr>
            <a:lvl5pPr>
              <a:defRPr sz="2250" b="1">
                <a:solidFill>
                  <a:srgbClr val="157C80"/>
                </a:solidFill>
                <a:latin typeface="Arial"/>
                <a:ea typeface="Arial"/>
                <a:cs typeface="Arial"/>
              </a:defRPr>
            </a:lvl5pPr>
            <a:lvl6pPr>
              <a:defRPr sz="2250" b="1">
                <a:solidFill>
                  <a:srgbClr val="157C80"/>
                </a:solidFill>
                <a:latin typeface="Arial"/>
                <a:ea typeface="Arial"/>
                <a:cs typeface="Arial"/>
              </a:defRPr>
            </a:lvl6pPr>
            <a:lvl7pPr>
              <a:defRPr sz="2250" b="1">
                <a:solidFill>
                  <a:srgbClr val="157C80"/>
                </a:solidFill>
                <a:latin typeface="Arial"/>
                <a:ea typeface="Arial"/>
                <a:cs typeface="Arial"/>
              </a:defRPr>
            </a:lvl7pPr>
            <a:lvl8pPr>
              <a:defRPr sz="2250" b="1">
                <a:solidFill>
                  <a:srgbClr val="157C80"/>
                </a:solidFill>
                <a:latin typeface="Arial"/>
                <a:ea typeface="Arial"/>
                <a:cs typeface="Arial"/>
              </a:defRPr>
            </a:lvl8pPr>
            <a:lvl9pPr>
              <a:defRPr sz="2250" b="1">
                <a:solidFill>
                  <a:srgbClr val="157C80"/>
                </a:solidFill>
                <a:latin typeface="Arial"/>
                <a:ea typeface="Arial"/>
                <a:cs typeface="Arial"/>
              </a:defRPr>
            </a:lvl9pPr>
          </a:lstStyle>
          <a:p xmlns:a="http://schemas.openxmlformats.org/drawingml/2006/main">
            <a:pPr>
              <a:defRPr sz="2250" b="1">
                <a:solidFill>
                  <a:srgbClr val="157C80"/>
                </a:solidFill>
                <a:latin typeface="Arial"/>
                <a:ea typeface="Arial"/>
                <a:cs typeface="Arial"/>
              </a:defRPr>
            </a:pPr>
            <a:r>
              <a:rPr sz="2250" b="1">
                <a:solidFill>
                  <a:srgbClr val="157C80"/>
                </a:solidFill>
                <a:latin typeface="Arial"/>
                <a:ea typeface="Arial"/>
                <a:cs typeface="Arial"/>
              </a:rPr>
              <a:t>Saída</a:t>
            </a:r>
          </a:p>
        </p:txBody>
      </p:sp>
      <p:sp>
        <p:nvSpPr>
          <p:cNvPr id="7" name="">
            <a:extLst xmlns:a="http://schemas.openxmlformats.org/drawingml/2006/main">
              <a:ext uri="{FF2B5EF4-FFF2-40B4-BE49-F238E27FC236}">
                <a16:creationId xmlns:a16="http://schemas.microsoft.com/office/drawing/2014/main" id="{F404C582-DED1-43B5-90EA-03E1C7CA2E36}"/>
              </a:ext>
            </a:extLst>
          </p:cNvPr>
          <p:cNvSpPr>
            <a:spLocks xmlns:a="http://schemas.openxmlformats.org/drawingml/2006/main" noGrp="1"/>
          </p:cNvSpPr>
          <p:nvPr/>
        </p:nvSpPr>
        <p:spPr>
          <a:xfrm xmlns:a="http://schemas.openxmlformats.org/drawingml/2006/main">
            <a:off x="6477000" y="21526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36 pontuações softmax.</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Escolhemos a maior.</a:t>
            </a:r>
          </a:p>
        </p:txBody>
      </p:sp>
      <p:sp>
        <p:nvSpPr>
          <p:cNvPr id="8" name="">
            <a:extLst xmlns:a="http://schemas.openxmlformats.org/drawingml/2006/main">
              <a:ext uri="{FF2B5EF4-FFF2-40B4-BE49-F238E27FC236}">
                <a16:creationId xmlns:a16="http://schemas.microsoft.com/office/drawing/2014/main" id="{2D45EADB-1693-41F0-B04B-3C9C057C825A}"/>
              </a:ext>
            </a:extLst>
          </p:cNvPr>
          <p:cNvSpPr>
            <a:spLocks xmlns:a="http://schemas.openxmlformats.org/drawingml/2006/main" noGrp="1"/>
          </p:cNvSpPr>
          <p:nvPr/>
        </p:nvSpPr>
        <p:spPr>
          <a:xfrm xmlns:a="http://schemas.openxmlformats.org/drawingml/2006/main">
            <a:off x="609600" y="38671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23F5D"/>
                </a:solidFill>
                <a:latin typeface="Arial"/>
                <a:ea typeface="Arial"/>
                <a:cs typeface="Arial"/>
              </a:defRPr>
            </a:defPPr>
            <a:lvl1pPr>
              <a:defRPr sz="2700" b="1">
                <a:solidFill>
                  <a:srgbClr val="123F5D"/>
                </a:solidFill>
                <a:latin typeface="Arial"/>
                <a:ea typeface="Arial"/>
                <a:cs typeface="Arial"/>
              </a:defRPr>
            </a:lvl1pPr>
            <a:lvl2pPr>
              <a:defRPr sz="2700" b="1">
                <a:solidFill>
                  <a:srgbClr val="123F5D"/>
                </a:solidFill>
                <a:latin typeface="Arial"/>
                <a:ea typeface="Arial"/>
                <a:cs typeface="Arial"/>
              </a:defRPr>
            </a:lvl2pPr>
            <a:lvl3pPr>
              <a:defRPr sz="2700" b="1">
                <a:solidFill>
                  <a:srgbClr val="123F5D"/>
                </a:solidFill>
                <a:latin typeface="Arial"/>
                <a:ea typeface="Arial"/>
                <a:cs typeface="Arial"/>
              </a:defRPr>
            </a:lvl3pPr>
            <a:lvl4pPr>
              <a:defRPr sz="2700" b="1">
                <a:solidFill>
                  <a:srgbClr val="123F5D"/>
                </a:solidFill>
                <a:latin typeface="Arial"/>
                <a:ea typeface="Arial"/>
                <a:cs typeface="Arial"/>
              </a:defRPr>
            </a:lvl4pPr>
            <a:lvl5pPr>
              <a:defRPr sz="2700" b="1">
                <a:solidFill>
                  <a:srgbClr val="123F5D"/>
                </a:solidFill>
                <a:latin typeface="Arial"/>
                <a:ea typeface="Arial"/>
                <a:cs typeface="Arial"/>
              </a:defRPr>
            </a:lvl5pPr>
            <a:lvl6pPr>
              <a:defRPr sz="2700" b="1">
                <a:solidFill>
                  <a:srgbClr val="123F5D"/>
                </a:solidFill>
                <a:latin typeface="Arial"/>
                <a:ea typeface="Arial"/>
                <a:cs typeface="Arial"/>
              </a:defRPr>
            </a:lvl6pPr>
            <a:lvl7pPr>
              <a:defRPr sz="2700" b="1">
                <a:solidFill>
                  <a:srgbClr val="123F5D"/>
                </a:solidFill>
                <a:latin typeface="Arial"/>
                <a:ea typeface="Arial"/>
                <a:cs typeface="Arial"/>
              </a:defRPr>
            </a:lvl7pPr>
            <a:lvl8pPr>
              <a:defRPr sz="2700" b="1">
                <a:solidFill>
                  <a:srgbClr val="123F5D"/>
                </a:solidFill>
                <a:latin typeface="Arial"/>
                <a:ea typeface="Arial"/>
                <a:cs typeface="Arial"/>
              </a:defRPr>
            </a:lvl8pPr>
            <a:lvl9pPr>
              <a:defRPr sz="2700" b="1">
                <a:solidFill>
                  <a:srgbClr val="123F5D"/>
                </a:solidFill>
                <a:latin typeface="Arial"/>
                <a:ea typeface="Arial"/>
                <a:cs typeface="Arial"/>
              </a:defRPr>
            </a:lvl9pPr>
          </a:lstStyle>
          <a:p xmlns:a="http://schemas.openxmlformats.org/drawingml/2006/main">
            <a:pPr>
              <a:defRPr sz="2700" b="1">
                <a:solidFill>
                  <a:srgbClr val="123F5D"/>
                </a:solidFill>
                <a:latin typeface="Arial"/>
                <a:ea typeface="Arial"/>
                <a:cs typeface="Arial"/>
              </a:defRPr>
            </a:pPr>
            <a:r>
              <a:rPr sz="2700" b="1">
                <a:solidFill>
                  <a:srgbClr val="123F5D"/>
                </a:solidFill>
                <a:latin typeface="Arial"/>
                <a:ea typeface="Arial"/>
                <a:cs typeface="Arial"/>
              </a:rPr>
              <a:t>Baseline: sempre prever 0</a:t>
            </a:r>
          </a:p>
        </p:txBody>
      </p:sp>
      <p:sp>
        <p:nvSpPr>
          <p:cNvPr id="9" name="">
            <a:extLst xmlns:a="http://schemas.openxmlformats.org/drawingml/2006/main">
              <a:ext uri="{FF2B5EF4-FFF2-40B4-BE49-F238E27FC236}">
                <a16:creationId xmlns:a16="http://schemas.microsoft.com/office/drawing/2014/main" id="{E0B84CD0-095D-4478-850A-CFEE2EEBA2D9}"/>
              </a:ext>
            </a:extLst>
          </p:cNvPr>
          <p:cNvSpPr>
            <a:spLocks xmlns:a="http://schemas.openxmlformats.org/drawingml/2006/main" noGrp="1"/>
          </p:cNvSpPr>
          <p:nvPr/>
        </p:nvSpPr>
        <p:spPr>
          <a:xfrm xmlns:a="http://schemas.openxmlformats.org/drawingml/2006/main">
            <a:off x="609600" y="46291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6 acertos em 217 imagens de validação: 2,76%.</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Uma MLP adicional compara a CNN com uma rede densa.</a:t>
            </a:r>
          </a:p>
        </p:txBody>
      </p:sp>
    </p:spTree>
    <p:extLst>
      <p:ext uri="{BB962C8B-B14F-4D97-AF65-F5344CB8AC3E}">
        <p14:creationId xmlns:p14="http://schemas.microsoft.com/office/powerpoint/2010/main" val="19043400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1707BB-E36F-419C-80C1-3A8DD69F2CD5}"/>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Binary Alpha Digits</a:t>
            </a:r>
          </a:p>
        </p:txBody>
      </p:sp>
      <p:sp>
        <p:nvSpPr>
          <p:cNvPr id="2" name="">
            <a:extLst xmlns:a="http://schemas.openxmlformats.org/drawingml/2006/main">
              <a:ext uri="{FF2B5EF4-FFF2-40B4-BE49-F238E27FC236}">
                <a16:creationId xmlns:a16="http://schemas.microsoft.com/office/drawing/2014/main" id="{094DF0BA-A177-4AF9-A316-734D9E56E8FF}"/>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Pimentel | 1 minuto e 30 segundos</a:t>
            </a:r>
          </a:p>
        </p:txBody>
      </p:sp>
      <p:sp>
        <p:nvSpPr>
          <p:cNvPr id="3" name="">
            <a:extLst xmlns:a="http://schemas.openxmlformats.org/drawingml/2006/main">
              <a:ext uri="{FF2B5EF4-FFF2-40B4-BE49-F238E27FC236}">
                <a16:creationId xmlns:a16="http://schemas.microsoft.com/office/drawing/2014/main" id="{A28CBE4E-D175-408A-B3BF-44570251A38C}"/>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9BBE9A75-D59D-44BB-8E1D-942A894BD759}"/>
              </a:ext>
            </a:extLst>
          </p:cNvPr>
          <p:cNvSpPr>
            <a:spLocks xmlns:a="http://schemas.openxmlformats.org/drawingml/2006/main" noGrp="1"/>
          </p:cNvSpPr>
          <p:nvPr/>
        </p:nvSpPr>
        <p:spPr>
          <a:xfrm xmlns:a="http://schemas.openxmlformats.org/drawingml/2006/main">
            <a:off x="609600" y="13811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57C80"/>
                </a:solidFill>
                <a:latin typeface="Arial"/>
                <a:ea typeface="Arial"/>
                <a:cs typeface="Arial"/>
              </a:defRPr>
            </a:defPPr>
            <a:lvl1pPr>
              <a:defRPr sz="2250" b="0">
                <a:solidFill>
                  <a:srgbClr val="157C80"/>
                </a:solidFill>
                <a:latin typeface="Arial"/>
                <a:ea typeface="Arial"/>
                <a:cs typeface="Arial"/>
              </a:defRPr>
            </a:lvl1pPr>
            <a:lvl2pPr>
              <a:defRPr sz="2250" b="0">
                <a:solidFill>
                  <a:srgbClr val="157C80"/>
                </a:solidFill>
                <a:latin typeface="Arial"/>
                <a:ea typeface="Arial"/>
                <a:cs typeface="Arial"/>
              </a:defRPr>
            </a:lvl2pPr>
            <a:lvl3pPr>
              <a:defRPr sz="2250" b="0">
                <a:solidFill>
                  <a:srgbClr val="157C80"/>
                </a:solidFill>
                <a:latin typeface="Arial"/>
                <a:ea typeface="Arial"/>
                <a:cs typeface="Arial"/>
              </a:defRPr>
            </a:lvl3pPr>
            <a:lvl4pPr>
              <a:defRPr sz="2250" b="0">
                <a:solidFill>
                  <a:srgbClr val="157C80"/>
                </a:solidFill>
                <a:latin typeface="Arial"/>
                <a:ea typeface="Arial"/>
                <a:cs typeface="Arial"/>
              </a:defRPr>
            </a:lvl4pPr>
            <a:lvl5pPr>
              <a:defRPr sz="2250" b="0">
                <a:solidFill>
                  <a:srgbClr val="157C80"/>
                </a:solidFill>
                <a:latin typeface="Arial"/>
                <a:ea typeface="Arial"/>
                <a:cs typeface="Arial"/>
              </a:defRPr>
            </a:lvl5pPr>
            <a:lvl6pPr>
              <a:defRPr sz="2250" b="0">
                <a:solidFill>
                  <a:srgbClr val="157C80"/>
                </a:solidFill>
                <a:latin typeface="Arial"/>
                <a:ea typeface="Arial"/>
                <a:cs typeface="Arial"/>
              </a:defRPr>
            </a:lvl6pPr>
            <a:lvl7pPr>
              <a:defRPr sz="2250" b="0">
                <a:solidFill>
                  <a:srgbClr val="157C80"/>
                </a:solidFill>
                <a:latin typeface="Arial"/>
                <a:ea typeface="Arial"/>
                <a:cs typeface="Arial"/>
              </a:defRPr>
            </a:lvl7pPr>
            <a:lvl8pPr>
              <a:defRPr sz="2250" b="0">
                <a:solidFill>
                  <a:srgbClr val="157C80"/>
                </a:solidFill>
                <a:latin typeface="Arial"/>
                <a:ea typeface="Arial"/>
                <a:cs typeface="Arial"/>
              </a:defRPr>
            </a:lvl8pPr>
            <a:lvl9pPr>
              <a:defRPr sz="2250" b="0">
                <a:solidFill>
                  <a:srgbClr val="157C80"/>
                </a:solidFill>
                <a:latin typeface="Arial"/>
                <a:ea typeface="Arial"/>
                <a:cs typeface="Arial"/>
              </a:defRPr>
            </a:lvl9pPr>
          </a:lstStyle>
          <a:p xmlns:a="http://schemas.openxmlformats.org/drawingml/2006/main">
            <a:pPr>
              <a:defRPr sz="2250" b="0">
                <a:solidFill>
                  <a:srgbClr val="157C80"/>
                </a:solidFill>
                <a:latin typeface="Arial"/>
                <a:ea typeface="Arial"/>
                <a:cs typeface="Arial"/>
              </a:defRPr>
            </a:pPr>
            <a:r>
              <a:rPr sz="2250" b="0">
                <a:solidFill>
                  <a:srgbClr val="157C80"/>
                </a:solidFill>
                <a:latin typeface="Arial"/>
                <a:ea typeface="Arial"/>
                <a:cs typeface="Arial"/>
              </a:rPr>
              <a:t>1.404 imagens · 36 classes · 39 exemplos por classe</a:t>
            </a:r>
          </a:p>
        </p:txBody>
      </p:sp>
      <p:pic>
        <p:nvPicPr>
          <p:cNvPr id="5" name="">
            <a:extLst xmlns:a="http://schemas.openxmlformats.org/drawingml/2006/main">
              <a:ext uri="{FF2B5EF4-FFF2-40B4-BE49-F238E27FC236}">
                <a16:creationId xmlns:a16="http://schemas.microsoft.com/office/drawing/2014/main" id="{A6E56EB5-9A69-4E83-9959-A873C8416DD5}"/>
              </a:ext>
            </a:extLst>
          </p:cNvPr>
          <p:cNvPicPr>
            <a:picLocks xmlns:a="http://schemas.openxmlformats.org/drawingml/2006/main" noChangeAspect="1"/>
          </p:cNvPicPr>
          <p:nvPr/>
        </p:nvPicPr>
        <p:blipFill>
          <a:blip xmlns:r="http://schemas.openxmlformats.org/officeDocument/2006/relationships" xmlns:a="http://schemas.openxmlformats.org/drawingml/2006/main" r:embed="Rab3e3cbb9eaf4fc0"/>
          <a:stretch xmlns:a="http://schemas.openxmlformats.org/drawingml/2006/main"/>
        </p:blipFill>
        <p:spPr>
          <a:xfrm xmlns:a="http://schemas.openxmlformats.org/drawingml/2006/main">
            <a:off x="2599513" y="2000250"/>
            <a:ext cx="6992975" cy="3886200"/>
          </a:xfrm>
          <a:prstGeom xmlns:a="http://schemas.openxmlformats.org/drawingml/2006/main" prst="rect">
            <a:avLst/>
          </a:prstGeom>
        </p:spPr>
      </p:pic>
    </p:spTree>
    <p:extLst>
      <p:ext uri="{BB962C8B-B14F-4D97-AF65-F5344CB8AC3E}">
        <p14:creationId xmlns:p14="http://schemas.microsoft.com/office/powerpoint/2010/main" val="171552816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7D6A06-B7A5-4F56-B323-E4AA0D5A4A8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Cópias idênticas ficam no mesmo conjunto</a:t>
            </a:r>
          </a:p>
        </p:txBody>
      </p:sp>
      <p:sp>
        <p:nvSpPr>
          <p:cNvPr id="2" name="">
            <a:extLst xmlns:a="http://schemas.openxmlformats.org/drawingml/2006/main">
              <a:ext uri="{FF2B5EF4-FFF2-40B4-BE49-F238E27FC236}">
                <a16:creationId xmlns:a16="http://schemas.microsoft.com/office/drawing/2014/main" id="{D15EF44C-B15F-45B2-97F6-33257BC36CB5}"/>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Bruno Pimentel | 1 minuto e 30 segundos</a:t>
            </a:r>
          </a:p>
        </p:txBody>
      </p:sp>
      <p:sp>
        <p:nvSpPr>
          <p:cNvPr id="3" name="">
            <a:extLst xmlns:a="http://schemas.openxmlformats.org/drawingml/2006/main">
              <a:ext uri="{FF2B5EF4-FFF2-40B4-BE49-F238E27FC236}">
                <a16:creationId xmlns:a16="http://schemas.microsoft.com/office/drawing/2014/main" id="{E1BC4522-971B-4C9A-B2E7-6CDE4E685F7A}"/>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4</a:t>
            </a:r>
          </a:p>
        </p:txBody>
      </p:sp>
      <p:sp>
        <p:nvSpPr>
          <p:cNvPr id="4" name="">
            <a:extLst xmlns:a="http://schemas.openxmlformats.org/drawingml/2006/main">
              <a:ext uri="{FF2B5EF4-FFF2-40B4-BE49-F238E27FC236}">
                <a16:creationId xmlns:a16="http://schemas.microsoft.com/office/drawing/2014/main" id="{1E91D22D-001E-4F98-B01D-713A423DD3D3}"/>
              </a:ext>
            </a:extLst>
          </p:cNvPr>
          <p:cNvSpPr>
            <a:spLocks xmlns:a="http://schemas.openxmlformats.org/drawingml/2006/main" noGrp="1"/>
          </p:cNvSpPr>
          <p:nvPr/>
        </p:nvSpPr>
        <p:spPr>
          <a:xfrm xmlns:a="http://schemas.openxmlformats.org/drawingml/2006/main">
            <a:off x="609600" y="147637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43746"/>
                </a:solidFill>
                <a:latin typeface="Arial"/>
                <a:ea typeface="Arial"/>
                <a:cs typeface="Arial"/>
              </a:defRPr>
            </a:defPPr>
            <a:lvl1pPr>
              <a:defRPr sz="2250" b="0">
                <a:solidFill>
                  <a:srgbClr val="243746"/>
                </a:solidFill>
                <a:latin typeface="Arial"/>
                <a:ea typeface="Arial"/>
                <a:cs typeface="Arial"/>
              </a:defRPr>
            </a:lvl1pPr>
            <a:lvl2pPr>
              <a:defRPr sz="2250" b="0">
                <a:solidFill>
                  <a:srgbClr val="243746"/>
                </a:solidFill>
                <a:latin typeface="Arial"/>
                <a:ea typeface="Arial"/>
                <a:cs typeface="Arial"/>
              </a:defRPr>
            </a:lvl2pPr>
            <a:lvl3pPr>
              <a:defRPr sz="2250" b="0">
                <a:solidFill>
                  <a:srgbClr val="243746"/>
                </a:solidFill>
                <a:latin typeface="Arial"/>
                <a:ea typeface="Arial"/>
                <a:cs typeface="Arial"/>
              </a:defRPr>
            </a:lvl3pPr>
            <a:lvl4pPr>
              <a:defRPr sz="2250" b="0">
                <a:solidFill>
                  <a:srgbClr val="243746"/>
                </a:solidFill>
                <a:latin typeface="Arial"/>
                <a:ea typeface="Arial"/>
                <a:cs typeface="Arial"/>
              </a:defRPr>
            </a:lvl4pPr>
            <a:lvl5pPr>
              <a:defRPr sz="2250" b="0">
                <a:solidFill>
                  <a:srgbClr val="243746"/>
                </a:solidFill>
                <a:latin typeface="Arial"/>
                <a:ea typeface="Arial"/>
                <a:cs typeface="Arial"/>
              </a:defRPr>
            </a:lvl5pPr>
            <a:lvl6pPr>
              <a:defRPr sz="2250" b="0">
                <a:solidFill>
                  <a:srgbClr val="243746"/>
                </a:solidFill>
                <a:latin typeface="Arial"/>
                <a:ea typeface="Arial"/>
                <a:cs typeface="Arial"/>
              </a:defRPr>
            </a:lvl6pPr>
            <a:lvl7pPr>
              <a:defRPr sz="2250" b="0">
                <a:solidFill>
                  <a:srgbClr val="243746"/>
                </a:solidFill>
                <a:latin typeface="Arial"/>
                <a:ea typeface="Arial"/>
                <a:cs typeface="Arial"/>
              </a:defRPr>
            </a:lvl7pPr>
            <a:lvl8pPr>
              <a:defRPr sz="2250" b="0">
                <a:solidFill>
                  <a:srgbClr val="243746"/>
                </a:solidFill>
                <a:latin typeface="Arial"/>
                <a:ea typeface="Arial"/>
                <a:cs typeface="Arial"/>
              </a:defRPr>
            </a:lvl8pPr>
            <a:lvl9pPr>
              <a:defRPr sz="2250" b="0">
                <a:solidFill>
                  <a:srgbClr val="243746"/>
                </a:solidFill>
                <a:latin typeface="Arial"/>
                <a:ea typeface="Arial"/>
                <a:cs typeface="Arial"/>
              </a:defRPr>
            </a:lvl9pPr>
          </a:lstStyle>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As imagens de 0 e O são iguais, com rótulos diferentes.</a:t>
            </a:r>
          </a:p>
          <a:p xmlns:a="http://schemas.openxmlformats.org/drawingml/2006/main">
            <a:pPr>
              <a:defRPr sz="2250" b="0">
                <a:solidFill>
                  <a:srgbClr val="243746"/>
                </a:solidFill>
                <a:latin typeface="Arial"/>
                <a:ea typeface="Arial"/>
                <a:cs typeface="Arial"/>
              </a:defRPr>
            </a:pPr>
            <a:r>
              <a:rPr sz="2250" b="0">
                <a:solidFill>
                  <a:srgbClr val="243746"/>
                </a:solidFill>
                <a:latin typeface="Arial"/>
                <a:ea typeface="Arial"/>
                <a:cs typeface="Arial"/>
              </a:rPr>
              <a:t>O hash dos pixels define os grupos da divisão.</a:t>
            </a:r>
          </a:p>
        </p:txBody>
      </p:sp>
      <p:graphicFrame>
        <p:nvGraphicFramePr>
          <p:cNvPr id="5" name="">
            <a:extLst xmlns:a="http://schemas.openxmlformats.org/drawingml/2006/main">
              <a:ext uri="{FF2B5EF4-FFF2-40B4-BE49-F238E27FC236}">
                <a16:creationId xmlns:a16="http://schemas.microsoft.com/office/drawing/2014/main" id="{29FFE181-E5C8-4FA7-9023-1CA081BCC5F9}"/>
              </a:ext>
            </a:extLst>
          </p:cNvPr>
          <p:cNvGraphicFramePr/>
          <p:nvPr/>
        </p:nvGraphicFramePr>
        <p:xfrm>
          <a:off xmlns:a="http://schemas.openxmlformats.org/drawingml/2006/main" x="609600" y="2905125"/>
          <a:ext xmlns:a="http://schemas.openxmlformats.org/drawingml/2006/main" cx="10972800" cy="2476500"/>
        </p:xfrm>
        <a:graphic xmlns:a="http://schemas.openxmlformats.org/drawingml/2006/main">
          <a:graphicData uri="http://schemas.openxmlformats.org/drawingml/2006/table">
            <a:tbl>
              <a:tblPr/>
              <a:tblGrid>
                <a:gridCol w="4572000"/>
                <a:gridCol w="3200400"/>
                <a:gridCol w="3200400"/>
              </a:tblGrid>
              <a:tr h="619125">
                <a:tc>
                  <a:txBody>
                    <a:bodyPr/>
                    <a:lstStyle/>
                    <a:p>
                      <a:r>
                        <a:rPr sz="1800" b="1">
                          <a:solidFill>
                            <a:srgbClr val="243746"/>
                          </a:solidFill>
                          <a:latin typeface="Arial"/>
                          <a:ea typeface="Arial"/>
                          <a:cs typeface="Arial"/>
                        </a:rPr>
                        <a:t>Conjunto</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Imagens</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Padrões únicos</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619125">
                <a:tc>
                  <a:txBody>
                    <a:bodyPr/>
                    <a:lstStyle/>
                    <a:p>
                      <a:r>
                        <a:rPr sz="1800" b="0">
                          <a:solidFill>
                            <a:srgbClr val="243746"/>
                          </a:solidFill>
                          <a:latin typeface="Arial"/>
                          <a:ea typeface="Arial"/>
                          <a:cs typeface="Arial"/>
                        </a:rPr>
                        <a:t>Treino</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971</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943</a:t>
                      </a:r>
                    </a:p>
                  </a:txBody>
                  <a:tcPr marL="91440" marR="91440" marT="45720" marB="45720">
                    <a:lnR w="4763">
                      <a:solidFill>
                        <a:srgbClr val="D6E1E7"/>
                      </a:solidFill>
                      <a:prstDash val="solid"/>
                    </a:lnR>
                    <a:lnB w="4763">
                      <a:solidFill>
                        <a:srgbClr val="D6E1E7"/>
                      </a:solidFill>
                      <a:prstDash val="solid"/>
                    </a:lnB>
                    <a:solidFill>
                      <a:srgbClr val="FFFFFF"/>
                    </a:solidFill>
                  </a:tcPr>
                </a:tc>
              </a:tr>
              <a:tr h="619125">
                <a:tc>
                  <a:txBody>
                    <a:bodyPr/>
                    <a:lstStyle/>
                    <a:p>
                      <a:r>
                        <a:rPr sz="1800" b="0">
                          <a:solidFill>
                            <a:srgbClr val="243746"/>
                          </a:solidFill>
                          <a:latin typeface="Arial"/>
                          <a:ea typeface="Arial"/>
                          <a:cs typeface="Arial"/>
                        </a:rPr>
                        <a:t>Validação</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217</a:t>
                      </a:r>
                    </a:p>
                  </a:txBody>
                  <a:tcPr marL="91440" marR="91440" marT="45720" marB="45720">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210</a:t>
                      </a:r>
                    </a:p>
                  </a:txBody>
                  <a:tcPr marL="91440" marR="91440" marT="45720" marB="45720">
                    <a:lnR w="4763">
                      <a:solidFill>
                        <a:srgbClr val="D6E1E7"/>
                      </a:solidFill>
                      <a:prstDash val="solid"/>
                    </a:lnR>
                    <a:lnB w="4763">
                      <a:solidFill>
                        <a:srgbClr val="D6E1E7"/>
                      </a:solidFill>
                      <a:prstDash val="solid"/>
                    </a:lnB>
                    <a:solidFill>
                      <a:srgbClr val="F5F8FA"/>
                    </a:solidFill>
                  </a:tcPr>
                </a:tc>
              </a:tr>
              <a:tr h="619125">
                <a:tc>
                  <a:txBody>
                    <a:bodyPr/>
                    <a:lstStyle/>
                    <a:p>
                      <a:r>
                        <a:rPr sz="1800" b="0">
                          <a:solidFill>
                            <a:srgbClr val="243746"/>
                          </a:solidFill>
                          <a:latin typeface="Arial"/>
                          <a:ea typeface="Arial"/>
                          <a:cs typeface="Arial"/>
                        </a:rPr>
                        <a:t>Teste</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216</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210</a:t>
                      </a:r>
                    </a:p>
                  </a:txBody>
                  <a:tcPr marL="91440" marR="91440" marT="45720" marB="45720">
                    <a:lnR w="4763">
                      <a:solidFill>
                        <a:srgbClr val="D6E1E7"/>
                      </a:solidFill>
                      <a:prstDash val="solid"/>
                    </a:lnR>
                    <a:lnB w="4763">
                      <a:solidFill>
                        <a:srgbClr val="D6E1E7"/>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9E599A2-235D-4CBB-95DE-EC08EE2B19E3}"/>
              </a:ext>
            </a:extLst>
          </p:cNvPr>
          <p:cNvSpPr>
            <a:spLocks xmlns:a="http://schemas.openxmlformats.org/drawingml/2006/main" noGrp="1"/>
          </p:cNvSpPr>
          <p:nvPr/>
        </p:nvSpPr>
        <p:spPr>
          <a:xfrm xmlns:a="http://schemas.openxmlformats.org/drawingml/2006/main">
            <a:off x="609600" y="56388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57C80"/>
                </a:solidFill>
                <a:latin typeface="Arial"/>
                <a:ea typeface="Arial"/>
                <a:cs typeface="Arial"/>
              </a:defRPr>
            </a:defPPr>
            <a:lvl1pPr>
              <a:defRPr sz="1875" b="0">
                <a:solidFill>
                  <a:srgbClr val="157C80"/>
                </a:solidFill>
                <a:latin typeface="Arial"/>
                <a:ea typeface="Arial"/>
                <a:cs typeface="Arial"/>
              </a:defRPr>
            </a:lvl1pPr>
            <a:lvl2pPr>
              <a:defRPr sz="1875" b="0">
                <a:solidFill>
                  <a:srgbClr val="157C80"/>
                </a:solidFill>
                <a:latin typeface="Arial"/>
                <a:ea typeface="Arial"/>
                <a:cs typeface="Arial"/>
              </a:defRPr>
            </a:lvl2pPr>
            <a:lvl3pPr>
              <a:defRPr sz="1875" b="0">
                <a:solidFill>
                  <a:srgbClr val="157C80"/>
                </a:solidFill>
                <a:latin typeface="Arial"/>
                <a:ea typeface="Arial"/>
                <a:cs typeface="Arial"/>
              </a:defRPr>
            </a:lvl3pPr>
            <a:lvl4pPr>
              <a:defRPr sz="1875" b="0">
                <a:solidFill>
                  <a:srgbClr val="157C80"/>
                </a:solidFill>
                <a:latin typeface="Arial"/>
                <a:ea typeface="Arial"/>
                <a:cs typeface="Arial"/>
              </a:defRPr>
            </a:lvl4pPr>
            <a:lvl5pPr>
              <a:defRPr sz="1875" b="0">
                <a:solidFill>
                  <a:srgbClr val="157C80"/>
                </a:solidFill>
                <a:latin typeface="Arial"/>
                <a:ea typeface="Arial"/>
                <a:cs typeface="Arial"/>
              </a:defRPr>
            </a:lvl5pPr>
            <a:lvl6pPr>
              <a:defRPr sz="1875" b="0">
                <a:solidFill>
                  <a:srgbClr val="157C80"/>
                </a:solidFill>
                <a:latin typeface="Arial"/>
                <a:ea typeface="Arial"/>
                <a:cs typeface="Arial"/>
              </a:defRPr>
            </a:lvl6pPr>
            <a:lvl7pPr>
              <a:defRPr sz="1875" b="0">
                <a:solidFill>
                  <a:srgbClr val="157C80"/>
                </a:solidFill>
                <a:latin typeface="Arial"/>
                <a:ea typeface="Arial"/>
                <a:cs typeface="Arial"/>
              </a:defRPr>
            </a:lvl7pPr>
            <a:lvl8pPr>
              <a:defRPr sz="1875" b="0">
                <a:solidFill>
                  <a:srgbClr val="157C80"/>
                </a:solidFill>
                <a:latin typeface="Arial"/>
                <a:ea typeface="Arial"/>
                <a:cs typeface="Arial"/>
              </a:defRPr>
            </a:lvl8pPr>
            <a:lvl9pPr>
              <a:defRPr sz="1875" b="0">
                <a:solidFill>
                  <a:srgbClr val="157C80"/>
                </a:solidFill>
                <a:latin typeface="Arial"/>
                <a:ea typeface="Arial"/>
                <a:cs typeface="Arial"/>
              </a:defRPr>
            </a:lvl9pPr>
          </a:lstStyle>
          <a:p xmlns:a="http://schemas.openxmlformats.org/drawingml/2006/main">
            <a:pPr>
              <a:defRPr sz="1875" b="0">
                <a:solidFill>
                  <a:srgbClr val="157C80"/>
                </a:solidFill>
                <a:latin typeface="Arial"/>
                <a:ea typeface="Arial"/>
                <a:cs typeface="Arial"/>
              </a:defRPr>
            </a:pPr>
            <a:r>
              <a:rPr sz="1875" b="0">
                <a:solidFill>
                  <a:srgbClr val="157C80"/>
                </a:solidFill>
                <a:latin typeface="Arial"/>
                <a:ea typeface="Arial"/>
                <a:cs typeface="Arial"/>
              </a:rPr>
              <a:t>Seed 42 · Nenhuma cópia exata atravessa os conjuntos</a:t>
            </a:r>
          </a:p>
        </p:txBody>
      </p:sp>
    </p:spTree>
    <p:extLst>
      <p:ext uri="{BB962C8B-B14F-4D97-AF65-F5344CB8AC3E}">
        <p14:creationId xmlns:p14="http://schemas.microsoft.com/office/powerpoint/2010/main" val="19912874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3E3417-1C87-439F-878F-10C61C6A914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Arquitetura da CNN</a:t>
            </a:r>
          </a:p>
        </p:txBody>
      </p:sp>
      <p:sp>
        <p:nvSpPr>
          <p:cNvPr id="2" name="">
            <a:extLst xmlns:a="http://schemas.openxmlformats.org/drawingml/2006/main">
              <a:ext uri="{FF2B5EF4-FFF2-40B4-BE49-F238E27FC236}">
                <a16:creationId xmlns:a16="http://schemas.microsoft.com/office/drawing/2014/main" id="{D6A4FDFB-DFBC-4CBE-9F8D-6BCBDC2B54ED}"/>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Reynato Junior | 2 minutos</a:t>
            </a:r>
          </a:p>
        </p:txBody>
      </p:sp>
      <p:sp>
        <p:nvSpPr>
          <p:cNvPr id="3" name="">
            <a:extLst xmlns:a="http://schemas.openxmlformats.org/drawingml/2006/main">
              <a:ext uri="{FF2B5EF4-FFF2-40B4-BE49-F238E27FC236}">
                <a16:creationId xmlns:a16="http://schemas.microsoft.com/office/drawing/2014/main" id="{091AEF8E-AC0B-4C54-BE17-E98C93C1C8D8}"/>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8B78580E-F8F0-464B-9C46-FF411E79BBF0}"/>
              </a:ext>
            </a:extLst>
          </p:cNvPr>
          <p:cNvGraphicFramePr/>
          <p:nvPr/>
        </p:nvGraphicFramePr>
        <p:xfrm>
          <a:off xmlns:a="http://schemas.openxmlformats.org/drawingml/2006/main" x="609600" y="1476375"/>
          <a:ext xmlns:a="http://schemas.openxmlformats.org/drawingml/2006/main" cx="10972800" cy="4000500"/>
        </p:xfrm>
        <a:graphic xmlns:a="http://schemas.openxmlformats.org/drawingml/2006/main">
          <a:graphicData uri="http://schemas.openxmlformats.org/drawingml/2006/table">
            <a:tbl>
              <a:tblPr/>
              <a:tblGrid>
                <a:gridCol w="7905750"/>
                <a:gridCol w="3067050"/>
              </a:tblGrid>
              <a:tr h="571500">
                <a:tc>
                  <a:txBody>
                    <a:bodyPr/>
                    <a:lstStyle/>
                    <a:p>
                      <a:r>
                        <a:rPr sz="1800" b="1">
                          <a:solidFill>
                            <a:srgbClr val="243746"/>
                          </a:solidFill>
                          <a:latin typeface="Arial"/>
                          <a:ea typeface="Arial"/>
                          <a:cs typeface="Arial"/>
                        </a:rPr>
                        <a:t>Etapa</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Saída por imagem</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571500">
                <a:tc>
                  <a:txBody>
                    <a:bodyPr/>
                    <a:lstStyle/>
                    <a:p>
                      <a:r>
                        <a:rPr sz="1800" b="0">
                          <a:solidFill>
                            <a:srgbClr val="243746"/>
                          </a:solidFill>
                          <a:latin typeface="Arial"/>
                          <a:ea typeface="Arial"/>
                          <a:cs typeface="Arial"/>
                        </a:rPr>
                        <a:t>Entrada binária</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20 × 16 × 1</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Conv2D(16, 3, same, ReLU) + MaxPool</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10 × 8 × 16</a:t>
                      </a:r>
                    </a:p>
                  </a:txBody>
                  <a:tcPr marL="91440" marR="91440" marT="45720" marB="45720">
                    <a:lnR w="4763">
                      <a:solidFill>
                        <a:srgbClr val="D6E1E7"/>
                      </a:solidFill>
                      <a:prstDash val="solid"/>
                    </a:lnR>
                    <a:lnB w="4763">
                      <a:solidFill>
                        <a:srgbClr val="D6E1E7"/>
                      </a:solidFill>
                      <a:prstDash val="solid"/>
                    </a:lnB>
                    <a:solidFill>
                      <a:srgbClr val="F5F8FA"/>
                    </a:solidFill>
                  </a:tcPr>
                </a:tc>
              </a:tr>
              <a:tr h="571500">
                <a:tc>
                  <a:txBody>
                    <a:bodyPr/>
                    <a:lstStyle/>
                    <a:p>
                      <a:r>
                        <a:rPr sz="1800" b="0">
                          <a:solidFill>
                            <a:srgbClr val="243746"/>
                          </a:solidFill>
                          <a:latin typeface="Arial"/>
                          <a:ea typeface="Arial"/>
                          <a:cs typeface="Arial"/>
                        </a:rPr>
                        <a:t>Conv2D(32, 3, same, ReLU) + MaxPool</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5 × 4 × 32</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Flatten + Dense(64, ReLU)</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64</a:t>
                      </a:r>
                    </a:p>
                  </a:txBody>
                  <a:tcPr marL="91440" marR="91440" marT="45720" marB="45720">
                    <a:lnR w="4763">
                      <a:solidFill>
                        <a:srgbClr val="D6E1E7"/>
                      </a:solidFill>
                      <a:prstDash val="solid"/>
                    </a:lnR>
                    <a:lnB w="4763">
                      <a:solidFill>
                        <a:srgbClr val="D6E1E7"/>
                      </a:solidFill>
                      <a:prstDash val="solid"/>
                    </a:lnB>
                    <a:solidFill>
                      <a:srgbClr val="F5F8FA"/>
                    </a:solidFill>
                  </a:tcPr>
                </a:tc>
              </a:tr>
              <a:tr h="571500">
                <a:tc>
                  <a:txBody>
                    <a:bodyPr/>
                    <a:lstStyle/>
                    <a:p>
                      <a:r>
                        <a:rPr sz="1800" b="0">
                          <a:solidFill>
                            <a:srgbClr val="243746"/>
                          </a:solidFill>
                          <a:latin typeface="Arial"/>
                          <a:ea typeface="Arial"/>
                          <a:cs typeface="Arial"/>
                        </a:rPr>
                        <a:t>Dropout(0,3), só na melhoria</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64</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Dense(36, softmax)</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36</a:t>
                      </a:r>
                    </a:p>
                  </a:txBody>
                  <a:tcPr marL="91440" marR="91440" marT="45720" marB="45720">
                    <a:lnR w="4763">
                      <a:solidFill>
                        <a:srgbClr val="D6E1E7"/>
                      </a:solidFill>
                      <a:prstDash val="solid"/>
                    </a:lnR>
                    <a:lnB w="4763">
                      <a:solidFill>
                        <a:srgbClr val="D6E1E7"/>
                      </a:solidFill>
                      <a:prstDash val="solid"/>
                    </a:lnB>
                    <a:solidFill>
                      <a:srgbClr val="F5F8FA"/>
                    </a:solidFill>
                  </a:tcPr>
                </a:tc>
              </a:tr>
            </a:tbl>
          </a:graphicData>
        </a:graphic>
      </p:graphicFrame>
      <p:sp>
        <p:nvSpPr>
          <p:cNvPr id="5" name="">
            <a:extLst xmlns:a="http://schemas.openxmlformats.org/drawingml/2006/main">
              <a:ext uri="{FF2B5EF4-FFF2-40B4-BE49-F238E27FC236}">
                <a16:creationId xmlns:a16="http://schemas.microsoft.com/office/drawing/2014/main" id="{9F8CDE8C-53D3-4687-8457-8221BF6CDF85}"/>
              </a:ext>
            </a:extLst>
          </p:cNvPr>
          <p:cNvSpPr>
            <a:spLocks xmlns:a="http://schemas.openxmlformats.org/drawingml/2006/main" noGrp="1"/>
          </p:cNvSpPr>
          <p:nvPr/>
        </p:nvSpPr>
        <p:spPr>
          <a:xfrm xmlns:a="http://schemas.openxmlformats.org/drawingml/2006/main">
            <a:off x="609600" y="56959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57C80"/>
                </a:solidFill>
                <a:latin typeface="Arial"/>
                <a:ea typeface="Arial"/>
                <a:cs typeface="Arial"/>
              </a:defRPr>
            </a:defPPr>
            <a:lvl1pPr>
              <a:defRPr sz="1800" b="0">
                <a:solidFill>
                  <a:srgbClr val="157C80"/>
                </a:solidFill>
                <a:latin typeface="Arial"/>
                <a:ea typeface="Arial"/>
                <a:cs typeface="Arial"/>
              </a:defRPr>
            </a:lvl1pPr>
            <a:lvl2pPr>
              <a:defRPr sz="1800" b="0">
                <a:solidFill>
                  <a:srgbClr val="157C80"/>
                </a:solidFill>
                <a:latin typeface="Arial"/>
                <a:ea typeface="Arial"/>
                <a:cs typeface="Arial"/>
              </a:defRPr>
            </a:lvl2pPr>
            <a:lvl3pPr>
              <a:defRPr sz="1800" b="0">
                <a:solidFill>
                  <a:srgbClr val="157C80"/>
                </a:solidFill>
                <a:latin typeface="Arial"/>
                <a:ea typeface="Arial"/>
                <a:cs typeface="Arial"/>
              </a:defRPr>
            </a:lvl3pPr>
            <a:lvl4pPr>
              <a:defRPr sz="1800" b="0">
                <a:solidFill>
                  <a:srgbClr val="157C80"/>
                </a:solidFill>
                <a:latin typeface="Arial"/>
                <a:ea typeface="Arial"/>
                <a:cs typeface="Arial"/>
              </a:defRPr>
            </a:lvl4pPr>
            <a:lvl5pPr>
              <a:defRPr sz="1800" b="0">
                <a:solidFill>
                  <a:srgbClr val="157C80"/>
                </a:solidFill>
                <a:latin typeface="Arial"/>
                <a:ea typeface="Arial"/>
                <a:cs typeface="Arial"/>
              </a:defRPr>
            </a:lvl5pPr>
            <a:lvl6pPr>
              <a:defRPr sz="1800" b="0">
                <a:solidFill>
                  <a:srgbClr val="157C80"/>
                </a:solidFill>
                <a:latin typeface="Arial"/>
                <a:ea typeface="Arial"/>
                <a:cs typeface="Arial"/>
              </a:defRPr>
            </a:lvl6pPr>
            <a:lvl7pPr>
              <a:defRPr sz="1800" b="0">
                <a:solidFill>
                  <a:srgbClr val="157C80"/>
                </a:solidFill>
                <a:latin typeface="Arial"/>
                <a:ea typeface="Arial"/>
                <a:cs typeface="Arial"/>
              </a:defRPr>
            </a:lvl7pPr>
            <a:lvl8pPr>
              <a:defRPr sz="1800" b="0">
                <a:solidFill>
                  <a:srgbClr val="157C80"/>
                </a:solidFill>
                <a:latin typeface="Arial"/>
                <a:ea typeface="Arial"/>
                <a:cs typeface="Arial"/>
              </a:defRPr>
            </a:lvl8pPr>
            <a:lvl9pPr>
              <a:defRPr sz="1800" b="0">
                <a:solidFill>
                  <a:srgbClr val="157C80"/>
                </a:solidFill>
                <a:latin typeface="Arial"/>
                <a:ea typeface="Arial"/>
                <a:cs typeface="Arial"/>
              </a:defRPr>
            </a:lvl9pPr>
          </a:lstStyle>
          <a:p xmlns:a="http://schemas.openxmlformats.org/drawingml/2006/main">
            <a:pPr>
              <a:defRPr sz="1800" b="0">
                <a:solidFill>
                  <a:srgbClr val="157C80"/>
                </a:solidFill>
                <a:latin typeface="Arial"/>
                <a:ea typeface="Arial"/>
                <a:cs typeface="Arial"/>
              </a:defRPr>
            </a:pPr>
            <a:r>
              <a:rPr sz="1800" b="0">
                <a:solidFill>
                  <a:srgbClr val="157C80"/>
                </a:solidFill>
                <a:latin typeface="Arial"/>
                <a:ea typeface="Arial"/>
                <a:cs typeface="Arial"/>
              </a:rPr>
              <a:t>48.164 parâmetros nas duas CNNs; Dropout não adiciona pesos.</a:t>
            </a:r>
          </a:p>
        </p:txBody>
      </p:sp>
    </p:spTree>
    <p:extLst>
      <p:ext uri="{BB962C8B-B14F-4D97-AF65-F5344CB8AC3E}">
        <p14:creationId xmlns:p14="http://schemas.microsoft.com/office/powerpoint/2010/main" val="19131127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5FE1CE-C112-4EBF-9B1B-3F6F9F6725FC}"/>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Treinamento e seleção</a:t>
            </a:r>
          </a:p>
        </p:txBody>
      </p:sp>
      <p:sp>
        <p:nvSpPr>
          <p:cNvPr id="2" name="">
            <a:extLst xmlns:a="http://schemas.openxmlformats.org/drawingml/2006/main">
              <a:ext uri="{FF2B5EF4-FFF2-40B4-BE49-F238E27FC236}">
                <a16:creationId xmlns:a16="http://schemas.microsoft.com/office/drawing/2014/main" id="{48CF84C2-B84E-4380-98DA-829DF7D61049}"/>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Reynato Junior | 1 minuto</a:t>
            </a:r>
          </a:p>
        </p:txBody>
      </p:sp>
      <p:sp>
        <p:nvSpPr>
          <p:cNvPr id="3" name="">
            <a:extLst xmlns:a="http://schemas.openxmlformats.org/drawingml/2006/main">
              <a:ext uri="{FF2B5EF4-FFF2-40B4-BE49-F238E27FC236}">
                <a16:creationId xmlns:a16="http://schemas.microsoft.com/office/drawing/2014/main" id="{60FC2D37-255C-4255-A88D-684F388ACDCE}"/>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44858FFA-BD63-4140-980F-C4801AFF24E6}"/>
              </a:ext>
            </a:extLst>
          </p:cNvPr>
          <p:cNvSpPr>
            <a:spLocks xmlns:a="http://schemas.openxmlformats.org/drawingml/2006/main" noGrp="1"/>
          </p:cNvSpPr>
          <p:nvPr/>
        </p:nvSpPr>
        <p:spPr>
          <a:xfrm xmlns:a="http://schemas.openxmlformats.org/drawingml/2006/main">
            <a:off x="609600" y="1619250"/>
            <a:ext cx="4905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746"/>
                </a:solidFill>
                <a:latin typeface="Arial"/>
                <a:ea typeface="Arial"/>
                <a:cs typeface="Arial"/>
              </a:defRPr>
            </a:defPPr>
            <a:lvl1pPr>
              <a:defRPr sz="2400" b="0">
                <a:solidFill>
                  <a:srgbClr val="243746"/>
                </a:solidFill>
                <a:latin typeface="Arial"/>
                <a:ea typeface="Arial"/>
                <a:cs typeface="Arial"/>
              </a:defRPr>
            </a:lvl1pPr>
            <a:lvl2pPr>
              <a:defRPr sz="2400" b="0">
                <a:solidFill>
                  <a:srgbClr val="243746"/>
                </a:solidFill>
                <a:latin typeface="Arial"/>
                <a:ea typeface="Arial"/>
                <a:cs typeface="Arial"/>
              </a:defRPr>
            </a:lvl2pPr>
            <a:lvl3pPr>
              <a:defRPr sz="2400" b="0">
                <a:solidFill>
                  <a:srgbClr val="243746"/>
                </a:solidFill>
                <a:latin typeface="Arial"/>
                <a:ea typeface="Arial"/>
                <a:cs typeface="Arial"/>
              </a:defRPr>
            </a:lvl3pPr>
            <a:lvl4pPr>
              <a:defRPr sz="2400" b="0">
                <a:solidFill>
                  <a:srgbClr val="243746"/>
                </a:solidFill>
                <a:latin typeface="Arial"/>
                <a:ea typeface="Arial"/>
                <a:cs typeface="Arial"/>
              </a:defRPr>
            </a:lvl4pPr>
            <a:lvl5pPr>
              <a:defRPr sz="2400" b="0">
                <a:solidFill>
                  <a:srgbClr val="243746"/>
                </a:solidFill>
                <a:latin typeface="Arial"/>
                <a:ea typeface="Arial"/>
                <a:cs typeface="Arial"/>
              </a:defRPr>
            </a:lvl5pPr>
            <a:lvl6pPr>
              <a:defRPr sz="2400" b="0">
                <a:solidFill>
                  <a:srgbClr val="243746"/>
                </a:solidFill>
                <a:latin typeface="Arial"/>
                <a:ea typeface="Arial"/>
                <a:cs typeface="Arial"/>
              </a:defRPr>
            </a:lvl6pPr>
            <a:lvl7pPr>
              <a:defRPr sz="2400" b="0">
                <a:solidFill>
                  <a:srgbClr val="243746"/>
                </a:solidFill>
                <a:latin typeface="Arial"/>
                <a:ea typeface="Arial"/>
                <a:cs typeface="Arial"/>
              </a:defRPr>
            </a:lvl7pPr>
            <a:lvl8pPr>
              <a:defRPr sz="2400" b="0">
                <a:solidFill>
                  <a:srgbClr val="243746"/>
                </a:solidFill>
                <a:latin typeface="Arial"/>
                <a:ea typeface="Arial"/>
                <a:cs typeface="Arial"/>
              </a:defRPr>
            </a:lvl8pPr>
            <a:lvl9pPr>
              <a:defRPr sz="2400" b="0">
                <a:solidFill>
                  <a:srgbClr val="243746"/>
                </a:solidFill>
                <a:latin typeface="Arial"/>
                <a:ea typeface="Arial"/>
                <a:cs typeface="Arial"/>
              </a:defRPr>
            </a:lvl9pPr>
          </a:lstStyle>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Adam: taxa 0,001</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Batch: 32 imagens</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Limite: 80 épocas</a:t>
            </a:r>
          </a:p>
        </p:txBody>
      </p:sp>
      <p:sp>
        <p:nvSpPr>
          <p:cNvPr id="5" name="">
            <a:extLst xmlns:a="http://schemas.openxmlformats.org/drawingml/2006/main">
              <a:ext uri="{FF2B5EF4-FFF2-40B4-BE49-F238E27FC236}">
                <a16:creationId xmlns:a16="http://schemas.microsoft.com/office/drawing/2014/main" id="{DEEEEC58-DF73-4F9B-9D97-AE8B587013A9}"/>
              </a:ext>
            </a:extLst>
          </p:cNvPr>
          <p:cNvSpPr>
            <a:spLocks xmlns:a="http://schemas.openxmlformats.org/drawingml/2006/main" noGrp="1"/>
          </p:cNvSpPr>
          <p:nvPr/>
        </p:nvSpPr>
        <p:spPr>
          <a:xfrm xmlns:a="http://schemas.openxmlformats.org/drawingml/2006/main">
            <a:off x="6477000" y="161925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243746"/>
                </a:solidFill>
                <a:latin typeface="Arial"/>
                <a:ea typeface="Arial"/>
                <a:cs typeface="Arial"/>
              </a:defRPr>
            </a:defPPr>
            <a:lvl1pPr>
              <a:defRPr sz="2400" b="0">
                <a:solidFill>
                  <a:srgbClr val="243746"/>
                </a:solidFill>
                <a:latin typeface="Arial"/>
                <a:ea typeface="Arial"/>
                <a:cs typeface="Arial"/>
              </a:defRPr>
            </a:lvl1pPr>
            <a:lvl2pPr>
              <a:defRPr sz="2400" b="0">
                <a:solidFill>
                  <a:srgbClr val="243746"/>
                </a:solidFill>
                <a:latin typeface="Arial"/>
                <a:ea typeface="Arial"/>
                <a:cs typeface="Arial"/>
              </a:defRPr>
            </a:lvl2pPr>
            <a:lvl3pPr>
              <a:defRPr sz="2400" b="0">
                <a:solidFill>
                  <a:srgbClr val="243746"/>
                </a:solidFill>
                <a:latin typeface="Arial"/>
                <a:ea typeface="Arial"/>
                <a:cs typeface="Arial"/>
              </a:defRPr>
            </a:lvl3pPr>
            <a:lvl4pPr>
              <a:defRPr sz="2400" b="0">
                <a:solidFill>
                  <a:srgbClr val="243746"/>
                </a:solidFill>
                <a:latin typeface="Arial"/>
                <a:ea typeface="Arial"/>
                <a:cs typeface="Arial"/>
              </a:defRPr>
            </a:lvl4pPr>
            <a:lvl5pPr>
              <a:defRPr sz="2400" b="0">
                <a:solidFill>
                  <a:srgbClr val="243746"/>
                </a:solidFill>
                <a:latin typeface="Arial"/>
                <a:ea typeface="Arial"/>
                <a:cs typeface="Arial"/>
              </a:defRPr>
            </a:lvl5pPr>
            <a:lvl6pPr>
              <a:defRPr sz="2400" b="0">
                <a:solidFill>
                  <a:srgbClr val="243746"/>
                </a:solidFill>
                <a:latin typeface="Arial"/>
                <a:ea typeface="Arial"/>
                <a:cs typeface="Arial"/>
              </a:defRPr>
            </a:lvl6pPr>
            <a:lvl7pPr>
              <a:defRPr sz="2400" b="0">
                <a:solidFill>
                  <a:srgbClr val="243746"/>
                </a:solidFill>
                <a:latin typeface="Arial"/>
                <a:ea typeface="Arial"/>
                <a:cs typeface="Arial"/>
              </a:defRPr>
            </a:lvl7pPr>
            <a:lvl8pPr>
              <a:defRPr sz="2400" b="0">
                <a:solidFill>
                  <a:srgbClr val="243746"/>
                </a:solidFill>
                <a:latin typeface="Arial"/>
                <a:ea typeface="Arial"/>
                <a:cs typeface="Arial"/>
              </a:defRPr>
            </a:lvl8pPr>
            <a:lvl9pPr>
              <a:defRPr sz="2400" b="0">
                <a:solidFill>
                  <a:srgbClr val="243746"/>
                </a:solidFill>
                <a:latin typeface="Arial"/>
                <a:ea typeface="Arial"/>
                <a:cs typeface="Arial"/>
              </a:defRPr>
            </a:lvl9pPr>
          </a:lstStyle>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Perda: entropia cruzada</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Rótulos inteiros (sparse)</a:t>
            </a:r>
          </a:p>
          <a:p xmlns:a="http://schemas.openxmlformats.org/drawingml/2006/main">
            <a:pPr>
              <a:defRPr sz="2400" b="0">
                <a:solidFill>
                  <a:srgbClr val="243746"/>
                </a:solidFill>
                <a:latin typeface="Arial"/>
                <a:ea typeface="Arial"/>
                <a:cs typeface="Arial"/>
              </a:defRPr>
            </a:pPr>
            <a:r>
              <a:rPr sz="2400" b="0">
                <a:solidFill>
                  <a:srgbClr val="243746"/>
                </a:solidFill>
                <a:latin typeface="Arial"/>
                <a:ea typeface="Arial"/>
                <a:cs typeface="Arial"/>
              </a:rPr>
              <a:t>Métrica principal: acurácia</a:t>
            </a:r>
          </a:p>
        </p:txBody>
      </p:sp>
      <p:sp>
        <p:nvSpPr>
          <p:cNvPr id="6" name="">
            <a:extLst xmlns:a="http://schemas.openxmlformats.org/drawingml/2006/main">
              <a:ext uri="{FF2B5EF4-FFF2-40B4-BE49-F238E27FC236}">
                <a16:creationId xmlns:a16="http://schemas.microsoft.com/office/drawing/2014/main" id="{93C62D3D-3F6D-4C4D-B2C2-7AF46879EF9E}"/>
              </a:ext>
            </a:extLst>
          </p:cNvPr>
          <p:cNvSpPr>
            <a:spLocks xmlns:a="http://schemas.openxmlformats.org/drawingml/2006/main" noGrp="1"/>
          </p:cNvSpPr>
          <p:nvPr/>
        </p:nvSpPr>
        <p:spPr>
          <a:xfrm xmlns:a="http://schemas.openxmlformats.org/drawingml/2006/main">
            <a:off x="609600" y="3905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3F5D"/>
                </a:solidFill>
                <a:latin typeface="Arial"/>
                <a:ea typeface="Arial"/>
                <a:cs typeface="Arial"/>
              </a:defRPr>
            </a:defPPr>
            <a:lvl1pPr>
              <a:defRPr sz="2400" b="1">
                <a:solidFill>
                  <a:srgbClr val="123F5D"/>
                </a:solidFill>
                <a:latin typeface="Arial"/>
                <a:ea typeface="Arial"/>
                <a:cs typeface="Arial"/>
              </a:defRPr>
            </a:lvl1pPr>
            <a:lvl2pPr>
              <a:defRPr sz="2400" b="1">
                <a:solidFill>
                  <a:srgbClr val="123F5D"/>
                </a:solidFill>
                <a:latin typeface="Arial"/>
                <a:ea typeface="Arial"/>
                <a:cs typeface="Arial"/>
              </a:defRPr>
            </a:lvl2pPr>
            <a:lvl3pPr>
              <a:defRPr sz="2400" b="1">
                <a:solidFill>
                  <a:srgbClr val="123F5D"/>
                </a:solidFill>
                <a:latin typeface="Arial"/>
                <a:ea typeface="Arial"/>
                <a:cs typeface="Arial"/>
              </a:defRPr>
            </a:lvl3pPr>
            <a:lvl4pPr>
              <a:defRPr sz="2400" b="1">
                <a:solidFill>
                  <a:srgbClr val="123F5D"/>
                </a:solidFill>
                <a:latin typeface="Arial"/>
                <a:ea typeface="Arial"/>
                <a:cs typeface="Arial"/>
              </a:defRPr>
            </a:lvl4pPr>
            <a:lvl5pPr>
              <a:defRPr sz="2400" b="1">
                <a:solidFill>
                  <a:srgbClr val="123F5D"/>
                </a:solidFill>
                <a:latin typeface="Arial"/>
                <a:ea typeface="Arial"/>
                <a:cs typeface="Arial"/>
              </a:defRPr>
            </a:lvl5pPr>
            <a:lvl6pPr>
              <a:defRPr sz="2400" b="1">
                <a:solidFill>
                  <a:srgbClr val="123F5D"/>
                </a:solidFill>
                <a:latin typeface="Arial"/>
                <a:ea typeface="Arial"/>
                <a:cs typeface="Arial"/>
              </a:defRPr>
            </a:lvl6pPr>
            <a:lvl7pPr>
              <a:defRPr sz="2400" b="1">
                <a:solidFill>
                  <a:srgbClr val="123F5D"/>
                </a:solidFill>
                <a:latin typeface="Arial"/>
                <a:ea typeface="Arial"/>
                <a:cs typeface="Arial"/>
              </a:defRPr>
            </a:lvl7pPr>
            <a:lvl8pPr>
              <a:defRPr sz="2400" b="1">
                <a:solidFill>
                  <a:srgbClr val="123F5D"/>
                </a:solidFill>
                <a:latin typeface="Arial"/>
                <a:ea typeface="Arial"/>
                <a:cs typeface="Arial"/>
              </a:defRPr>
            </a:lvl8pPr>
            <a:lvl9pPr>
              <a:defRPr sz="2400" b="1">
                <a:solidFill>
                  <a:srgbClr val="123F5D"/>
                </a:solidFill>
                <a:latin typeface="Arial"/>
                <a:ea typeface="Arial"/>
                <a:cs typeface="Arial"/>
              </a:defRPr>
            </a:lvl9pPr>
          </a:lstStyle>
          <a:p xmlns:a="http://schemas.openxmlformats.org/drawingml/2006/main">
            <a:pPr>
              <a:defRPr sz="2400" b="1">
                <a:solidFill>
                  <a:srgbClr val="123F5D"/>
                </a:solidFill>
                <a:latin typeface="Arial"/>
                <a:ea typeface="Arial"/>
                <a:cs typeface="Arial"/>
              </a:defRPr>
            </a:pPr>
            <a:r>
              <a:rPr sz="2400" b="1">
                <a:solidFill>
                  <a:srgbClr val="123F5D"/>
                </a:solidFill>
                <a:latin typeface="Arial"/>
                <a:ea typeface="Arial"/>
                <a:cs typeface="Arial"/>
              </a:rPr>
              <a:t>EarlyStopping: dez épocas sem reduzir val_loss.</a:t>
            </a:r>
          </a:p>
          <a:p xmlns:a="http://schemas.openxmlformats.org/drawingml/2006/main">
            <a:pPr>
              <a:defRPr sz="2400" b="1">
                <a:solidFill>
                  <a:srgbClr val="123F5D"/>
                </a:solidFill>
                <a:latin typeface="Arial"/>
                <a:ea typeface="Arial"/>
                <a:cs typeface="Arial"/>
              </a:defRPr>
            </a:pPr>
            <a:r>
              <a:rPr sz="2400" b="1">
                <a:solidFill>
                  <a:srgbClr val="123F5D"/>
                </a:solidFill>
                <a:latin typeface="Arial"/>
                <a:ea typeface="Arial"/>
                <a:cs typeface="Arial"/>
              </a:rPr>
              <a:t>Restaurar os pesos da melhor época.</a:t>
            </a:r>
          </a:p>
        </p:txBody>
      </p:sp>
      <p:sp>
        <p:nvSpPr>
          <p:cNvPr id="7" name="">
            <a:extLst xmlns:a="http://schemas.openxmlformats.org/drawingml/2006/main">
              <a:ext uri="{FF2B5EF4-FFF2-40B4-BE49-F238E27FC236}">
                <a16:creationId xmlns:a16="http://schemas.microsoft.com/office/drawing/2014/main" id="{EC91333B-BAEF-4FA2-B754-FAE805ECBF02}"/>
              </a:ext>
            </a:extLst>
          </p:cNvPr>
          <p:cNvSpPr>
            <a:spLocks xmlns:a="http://schemas.openxmlformats.org/drawingml/2006/main" noGrp="1"/>
          </p:cNvSpPr>
          <p:nvPr/>
        </p:nvSpPr>
        <p:spPr>
          <a:xfrm xmlns:a="http://schemas.openxmlformats.org/drawingml/2006/main">
            <a:off x="609600" y="53435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57C80"/>
                </a:solidFill>
                <a:latin typeface="Arial"/>
                <a:ea typeface="Arial"/>
                <a:cs typeface="Arial"/>
              </a:defRPr>
            </a:defPPr>
            <a:lvl1pPr>
              <a:defRPr sz="2100" b="0">
                <a:solidFill>
                  <a:srgbClr val="157C80"/>
                </a:solidFill>
                <a:latin typeface="Arial"/>
                <a:ea typeface="Arial"/>
                <a:cs typeface="Arial"/>
              </a:defRPr>
            </a:lvl1pPr>
            <a:lvl2pPr>
              <a:defRPr sz="2100" b="0">
                <a:solidFill>
                  <a:srgbClr val="157C80"/>
                </a:solidFill>
                <a:latin typeface="Arial"/>
                <a:ea typeface="Arial"/>
                <a:cs typeface="Arial"/>
              </a:defRPr>
            </a:lvl2pPr>
            <a:lvl3pPr>
              <a:defRPr sz="2100" b="0">
                <a:solidFill>
                  <a:srgbClr val="157C80"/>
                </a:solidFill>
                <a:latin typeface="Arial"/>
                <a:ea typeface="Arial"/>
                <a:cs typeface="Arial"/>
              </a:defRPr>
            </a:lvl3pPr>
            <a:lvl4pPr>
              <a:defRPr sz="2100" b="0">
                <a:solidFill>
                  <a:srgbClr val="157C80"/>
                </a:solidFill>
                <a:latin typeface="Arial"/>
                <a:ea typeface="Arial"/>
                <a:cs typeface="Arial"/>
              </a:defRPr>
            </a:lvl4pPr>
            <a:lvl5pPr>
              <a:defRPr sz="2100" b="0">
                <a:solidFill>
                  <a:srgbClr val="157C80"/>
                </a:solidFill>
                <a:latin typeface="Arial"/>
                <a:ea typeface="Arial"/>
                <a:cs typeface="Arial"/>
              </a:defRPr>
            </a:lvl5pPr>
            <a:lvl6pPr>
              <a:defRPr sz="2100" b="0">
                <a:solidFill>
                  <a:srgbClr val="157C80"/>
                </a:solidFill>
                <a:latin typeface="Arial"/>
                <a:ea typeface="Arial"/>
                <a:cs typeface="Arial"/>
              </a:defRPr>
            </a:lvl6pPr>
            <a:lvl7pPr>
              <a:defRPr sz="2100" b="0">
                <a:solidFill>
                  <a:srgbClr val="157C80"/>
                </a:solidFill>
                <a:latin typeface="Arial"/>
                <a:ea typeface="Arial"/>
                <a:cs typeface="Arial"/>
              </a:defRPr>
            </a:lvl7pPr>
            <a:lvl8pPr>
              <a:defRPr sz="2100" b="0">
                <a:solidFill>
                  <a:srgbClr val="157C80"/>
                </a:solidFill>
                <a:latin typeface="Arial"/>
                <a:ea typeface="Arial"/>
                <a:cs typeface="Arial"/>
              </a:defRPr>
            </a:lvl8pPr>
            <a:lvl9pPr>
              <a:defRPr sz="2100" b="0">
                <a:solidFill>
                  <a:srgbClr val="157C80"/>
                </a:solidFill>
                <a:latin typeface="Arial"/>
                <a:ea typeface="Arial"/>
                <a:cs typeface="Arial"/>
              </a:defRPr>
            </a:lvl9pPr>
          </a:lstStyle>
          <a:p xmlns:a="http://schemas.openxmlformats.org/drawingml/2006/main">
            <a:pPr>
              <a:defRPr sz="2100" b="0">
                <a:solidFill>
                  <a:srgbClr val="157C80"/>
                </a:solidFill>
                <a:latin typeface="Arial"/>
                <a:ea typeface="Arial"/>
                <a:cs typeface="Arial"/>
              </a:defRPr>
            </a:pPr>
            <a:r>
              <a:rPr sz="2100" b="0">
                <a:solidFill>
                  <a:srgbClr val="157C80"/>
                </a:solidFill>
                <a:latin typeface="Arial"/>
                <a:ea typeface="Arial"/>
                <a:cs typeface="Arial"/>
              </a:rPr>
              <a:t>Selecionar pela validação. Avaliar no teste somente ao final.</a:t>
            </a:r>
          </a:p>
        </p:txBody>
      </p:sp>
    </p:spTree>
    <p:extLst>
      <p:ext uri="{BB962C8B-B14F-4D97-AF65-F5344CB8AC3E}">
        <p14:creationId xmlns:p14="http://schemas.microsoft.com/office/powerpoint/2010/main" val="8151384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C458FC-0B4D-4464-B74B-6D9259001886}"/>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Dropout melhorou a validação nesta execução</a:t>
            </a:r>
          </a:p>
        </p:txBody>
      </p:sp>
      <p:sp>
        <p:nvSpPr>
          <p:cNvPr id="2" name="">
            <a:extLst xmlns:a="http://schemas.openxmlformats.org/drawingml/2006/main">
              <a:ext uri="{FF2B5EF4-FFF2-40B4-BE49-F238E27FC236}">
                <a16:creationId xmlns:a16="http://schemas.microsoft.com/office/drawing/2014/main" id="{643DB0C5-6962-44A6-B282-E55E24771884}"/>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Wallace Jardim | 1 minuto e 30 segundos</a:t>
            </a:r>
          </a:p>
        </p:txBody>
      </p:sp>
      <p:sp>
        <p:nvSpPr>
          <p:cNvPr id="3" name="">
            <a:extLst xmlns:a="http://schemas.openxmlformats.org/drawingml/2006/main">
              <a:ext uri="{FF2B5EF4-FFF2-40B4-BE49-F238E27FC236}">
                <a16:creationId xmlns:a16="http://schemas.microsoft.com/office/drawing/2014/main" id="{1C05CACB-2FD8-405C-8B4E-6ABF25A8D651}"/>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7</a:t>
            </a:r>
          </a:p>
        </p:txBody>
      </p:sp>
      <p:graphicFrame>
        <p:nvGraphicFramePr>
          <p:cNvPr id="4" name="Chart">
            <a:extLst xmlns:a="http://schemas.openxmlformats.org/drawingml/2006/main">
              <a:ext uri="{FF2B5EF4-FFF2-40B4-BE49-F238E27FC236}">
                <a16:creationId xmlns:a16="http://schemas.microsoft.com/office/drawing/2014/main" id="{60F1414A-B5E1-441E-8AC2-CB3963C88068}"/>
              </a:ext>
            </a:extLst>
          </p:cNvPr>
          <p:cNvGraphicFramePr/>
          <p:nvPr/>
        </p:nvGraphicFramePr>
        <p:xfrm>
          <a:off xmlns:a="http://schemas.openxmlformats.org/drawingml/2006/main" x="609600" y="1524000"/>
          <a:ext xmlns:a="http://schemas.openxmlformats.org/drawingml/2006/main" cx="10972800" cy="3714750"/>
        </p:xfrm>
        <a:graphic xmlns:a="http://schemas.openxmlformats.org/drawingml/2006/main">
          <a:graphicData uri="http://schemas.openxmlformats.org/drawingml/2006/chart">
            <c:chart xmlns:r="http://schemas.openxmlformats.org/officeDocument/2006/relationships" xmlns:c="http://schemas.openxmlformats.org/drawingml/2006/chart" r:id="Rc90219b31f674f3a"/>
          </a:graphicData>
        </a:graphic>
      </p:graphicFrame>
      <p:sp>
        <p:nvSpPr>
          <p:cNvPr id="5" name="">
            <a:extLst xmlns:a="http://schemas.openxmlformats.org/drawingml/2006/main">
              <a:ext uri="{FF2B5EF4-FFF2-40B4-BE49-F238E27FC236}">
                <a16:creationId xmlns:a16="http://schemas.microsoft.com/office/drawing/2014/main" id="{7D06E99F-1F4E-4067-89A8-B6301FF40B9E}"/>
              </a:ext>
            </a:extLst>
          </p:cNvPr>
          <p:cNvSpPr>
            <a:spLocks xmlns:a="http://schemas.openxmlformats.org/drawingml/2006/main" noGrp="1"/>
          </p:cNvSpPr>
          <p:nvPr/>
        </p:nvSpPr>
        <p:spPr>
          <a:xfrm xmlns:a="http://schemas.openxmlformats.org/drawingml/2006/main">
            <a:off x="609600" y="53911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F5D"/>
                </a:solidFill>
                <a:latin typeface="Arial"/>
                <a:ea typeface="Arial"/>
                <a:cs typeface="Arial"/>
              </a:defRPr>
            </a:defPPr>
            <a:lvl1pPr>
              <a:defRPr sz="2025" b="0">
                <a:solidFill>
                  <a:srgbClr val="123F5D"/>
                </a:solidFill>
                <a:latin typeface="Arial"/>
                <a:ea typeface="Arial"/>
                <a:cs typeface="Arial"/>
              </a:defRPr>
            </a:lvl1pPr>
            <a:lvl2pPr>
              <a:defRPr sz="2025" b="0">
                <a:solidFill>
                  <a:srgbClr val="123F5D"/>
                </a:solidFill>
                <a:latin typeface="Arial"/>
                <a:ea typeface="Arial"/>
                <a:cs typeface="Arial"/>
              </a:defRPr>
            </a:lvl2pPr>
            <a:lvl3pPr>
              <a:defRPr sz="2025" b="0">
                <a:solidFill>
                  <a:srgbClr val="123F5D"/>
                </a:solidFill>
                <a:latin typeface="Arial"/>
                <a:ea typeface="Arial"/>
                <a:cs typeface="Arial"/>
              </a:defRPr>
            </a:lvl3pPr>
            <a:lvl4pPr>
              <a:defRPr sz="2025" b="0">
                <a:solidFill>
                  <a:srgbClr val="123F5D"/>
                </a:solidFill>
                <a:latin typeface="Arial"/>
                <a:ea typeface="Arial"/>
                <a:cs typeface="Arial"/>
              </a:defRPr>
            </a:lvl4pPr>
            <a:lvl5pPr>
              <a:defRPr sz="2025" b="0">
                <a:solidFill>
                  <a:srgbClr val="123F5D"/>
                </a:solidFill>
                <a:latin typeface="Arial"/>
                <a:ea typeface="Arial"/>
                <a:cs typeface="Arial"/>
              </a:defRPr>
            </a:lvl5pPr>
            <a:lvl6pPr>
              <a:defRPr sz="2025" b="0">
                <a:solidFill>
                  <a:srgbClr val="123F5D"/>
                </a:solidFill>
                <a:latin typeface="Arial"/>
                <a:ea typeface="Arial"/>
                <a:cs typeface="Arial"/>
              </a:defRPr>
            </a:lvl6pPr>
            <a:lvl7pPr>
              <a:defRPr sz="2025" b="0">
                <a:solidFill>
                  <a:srgbClr val="123F5D"/>
                </a:solidFill>
                <a:latin typeface="Arial"/>
                <a:ea typeface="Arial"/>
                <a:cs typeface="Arial"/>
              </a:defRPr>
            </a:lvl7pPr>
            <a:lvl8pPr>
              <a:defRPr sz="2025" b="0">
                <a:solidFill>
                  <a:srgbClr val="123F5D"/>
                </a:solidFill>
                <a:latin typeface="Arial"/>
                <a:ea typeface="Arial"/>
                <a:cs typeface="Arial"/>
              </a:defRPr>
            </a:lvl8pPr>
            <a:lvl9pPr>
              <a:defRPr sz="2025" b="0">
                <a:solidFill>
                  <a:srgbClr val="123F5D"/>
                </a:solidFill>
                <a:latin typeface="Arial"/>
                <a:ea typeface="Arial"/>
                <a:cs typeface="Arial"/>
              </a:defRPr>
            </a:lvl9pPr>
          </a:lstStyle>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CNN inicial: 73,73% → CNN Dropout: 77,42%</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A melhoria foi acrescentar Dropout(0,3); o restante foi mantido.</a:t>
            </a:r>
          </a:p>
        </p:txBody>
      </p:sp>
    </p:spTree>
    <p:extLst>
      <p:ext uri="{BB962C8B-B14F-4D97-AF65-F5344CB8AC3E}">
        <p14:creationId xmlns:p14="http://schemas.microsoft.com/office/powerpoint/2010/main" val="6719797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4C59BA-DFF7-4FDD-8A03-EB7AC70B9AFD}"/>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Perda de treino e validação</a:t>
            </a:r>
          </a:p>
        </p:txBody>
      </p:sp>
      <p:sp>
        <p:nvSpPr>
          <p:cNvPr id="2" name="">
            <a:extLst xmlns:a="http://schemas.openxmlformats.org/drawingml/2006/main">
              <a:ext uri="{FF2B5EF4-FFF2-40B4-BE49-F238E27FC236}">
                <a16:creationId xmlns:a16="http://schemas.microsoft.com/office/drawing/2014/main" id="{45143E81-3A36-48BD-A58F-35A131BA6A82}"/>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Wallace Jardim | 1 minuto e 30 segundos</a:t>
            </a:r>
          </a:p>
        </p:txBody>
      </p:sp>
      <p:sp>
        <p:nvSpPr>
          <p:cNvPr id="3" name="">
            <a:extLst xmlns:a="http://schemas.openxmlformats.org/drawingml/2006/main">
              <a:ext uri="{FF2B5EF4-FFF2-40B4-BE49-F238E27FC236}">
                <a16:creationId xmlns:a16="http://schemas.microsoft.com/office/drawing/2014/main" id="{5E52DC36-FABB-4F17-93F4-A0923B2A2068}"/>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8</a:t>
            </a:r>
          </a:p>
        </p:txBody>
      </p:sp>
      <p:graphicFrame>
        <p:nvGraphicFramePr>
          <p:cNvPr id="4" name="Chart">
            <a:extLst xmlns:a="http://schemas.openxmlformats.org/drawingml/2006/main">
              <a:ext uri="{FF2B5EF4-FFF2-40B4-BE49-F238E27FC236}">
                <a16:creationId xmlns:a16="http://schemas.microsoft.com/office/drawing/2014/main" id="{2CB55D80-90D2-4D2B-9697-F69DBE32E51A}"/>
              </a:ext>
            </a:extLst>
          </p:cNvPr>
          <p:cNvGraphicFramePr/>
          <p:nvPr/>
        </p:nvGraphicFramePr>
        <p:xfrm>
          <a:off xmlns:a="http://schemas.openxmlformats.org/drawingml/2006/main" x="609600" y="1581150"/>
          <a:ext xmlns:a="http://schemas.openxmlformats.org/drawingml/2006/main" cx="5257800" cy="3524250"/>
        </p:xfrm>
        <a:graphic xmlns:a="http://schemas.openxmlformats.org/drawingml/2006/main">
          <a:graphicData uri="http://schemas.openxmlformats.org/drawingml/2006/chart">
            <c:chart xmlns:r="http://schemas.openxmlformats.org/officeDocument/2006/relationships" xmlns:c="http://schemas.openxmlformats.org/drawingml/2006/chart" r:id="R03d4131cdfa04af2"/>
          </a:graphicData>
        </a:graphic>
      </p:graphicFrame>
      <p:graphicFrame>
        <p:nvGraphicFramePr>
          <p:cNvPr id="5" name="Chart">
            <a:extLst xmlns:a="http://schemas.openxmlformats.org/drawingml/2006/main">
              <a:ext uri="{FF2B5EF4-FFF2-40B4-BE49-F238E27FC236}">
                <a16:creationId xmlns:a16="http://schemas.microsoft.com/office/drawing/2014/main" id="{E423FB5D-8E81-4FC2-A45A-CB295DE29854}"/>
              </a:ext>
            </a:extLst>
          </p:cNvPr>
          <p:cNvGraphicFramePr/>
          <p:nvPr/>
        </p:nvGraphicFramePr>
        <p:xfrm>
          <a:off xmlns:a="http://schemas.openxmlformats.org/drawingml/2006/main" x="6229350" y="1581150"/>
          <a:ext xmlns:a="http://schemas.openxmlformats.org/drawingml/2006/main" cx="5257800" cy="3524250"/>
        </p:xfrm>
        <a:graphic xmlns:a="http://schemas.openxmlformats.org/drawingml/2006/main">
          <a:graphicData uri="http://schemas.openxmlformats.org/drawingml/2006/chart">
            <c:chart xmlns:r="http://schemas.openxmlformats.org/officeDocument/2006/relationships" xmlns:c="http://schemas.openxmlformats.org/drawingml/2006/chart" r:id="R80c29ab430db43d0"/>
          </a:graphicData>
        </a:graphic>
      </p:graphicFrame>
      <p:sp>
        <p:nvSpPr>
          <p:cNvPr id="6" name="">
            <a:extLst xmlns:a="http://schemas.openxmlformats.org/drawingml/2006/main">
              <a:ext uri="{FF2B5EF4-FFF2-40B4-BE49-F238E27FC236}">
                <a16:creationId xmlns:a16="http://schemas.microsoft.com/office/drawing/2014/main" id="{4E228D68-9469-44C4-937C-CC7F92840656}"/>
              </a:ext>
            </a:extLst>
          </p:cNvPr>
          <p:cNvSpPr>
            <a:spLocks xmlns:a="http://schemas.openxmlformats.org/drawingml/2006/main" noGrp="1"/>
          </p:cNvSpPr>
          <p:nvPr/>
        </p:nvSpPr>
        <p:spPr>
          <a:xfrm xmlns:a="http://schemas.openxmlformats.org/drawingml/2006/main">
            <a:off x="609600" y="546735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243746"/>
                </a:solidFill>
                <a:latin typeface="Arial"/>
                <a:ea typeface="Arial"/>
                <a:cs typeface="Arial"/>
              </a:defRPr>
            </a:defPPr>
            <a:lvl1pPr>
              <a:defRPr sz="1950" b="0">
                <a:solidFill>
                  <a:srgbClr val="243746"/>
                </a:solidFill>
                <a:latin typeface="Arial"/>
                <a:ea typeface="Arial"/>
                <a:cs typeface="Arial"/>
              </a:defRPr>
            </a:lvl1pPr>
            <a:lvl2pPr>
              <a:defRPr sz="1950" b="0">
                <a:solidFill>
                  <a:srgbClr val="243746"/>
                </a:solidFill>
                <a:latin typeface="Arial"/>
                <a:ea typeface="Arial"/>
                <a:cs typeface="Arial"/>
              </a:defRPr>
            </a:lvl2pPr>
            <a:lvl3pPr>
              <a:defRPr sz="1950" b="0">
                <a:solidFill>
                  <a:srgbClr val="243746"/>
                </a:solidFill>
                <a:latin typeface="Arial"/>
                <a:ea typeface="Arial"/>
                <a:cs typeface="Arial"/>
              </a:defRPr>
            </a:lvl3pPr>
            <a:lvl4pPr>
              <a:defRPr sz="1950" b="0">
                <a:solidFill>
                  <a:srgbClr val="243746"/>
                </a:solidFill>
                <a:latin typeface="Arial"/>
                <a:ea typeface="Arial"/>
                <a:cs typeface="Arial"/>
              </a:defRPr>
            </a:lvl4pPr>
            <a:lvl5pPr>
              <a:defRPr sz="1950" b="0">
                <a:solidFill>
                  <a:srgbClr val="243746"/>
                </a:solidFill>
                <a:latin typeface="Arial"/>
                <a:ea typeface="Arial"/>
                <a:cs typeface="Arial"/>
              </a:defRPr>
            </a:lvl5pPr>
            <a:lvl6pPr>
              <a:defRPr sz="1950" b="0">
                <a:solidFill>
                  <a:srgbClr val="243746"/>
                </a:solidFill>
                <a:latin typeface="Arial"/>
                <a:ea typeface="Arial"/>
                <a:cs typeface="Arial"/>
              </a:defRPr>
            </a:lvl6pPr>
            <a:lvl7pPr>
              <a:defRPr sz="1950" b="0">
                <a:solidFill>
                  <a:srgbClr val="243746"/>
                </a:solidFill>
                <a:latin typeface="Arial"/>
                <a:ea typeface="Arial"/>
                <a:cs typeface="Arial"/>
              </a:defRPr>
            </a:lvl7pPr>
            <a:lvl8pPr>
              <a:defRPr sz="1950" b="0">
                <a:solidFill>
                  <a:srgbClr val="243746"/>
                </a:solidFill>
                <a:latin typeface="Arial"/>
                <a:ea typeface="Arial"/>
                <a:cs typeface="Arial"/>
              </a:defRPr>
            </a:lvl8pPr>
            <a:lvl9pPr>
              <a:defRPr sz="1950" b="0">
                <a:solidFill>
                  <a:srgbClr val="243746"/>
                </a:solidFill>
                <a:latin typeface="Arial"/>
                <a:ea typeface="Arial"/>
                <a:cs typeface="Arial"/>
              </a:defRPr>
            </a:lvl9pPr>
          </a:lstStyle>
          <a:p xmlns:a="http://schemas.openxmlformats.org/drawingml/2006/main">
            <a:pPr>
              <a:defRPr sz="1950" b="0">
                <a:solidFill>
                  <a:srgbClr val="243746"/>
                </a:solidFill>
                <a:latin typeface="Arial"/>
                <a:ea typeface="Arial"/>
                <a:cs typeface="Arial"/>
              </a:defRPr>
            </a:pPr>
            <a:r>
              <a:rPr sz="1950" b="0">
                <a:solidFill>
                  <a:srgbClr val="243746"/>
                </a:solidFill>
                <a:latin typeface="Arial"/>
                <a:ea typeface="Arial"/>
                <a:cs typeface="Arial"/>
              </a:rPr>
              <a:t>Pesos restaurados: época 10 na CNN inicial; época 29 com Dropout.</a:t>
            </a:r>
          </a:p>
          <a:p xmlns:a="http://schemas.openxmlformats.org/drawingml/2006/main">
            <a:pPr>
              <a:defRPr sz="1950" b="0">
                <a:solidFill>
                  <a:srgbClr val="243746"/>
                </a:solidFill>
                <a:latin typeface="Arial"/>
                <a:ea typeface="Arial"/>
                <a:cs typeface="Arial"/>
              </a:defRPr>
            </a:pPr>
            <a:r>
              <a:rPr sz="1950" b="0">
                <a:solidFill>
                  <a:srgbClr val="243746"/>
                </a:solidFill>
                <a:latin typeface="Arial"/>
                <a:ea typeface="Arial"/>
                <a:cs typeface="Arial"/>
              </a:rPr>
              <a:t>A validação estabiliza enquanto a perda de treino continua caindo.</a:t>
            </a:r>
          </a:p>
        </p:txBody>
      </p:sp>
    </p:spTree>
    <p:extLst>
      <p:ext uri="{BB962C8B-B14F-4D97-AF65-F5344CB8AC3E}">
        <p14:creationId xmlns:p14="http://schemas.microsoft.com/office/powerpoint/2010/main" val="8815345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6896CB-773E-496B-9CED-69FC4467A3F5}"/>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Teste final: 178 acertos em 216 imagens</a:t>
            </a:r>
          </a:p>
        </p:txBody>
      </p:sp>
      <p:sp>
        <p:nvSpPr>
          <p:cNvPr id="2" name="">
            <a:extLst xmlns:a="http://schemas.openxmlformats.org/drawingml/2006/main">
              <a:ext uri="{FF2B5EF4-FFF2-40B4-BE49-F238E27FC236}">
                <a16:creationId xmlns:a16="http://schemas.microsoft.com/office/drawing/2014/main" id="{29C9E4F3-9095-457A-A3B8-2ACCD50F3D4A}"/>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Daniel Gil | 2 minutos</a:t>
            </a:r>
          </a:p>
        </p:txBody>
      </p:sp>
      <p:sp>
        <p:nvSpPr>
          <p:cNvPr id="3" name="">
            <a:extLst xmlns:a="http://schemas.openxmlformats.org/drawingml/2006/main">
              <a:ext uri="{FF2B5EF4-FFF2-40B4-BE49-F238E27FC236}">
                <a16:creationId xmlns:a16="http://schemas.microsoft.com/office/drawing/2014/main" id="{1B43953B-5E7A-457F-B001-3D2398D74BDF}"/>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9</a:t>
            </a:r>
          </a:p>
        </p:txBody>
      </p:sp>
      <p:graphicFrame>
        <p:nvGraphicFramePr>
          <p:cNvPr id="4" name="">
            <a:extLst xmlns:a="http://schemas.openxmlformats.org/drawingml/2006/main">
              <a:ext uri="{FF2B5EF4-FFF2-40B4-BE49-F238E27FC236}">
                <a16:creationId xmlns:a16="http://schemas.microsoft.com/office/drawing/2014/main" id="{9E157823-C156-4F70-9696-9AC7B57FE528}"/>
              </a:ext>
            </a:extLst>
          </p:cNvPr>
          <p:cNvGraphicFramePr/>
          <p:nvPr/>
        </p:nvGraphicFramePr>
        <p:xfrm>
          <a:off xmlns:a="http://schemas.openxmlformats.org/drawingml/2006/main" x="609600" y="1447800"/>
          <a:ext xmlns:a="http://schemas.openxmlformats.org/drawingml/2006/main" cx="10972800" cy="1714500"/>
        </p:xfrm>
        <a:graphic xmlns:a="http://schemas.openxmlformats.org/drawingml/2006/main">
          <a:graphicData uri="http://schemas.openxmlformats.org/drawingml/2006/table">
            <a:tbl>
              <a:tblPr/>
              <a:tblGrid>
                <a:gridCol w="4762500"/>
                <a:gridCol w="3105150"/>
                <a:gridCol w="3105150"/>
              </a:tblGrid>
              <a:tr h="571500">
                <a:tc>
                  <a:txBody>
                    <a:bodyPr/>
                    <a:lstStyle/>
                    <a:p>
                      <a:r>
                        <a:rPr sz="1800" b="1">
                          <a:solidFill>
                            <a:srgbClr val="243746"/>
                          </a:solidFill>
                          <a:latin typeface="Arial"/>
                          <a:ea typeface="Arial"/>
                          <a:cs typeface="Arial"/>
                        </a:rPr>
                        <a:t>Modelo</a:t>
                      </a:r>
                    </a:p>
                  </a:txBody>
                  <a:tcPr marL="91440" marR="91440" marT="45720" marB="45720">
                    <a:lnL w="4763">
                      <a:solidFill>
                        <a:srgbClr val="D6E1E7"/>
                      </a:solidFill>
                      <a:prstDash val="solid"/>
                    </a:lnL>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Acurácia</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c>
                  <a:txBody>
                    <a:bodyPr/>
                    <a:lstStyle/>
                    <a:p>
                      <a:r>
                        <a:rPr sz="1800" b="1">
                          <a:solidFill>
                            <a:srgbClr val="243746"/>
                          </a:solidFill>
                          <a:latin typeface="Arial"/>
                          <a:ea typeface="Arial"/>
                          <a:cs typeface="Arial"/>
                        </a:rPr>
                        <a:t>Macro-F1</a:t>
                      </a:r>
                    </a:p>
                  </a:txBody>
                  <a:tcPr marL="91440" marR="91440" marT="45720" marB="45720">
                    <a:lnR w="4763">
                      <a:solidFill>
                        <a:srgbClr val="D6E1E7"/>
                      </a:solidFill>
                      <a:prstDash val="solid"/>
                    </a:lnR>
                    <a:lnT w="4763">
                      <a:solidFill>
                        <a:srgbClr val="D6E1E7"/>
                      </a:solidFill>
                      <a:prstDash val="solid"/>
                    </a:lnT>
                    <a:lnB w="4763">
                      <a:solidFill>
                        <a:srgbClr val="D6E1E7"/>
                      </a:solidFill>
                      <a:prstDash val="solid"/>
                    </a:lnB>
                    <a:solidFill>
                      <a:srgbClr val="E1EFF3"/>
                    </a:solidFill>
                  </a:tcPr>
                </a:tc>
              </a:tr>
              <a:tr h="571500">
                <a:tc>
                  <a:txBody>
                    <a:bodyPr/>
                    <a:lstStyle/>
                    <a:p>
                      <a:r>
                        <a:rPr sz="1800" b="0">
                          <a:solidFill>
                            <a:srgbClr val="243746"/>
                          </a:solidFill>
                          <a:latin typeface="Arial"/>
                          <a:ea typeface="Arial"/>
                          <a:cs typeface="Arial"/>
                        </a:rPr>
                        <a:t>Baseline</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2,78%</a:t>
                      </a:r>
                    </a:p>
                  </a:txBody>
                  <a:tcPr marL="91440" marR="91440" marT="45720" marB="45720">
                    <a:lnR w="4763">
                      <a:solidFill>
                        <a:srgbClr val="D6E1E7"/>
                      </a:solidFill>
                      <a:prstDash val="solid"/>
                    </a:lnR>
                    <a:lnB w="4763">
                      <a:solidFill>
                        <a:srgbClr val="D6E1E7"/>
                      </a:solidFill>
                      <a:prstDash val="solid"/>
                    </a:lnB>
                    <a:solidFill>
                      <a:srgbClr val="FFFFFF"/>
                    </a:solidFill>
                  </a:tcPr>
                </a:tc>
                <a:tc>
                  <a:txBody>
                    <a:bodyPr/>
                    <a:lstStyle/>
                    <a:p>
                      <a:r>
                        <a:rPr sz="1800" b="0">
                          <a:solidFill>
                            <a:srgbClr val="243746"/>
                          </a:solidFill>
                          <a:latin typeface="Arial"/>
                          <a:ea typeface="Arial"/>
                          <a:cs typeface="Arial"/>
                        </a:rPr>
                        <a:t>0,002</a:t>
                      </a:r>
                    </a:p>
                  </a:txBody>
                  <a:tcPr marL="91440" marR="91440" marT="45720" marB="45720">
                    <a:lnR w="4763">
                      <a:solidFill>
                        <a:srgbClr val="D6E1E7"/>
                      </a:solidFill>
                      <a:prstDash val="solid"/>
                    </a:lnR>
                    <a:lnB w="4763">
                      <a:solidFill>
                        <a:srgbClr val="D6E1E7"/>
                      </a:solidFill>
                      <a:prstDash val="solid"/>
                    </a:lnB>
                    <a:solidFill>
                      <a:srgbClr val="FFFFFF"/>
                    </a:solidFill>
                  </a:tcPr>
                </a:tc>
              </a:tr>
              <a:tr h="571500">
                <a:tc>
                  <a:txBody>
                    <a:bodyPr/>
                    <a:lstStyle/>
                    <a:p>
                      <a:r>
                        <a:rPr sz="1800" b="0">
                          <a:solidFill>
                            <a:srgbClr val="243746"/>
                          </a:solidFill>
                          <a:latin typeface="Arial"/>
                          <a:ea typeface="Arial"/>
                          <a:cs typeface="Arial"/>
                        </a:rPr>
                        <a:t>CNN Dropout</a:t>
                      </a:r>
                    </a:p>
                  </a:txBody>
                  <a:tcPr marL="91440" marR="91440" marT="45720" marB="45720">
                    <a:lnL w="4763">
                      <a:solidFill>
                        <a:srgbClr val="D6E1E7"/>
                      </a:solidFill>
                      <a:prstDash val="solid"/>
                    </a:lnL>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82,41%</a:t>
                      </a:r>
                    </a:p>
                  </a:txBody>
                  <a:tcPr marL="91440" marR="91440" marT="45720" marB="45720">
                    <a:lnR w="4763">
                      <a:solidFill>
                        <a:srgbClr val="D6E1E7"/>
                      </a:solidFill>
                      <a:prstDash val="solid"/>
                    </a:lnR>
                    <a:lnB w="4763">
                      <a:solidFill>
                        <a:srgbClr val="D6E1E7"/>
                      </a:solidFill>
                      <a:prstDash val="solid"/>
                    </a:lnB>
                    <a:solidFill>
                      <a:srgbClr val="F5F8FA"/>
                    </a:solidFill>
                  </a:tcPr>
                </a:tc>
                <a:tc>
                  <a:txBody>
                    <a:bodyPr/>
                    <a:lstStyle/>
                    <a:p>
                      <a:r>
                        <a:rPr sz="1800" b="0">
                          <a:solidFill>
                            <a:srgbClr val="243746"/>
                          </a:solidFill>
                          <a:latin typeface="Arial"/>
                          <a:ea typeface="Arial"/>
                          <a:cs typeface="Arial"/>
                        </a:rPr>
                        <a:t>0,817</a:t>
                      </a:r>
                    </a:p>
                  </a:txBody>
                  <a:tcPr marL="91440" marR="91440" marT="45720" marB="45720">
                    <a:lnR w="4763">
                      <a:solidFill>
                        <a:srgbClr val="D6E1E7"/>
                      </a:solidFill>
                      <a:prstDash val="solid"/>
                    </a:lnR>
                    <a:lnB w="4763">
                      <a:solidFill>
                        <a:srgbClr val="D6E1E7"/>
                      </a:solidFill>
                      <a:prstDash val="solid"/>
                    </a:lnB>
                    <a:solidFill>
                      <a:srgbClr val="F5F8FA"/>
                    </a:solidFill>
                  </a:tcPr>
                </a:tc>
              </a:tr>
            </a:tbl>
          </a:graphicData>
        </a:graphic>
      </p:graphicFrame>
      <p:pic>
        <p:nvPicPr>
          <p:cNvPr id="5" name="">
            <a:extLst xmlns:a="http://schemas.openxmlformats.org/drawingml/2006/main">
              <a:ext uri="{FF2B5EF4-FFF2-40B4-BE49-F238E27FC236}">
                <a16:creationId xmlns:a16="http://schemas.microsoft.com/office/drawing/2014/main" id="{59A2B469-32DE-4E0E-932C-990DD0BB5534}"/>
              </a:ext>
            </a:extLst>
          </p:cNvPr>
          <p:cNvPicPr>
            <a:picLocks xmlns:a="http://schemas.openxmlformats.org/drawingml/2006/main" noChangeAspect="1"/>
          </p:cNvPicPr>
          <p:nvPr/>
        </p:nvPicPr>
        <p:blipFill>
          <a:blip xmlns:r="http://schemas.openxmlformats.org/officeDocument/2006/relationships" xmlns:a="http://schemas.openxmlformats.org/drawingml/2006/main" r:embed="Re2186225b5cb4c73"/>
          <a:stretch xmlns:a="http://schemas.openxmlformats.org/drawingml/2006/main"/>
        </p:blipFill>
        <p:spPr>
          <a:xfrm xmlns:a="http://schemas.openxmlformats.org/drawingml/2006/main">
            <a:off x="1151983" y="3429000"/>
            <a:ext cx="6154234" cy="2552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15F0BE0-FA07-40BD-87AB-932B8B2FEC7E}"/>
              </a:ext>
            </a:extLst>
          </p:cNvPr>
          <p:cNvSpPr>
            <a:spLocks xmlns:a="http://schemas.openxmlformats.org/drawingml/2006/main" noGrp="1"/>
          </p:cNvSpPr>
          <p:nvPr/>
        </p:nvSpPr>
        <p:spPr>
          <a:xfrm xmlns:a="http://schemas.openxmlformats.org/drawingml/2006/main">
            <a:off x="8239125" y="3571875"/>
            <a:ext cx="3333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23F5D"/>
                </a:solidFill>
                <a:latin typeface="Arial"/>
                <a:ea typeface="Arial"/>
                <a:cs typeface="Arial"/>
              </a:defRPr>
            </a:defPPr>
            <a:lvl1pPr>
              <a:defRPr sz="2025" b="0">
                <a:solidFill>
                  <a:srgbClr val="123F5D"/>
                </a:solidFill>
                <a:latin typeface="Arial"/>
                <a:ea typeface="Arial"/>
                <a:cs typeface="Arial"/>
              </a:defRPr>
            </a:lvl1pPr>
            <a:lvl2pPr>
              <a:defRPr sz="2025" b="0">
                <a:solidFill>
                  <a:srgbClr val="123F5D"/>
                </a:solidFill>
                <a:latin typeface="Arial"/>
                <a:ea typeface="Arial"/>
                <a:cs typeface="Arial"/>
              </a:defRPr>
            </a:lvl2pPr>
            <a:lvl3pPr>
              <a:defRPr sz="2025" b="0">
                <a:solidFill>
                  <a:srgbClr val="123F5D"/>
                </a:solidFill>
                <a:latin typeface="Arial"/>
                <a:ea typeface="Arial"/>
                <a:cs typeface="Arial"/>
              </a:defRPr>
            </a:lvl3pPr>
            <a:lvl4pPr>
              <a:defRPr sz="2025" b="0">
                <a:solidFill>
                  <a:srgbClr val="123F5D"/>
                </a:solidFill>
                <a:latin typeface="Arial"/>
                <a:ea typeface="Arial"/>
                <a:cs typeface="Arial"/>
              </a:defRPr>
            </a:lvl4pPr>
            <a:lvl5pPr>
              <a:defRPr sz="2025" b="0">
                <a:solidFill>
                  <a:srgbClr val="123F5D"/>
                </a:solidFill>
                <a:latin typeface="Arial"/>
                <a:ea typeface="Arial"/>
                <a:cs typeface="Arial"/>
              </a:defRPr>
            </a:lvl5pPr>
            <a:lvl6pPr>
              <a:defRPr sz="2025" b="0">
                <a:solidFill>
                  <a:srgbClr val="123F5D"/>
                </a:solidFill>
                <a:latin typeface="Arial"/>
                <a:ea typeface="Arial"/>
                <a:cs typeface="Arial"/>
              </a:defRPr>
            </a:lvl6pPr>
            <a:lvl7pPr>
              <a:defRPr sz="2025" b="0">
                <a:solidFill>
                  <a:srgbClr val="123F5D"/>
                </a:solidFill>
                <a:latin typeface="Arial"/>
                <a:ea typeface="Arial"/>
                <a:cs typeface="Arial"/>
              </a:defRPr>
            </a:lvl7pPr>
            <a:lvl8pPr>
              <a:defRPr sz="2025" b="0">
                <a:solidFill>
                  <a:srgbClr val="123F5D"/>
                </a:solidFill>
                <a:latin typeface="Arial"/>
                <a:ea typeface="Arial"/>
                <a:cs typeface="Arial"/>
              </a:defRPr>
            </a:lvl8pPr>
            <a:lvl9pPr>
              <a:defRPr sz="2025" b="0">
                <a:solidFill>
                  <a:srgbClr val="123F5D"/>
                </a:solidFill>
                <a:latin typeface="Arial"/>
                <a:ea typeface="Arial"/>
                <a:cs typeface="Arial"/>
              </a:defRPr>
            </a:lvl9pPr>
          </a:lstStyle>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38 erros</a:t>
            </a:r>
          </a:p>
          <a:p xmlns:a="http://schemas.openxmlformats.org/drawingml/2006/main">
            <a:r>
              <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O → 0: 4 casos</a:t>
            </a:r>
          </a:p>
          <a:p xmlns:a="http://schemas.openxmlformats.org/drawingml/2006/main">
            <a:pPr>
              <a:defRPr sz="2025" b="0">
                <a:solidFill>
                  <a:srgbClr val="123F5D"/>
                </a:solidFill>
                <a:latin typeface="Arial"/>
                <a:ea typeface="Arial"/>
                <a:cs typeface="Arial"/>
              </a:defRPr>
            </a:pPr>
            <a:r>
              <a:rPr sz="2025" b="0">
                <a:solidFill>
                  <a:srgbClr val="123F5D"/>
                </a:solidFill>
                <a:latin typeface="Arial"/>
                <a:ea typeface="Arial"/>
                <a:cs typeface="Arial"/>
              </a:rPr>
              <a:t>S → 5: 2 casos</a:t>
            </a:r>
          </a:p>
        </p:txBody>
      </p:sp>
    </p:spTree>
    <p:extLst>
      <p:ext uri="{BB962C8B-B14F-4D97-AF65-F5344CB8AC3E}">
        <p14:creationId xmlns:p14="http://schemas.microsoft.com/office/powerpoint/2010/main" val="100216199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01F393-33E9-4AF6-BEF4-80718245581F}"/>
              </a:ext>
            </a:extLst>
          </p:cNvPr>
          <p:cNvSpPr>
            <a:spLocks xmlns:a="http://schemas.openxmlformats.org/drawingml/2006/main" noGrp="1"/>
          </p:cNvSpPr>
          <p:nvPr/>
        </p:nvSpPr>
        <p:spPr>
          <a:xfrm xmlns:a="http://schemas.openxmlformats.org/drawingml/2006/main">
            <a:off x="609600" y="4000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F5D"/>
                </a:solidFill>
                <a:latin typeface="Arial"/>
                <a:ea typeface="Arial"/>
                <a:cs typeface="Arial"/>
              </a:defRPr>
            </a:defPPr>
            <a:lvl1pPr>
              <a:defRPr sz="3300" b="1">
                <a:solidFill>
                  <a:srgbClr val="123F5D"/>
                </a:solidFill>
                <a:latin typeface="Arial"/>
                <a:ea typeface="Arial"/>
                <a:cs typeface="Arial"/>
              </a:defRPr>
            </a:lvl1pPr>
            <a:lvl2pPr>
              <a:defRPr sz="3300" b="1">
                <a:solidFill>
                  <a:srgbClr val="123F5D"/>
                </a:solidFill>
                <a:latin typeface="Arial"/>
                <a:ea typeface="Arial"/>
                <a:cs typeface="Arial"/>
              </a:defRPr>
            </a:lvl2pPr>
            <a:lvl3pPr>
              <a:defRPr sz="3300" b="1">
                <a:solidFill>
                  <a:srgbClr val="123F5D"/>
                </a:solidFill>
                <a:latin typeface="Arial"/>
                <a:ea typeface="Arial"/>
                <a:cs typeface="Arial"/>
              </a:defRPr>
            </a:lvl3pPr>
            <a:lvl4pPr>
              <a:defRPr sz="3300" b="1">
                <a:solidFill>
                  <a:srgbClr val="123F5D"/>
                </a:solidFill>
                <a:latin typeface="Arial"/>
                <a:ea typeface="Arial"/>
                <a:cs typeface="Arial"/>
              </a:defRPr>
            </a:lvl4pPr>
            <a:lvl5pPr>
              <a:defRPr sz="3300" b="1">
                <a:solidFill>
                  <a:srgbClr val="123F5D"/>
                </a:solidFill>
                <a:latin typeface="Arial"/>
                <a:ea typeface="Arial"/>
                <a:cs typeface="Arial"/>
              </a:defRPr>
            </a:lvl5pPr>
            <a:lvl6pPr>
              <a:defRPr sz="3300" b="1">
                <a:solidFill>
                  <a:srgbClr val="123F5D"/>
                </a:solidFill>
                <a:latin typeface="Arial"/>
                <a:ea typeface="Arial"/>
                <a:cs typeface="Arial"/>
              </a:defRPr>
            </a:lvl6pPr>
            <a:lvl7pPr>
              <a:defRPr sz="3300" b="1">
                <a:solidFill>
                  <a:srgbClr val="123F5D"/>
                </a:solidFill>
                <a:latin typeface="Arial"/>
                <a:ea typeface="Arial"/>
                <a:cs typeface="Arial"/>
              </a:defRPr>
            </a:lvl7pPr>
            <a:lvl8pPr>
              <a:defRPr sz="3300" b="1">
                <a:solidFill>
                  <a:srgbClr val="123F5D"/>
                </a:solidFill>
                <a:latin typeface="Arial"/>
                <a:ea typeface="Arial"/>
                <a:cs typeface="Arial"/>
              </a:defRPr>
            </a:lvl8pPr>
            <a:lvl9pPr>
              <a:defRPr sz="3300" b="1">
                <a:solidFill>
                  <a:srgbClr val="123F5D"/>
                </a:solidFill>
                <a:latin typeface="Arial"/>
                <a:ea typeface="Arial"/>
                <a:cs typeface="Arial"/>
              </a:defRPr>
            </a:lvl9pPr>
          </a:lstStyle>
          <a:p xmlns:a="http://schemas.openxmlformats.org/drawingml/2006/main">
            <a:pPr>
              <a:defRPr sz="3300" b="1">
                <a:solidFill>
                  <a:srgbClr val="123F5D"/>
                </a:solidFill>
                <a:latin typeface="Arial"/>
                <a:ea typeface="Arial"/>
                <a:cs typeface="Arial"/>
              </a:defRPr>
            </a:pPr>
            <a:r>
              <a:rPr sz="3300" b="1">
                <a:solidFill>
                  <a:srgbClr val="123F5D"/>
                </a:solidFill>
                <a:latin typeface="Arial"/>
                <a:ea typeface="Arial"/>
                <a:cs typeface="Arial"/>
              </a:rPr>
              <a:t>Uso pretendido e limitações</a:t>
            </a:r>
          </a:p>
        </p:txBody>
      </p:sp>
      <p:sp>
        <p:nvSpPr>
          <p:cNvPr id="2" name="">
            <a:extLst xmlns:a="http://schemas.openxmlformats.org/drawingml/2006/main">
              <a:ext uri="{FF2B5EF4-FFF2-40B4-BE49-F238E27FC236}">
                <a16:creationId xmlns:a16="http://schemas.microsoft.com/office/drawing/2014/main" id="{DD8FB0CC-C9A6-4C5D-908A-2857FD1B9FDF}"/>
              </a:ext>
            </a:extLst>
          </p:cNvPr>
          <p:cNvSpPr>
            <a:spLocks xmlns:a="http://schemas.openxmlformats.org/drawingml/2006/main" noGrp="1"/>
          </p:cNvSpPr>
          <p:nvPr/>
        </p:nvSpPr>
        <p:spPr>
          <a:xfrm xmlns:a="http://schemas.openxmlformats.org/drawingml/2006/main">
            <a:off x="609600" y="623887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Daniel Gil | 1 minuto</a:t>
            </a:r>
          </a:p>
        </p:txBody>
      </p:sp>
      <p:sp>
        <p:nvSpPr>
          <p:cNvPr id="3" name="">
            <a:extLst xmlns:a="http://schemas.openxmlformats.org/drawingml/2006/main">
              <a:ext uri="{FF2B5EF4-FFF2-40B4-BE49-F238E27FC236}">
                <a16:creationId xmlns:a16="http://schemas.microsoft.com/office/drawing/2014/main" id="{0B1EEBAC-3470-4A16-A7CC-6E194DABE2A1}"/>
              </a:ext>
            </a:extLst>
          </p:cNvPr>
          <p:cNvSpPr>
            <a:spLocks xmlns:a="http://schemas.openxmlformats.org/drawingml/2006/main" noGrp="1"/>
          </p:cNvSpPr>
          <p:nvPr/>
        </p:nvSpPr>
        <p:spPr>
          <a:xfrm xmlns:a="http://schemas.openxmlformats.org/drawingml/2006/main">
            <a:off x="11144250" y="62388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B"/>
                </a:solidFill>
                <a:latin typeface="Arial"/>
                <a:ea typeface="Arial"/>
                <a:cs typeface="Arial"/>
              </a:defRPr>
            </a:defPPr>
            <a:lvl1pPr>
              <a:defRPr sz="1350" b="0">
                <a:solidFill>
                  <a:srgbClr val="52616B"/>
                </a:solidFill>
                <a:latin typeface="Arial"/>
                <a:ea typeface="Arial"/>
                <a:cs typeface="Arial"/>
              </a:defRPr>
            </a:lvl1pPr>
            <a:lvl2pPr>
              <a:defRPr sz="1350" b="0">
                <a:solidFill>
                  <a:srgbClr val="52616B"/>
                </a:solidFill>
                <a:latin typeface="Arial"/>
                <a:ea typeface="Arial"/>
                <a:cs typeface="Arial"/>
              </a:defRPr>
            </a:lvl2pPr>
            <a:lvl3pPr>
              <a:defRPr sz="1350" b="0">
                <a:solidFill>
                  <a:srgbClr val="52616B"/>
                </a:solidFill>
                <a:latin typeface="Arial"/>
                <a:ea typeface="Arial"/>
                <a:cs typeface="Arial"/>
              </a:defRPr>
            </a:lvl3pPr>
            <a:lvl4pPr>
              <a:defRPr sz="1350" b="0">
                <a:solidFill>
                  <a:srgbClr val="52616B"/>
                </a:solidFill>
                <a:latin typeface="Arial"/>
                <a:ea typeface="Arial"/>
                <a:cs typeface="Arial"/>
              </a:defRPr>
            </a:lvl4pPr>
            <a:lvl5pPr>
              <a:defRPr sz="1350" b="0">
                <a:solidFill>
                  <a:srgbClr val="52616B"/>
                </a:solidFill>
                <a:latin typeface="Arial"/>
                <a:ea typeface="Arial"/>
                <a:cs typeface="Arial"/>
              </a:defRPr>
            </a:lvl5pPr>
            <a:lvl6pPr>
              <a:defRPr sz="1350" b="0">
                <a:solidFill>
                  <a:srgbClr val="52616B"/>
                </a:solidFill>
                <a:latin typeface="Arial"/>
                <a:ea typeface="Arial"/>
                <a:cs typeface="Arial"/>
              </a:defRPr>
            </a:lvl6pPr>
            <a:lvl7pPr>
              <a:defRPr sz="1350" b="0">
                <a:solidFill>
                  <a:srgbClr val="52616B"/>
                </a:solidFill>
                <a:latin typeface="Arial"/>
                <a:ea typeface="Arial"/>
                <a:cs typeface="Arial"/>
              </a:defRPr>
            </a:lvl7pPr>
            <a:lvl8pPr>
              <a:defRPr sz="1350" b="0">
                <a:solidFill>
                  <a:srgbClr val="52616B"/>
                </a:solidFill>
                <a:latin typeface="Arial"/>
                <a:ea typeface="Arial"/>
                <a:cs typeface="Arial"/>
              </a:defRPr>
            </a:lvl8pPr>
            <a:lvl9pPr>
              <a:defRPr sz="1350" b="0">
                <a:solidFill>
                  <a:srgbClr val="52616B"/>
                </a:solidFill>
                <a:latin typeface="Arial"/>
                <a:ea typeface="Arial"/>
                <a:cs typeface="Arial"/>
              </a:defRPr>
            </a:lvl9pPr>
          </a:lstStyle>
          <a:p xmlns:a="http://schemas.openxmlformats.org/drawingml/2006/main">
            <a:pPr>
              <a:defRPr sz="1350" b="0">
                <a:solidFill>
                  <a:srgbClr val="52616B"/>
                </a:solidFill>
                <a:latin typeface="Arial"/>
                <a:ea typeface="Arial"/>
                <a:cs typeface="Arial"/>
              </a:defRPr>
            </a:pPr>
            <a:r>
              <a:rPr sz="1350" b="0">
                <a:solidFill>
                  <a:srgbClr val="52616B"/>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B7A4807E-A86B-4252-9477-344525323C96}"/>
              </a:ext>
            </a:extLst>
          </p:cNvPr>
          <p:cNvSpPr>
            <a:spLocks xmlns:a="http://schemas.openxmlformats.org/drawingml/2006/main" noGrp="1"/>
          </p:cNvSpPr>
          <p:nvPr/>
        </p:nvSpPr>
        <p:spPr>
          <a:xfrm xmlns:a="http://schemas.openxmlformats.org/drawingml/2006/main">
            <a:off x="609600" y="157162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57C80"/>
                </a:solidFill>
                <a:latin typeface="Arial"/>
                <a:ea typeface="Arial"/>
                <a:cs typeface="Arial"/>
              </a:defRPr>
            </a:defPPr>
            <a:lvl1pPr>
              <a:defRPr sz="2700" b="1">
                <a:solidFill>
                  <a:srgbClr val="157C80"/>
                </a:solidFill>
                <a:latin typeface="Arial"/>
                <a:ea typeface="Arial"/>
                <a:cs typeface="Arial"/>
              </a:defRPr>
            </a:lvl1pPr>
            <a:lvl2pPr>
              <a:defRPr sz="2700" b="1">
                <a:solidFill>
                  <a:srgbClr val="157C80"/>
                </a:solidFill>
                <a:latin typeface="Arial"/>
                <a:ea typeface="Arial"/>
                <a:cs typeface="Arial"/>
              </a:defRPr>
            </a:lvl2pPr>
            <a:lvl3pPr>
              <a:defRPr sz="2700" b="1">
                <a:solidFill>
                  <a:srgbClr val="157C80"/>
                </a:solidFill>
                <a:latin typeface="Arial"/>
                <a:ea typeface="Arial"/>
                <a:cs typeface="Arial"/>
              </a:defRPr>
            </a:lvl3pPr>
            <a:lvl4pPr>
              <a:defRPr sz="2700" b="1">
                <a:solidFill>
                  <a:srgbClr val="157C80"/>
                </a:solidFill>
                <a:latin typeface="Arial"/>
                <a:ea typeface="Arial"/>
                <a:cs typeface="Arial"/>
              </a:defRPr>
            </a:lvl4pPr>
            <a:lvl5pPr>
              <a:defRPr sz="2700" b="1">
                <a:solidFill>
                  <a:srgbClr val="157C80"/>
                </a:solidFill>
                <a:latin typeface="Arial"/>
                <a:ea typeface="Arial"/>
                <a:cs typeface="Arial"/>
              </a:defRPr>
            </a:lvl5pPr>
            <a:lvl6pPr>
              <a:defRPr sz="2700" b="1">
                <a:solidFill>
                  <a:srgbClr val="157C80"/>
                </a:solidFill>
                <a:latin typeface="Arial"/>
                <a:ea typeface="Arial"/>
                <a:cs typeface="Arial"/>
              </a:defRPr>
            </a:lvl6pPr>
            <a:lvl7pPr>
              <a:defRPr sz="2700" b="1">
                <a:solidFill>
                  <a:srgbClr val="157C80"/>
                </a:solidFill>
                <a:latin typeface="Arial"/>
                <a:ea typeface="Arial"/>
                <a:cs typeface="Arial"/>
              </a:defRPr>
            </a:lvl7pPr>
            <a:lvl8pPr>
              <a:defRPr sz="2700" b="1">
                <a:solidFill>
                  <a:srgbClr val="157C80"/>
                </a:solidFill>
                <a:latin typeface="Arial"/>
                <a:ea typeface="Arial"/>
                <a:cs typeface="Arial"/>
              </a:defRPr>
            </a:lvl8pPr>
            <a:lvl9pPr>
              <a:defRPr sz="2700" b="1">
                <a:solidFill>
                  <a:srgbClr val="157C80"/>
                </a:solidFill>
                <a:latin typeface="Arial"/>
                <a:ea typeface="Arial"/>
                <a:cs typeface="Arial"/>
              </a:defRPr>
            </a:lvl9pPr>
          </a:lstStyle>
          <a:p xmlns:a="http://schemas.openxmlformats.org/drawingml/2006/main">
            <a:pPr>
              <a:defRPr sz="2700" b="1">
                <a:solidFill>
                  <a:srgbClr val="157C80"/>
                </a:solidFill>
                <a:latin typeface="Arial"/>
                <a:ea typeface="Arial"/>
                <a:cs typeface="Arial"/>
              </a:defRPr>
            </a:pPr>
            <a:r>
              <a:rPr sz="2700" b="1">
                <a:solidFill>
                  <a:srgbClr val="157C80"/>
                </a:solidFill>
                <a:latin typeface="Arial"/>
                <a:ea typeface="Arial"/>
                <a:cs typeface="Arial"/>
              </a:rPr>
              <a:t>Demonstração de caracteres isolados, com revisão humana.</a:t>
            </a:r>
          </a:p>
        </p:txBody>
      </p:sp>
      <p:sp>
        <p:nvSpPr>
          <p:cNvPr id="5" name="">
            <a:extLst xmlns:a="http://schemas.openxmlformats.org/drawingml/2006/main">
              <a:ext uri="{FF2B5EF4-FFF2-40B4-BE49-F238E27FC236}">
                <a16:creationId xmlns:a16="http://schemas.microsoft.com/office/drawing/2014/main" id="{844FDADD-6940-4BA8-B6B5-163726DC29C6}"/>
              </a:ext>
            </a:extLst>
          </p:cNvPr>
          <p:cNvSpPr>
            <a:spLocks xmlns:a="http://schemas.openxmlformats.org/drawingml/2006/main" noGrp="1"/>
          </p:cNvSpPr>
          <p:nvPr/>
        </p:nvSpPr>
        <p:spPr>
          <a:xfrm xmlns:a="http://schemas.openxmlformats.org/drawingml/2006/main">
            <a:off x="609600" y="2800350"/>
            <a:ext cx="10858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43746"/>
                </a:solidFill>
                <a:latin typeface="Arial"/>
                <a:ea typeface="Arial"/>
                <a:cs typeface="Arial"/>
              </a:defRPr>
            </a:defPPr>
            <a:lvl1pPr>
              <a:defRPr sz="2325" b="0">
                <a:solidFill>
                  <a:srgbClr val="243746"/>
                </a:solidFill>
                <a:latin typeface="Arial"/>
                <a:ea typeface="Arial"/>
                <a:cs typeface="Arial"/>
              </a:defRPr>
            </a:lvl1pPr>
            <a:lvl2pPr>
              <a:defRPr sz="2325" b="0">
                <a:solidFill>
                  <a:srgbClr val="243746"/>
                </a:solidFill>
                <a:latin typeface="Arial"/>
                <a:ea typeface="Arial"/>
                <a:cs typeface="Arial"/>
              </a:defRPr>
            </a:lvl2pPr>
            <a:lvl3pPr>
              <a:defRPr sz="2325" b="0">
                <a:solidFill>
                  <a:srgbClr val="243746"/>
                </a:solidFill>
                <a:latin typeface="Arial"/>
                <a:ea typeface="Arial"/>
                <a:cs typeface="Arial"/>
              </a:defRPr>
            </a:lvl3pPr>
            <a:lvl4pPr>
              <a:defRPr sz="2325" b="0">
                <a:solidFill>
                  <a:srgbClr val="243746"/>
                </a:solidFill>
                <a:latin typeface="Arial"/>
                <a:ea typeface="Arial"/>
                <a:cs typeface="Arial"/>
              </a:defRPr>
            </a:lvl4pPr>
            <a:lvl5pPr>
              <a:defRPr sz="2325" b="0">
                <a:solidFill>
                  <a:srgbClr val="243746"/>
                </a:solidFill>
                <a:latin typeface="Arial"/>
                <a:ea typeface="Arial"/>
                <a:cs typeface="Arial"/>
              </a:defRPr>
            </a:lvl5pPr>
            <a:lvl6pPr>
              <a:defRPr sz="2325" b="0">
                <a:solidFill>
                  <a:srgbClr val="243746"/>
                </a:solidFill>
                <a:latin typeface="Arial"/>
                <a:ea typeface="Arial"/>
                <a:cs typeface="Arial"/>
              </a:defRPr>
            </a:lvl6pPr>
            <a:lvl7pPr>
              <a:defRPr sz="2325" b="0">
                <a:solidFill>
                  <a:srgbClr val="243746"/>
                </a:solidFill>
                <a:latin typeface="Arial"/>
                <a:ea typeface="Arial"/>
                <a:cs typeface="Arial"/>
              </a:defRPr>
            </a:lvl7pPr>
            <a:lvl8pPr>
              <a:defRPr sz="2325" b="0">
                <a:solidFill>
                  <a:srgbClr val="243746"/>
                </a:solidFill>
                <a:latin typeface="Arial"/>
                <a:ea typeface="Arial"/>
                <a:cs typeface="Arial"/>
              </a:defRPr>
            </a:lvl8pPr>
            <a:lvl9pPr>
              <a:defRPr sz="2325" b="0">
                <a:solidFill>
                  <a:srgbClr val="243746"/>
                </a:solidFill>
                <a:latin typeface="Arial"/>
                <a:ea typeface="Arial"/>
                <a:cs typeface="Arial"/>
              </a:defRPr>
            </a:lvl9pPr>
          </a:lstStyle>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0/O: pixels idênticos, rótulos conflitantes.</a:t>
            </a:r>
          </a:p>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Poucos exemplos por classe e uma única divisão.</a:t>
            </a:r>
          </a:p>
          <a:p xmlns:a="http://schemas.openxmlformats.org/drawingml/2006/main">
            <a:pPr>
              <a:defRPr sz="2325" b="0">
                <a:solidFill>
                  <a:srgbClr val="243746"/>
                </a:solidFill>
                <a:latin typeface="Arial"/>
                <a:ea typeface="Arial"/>
                <a:cs typeface="Arial"/>
              </a:defRPr>
            </a:pPr>
            <a:r>
              <a:rPr sz="2325" b="0">
                <a:solidFill>
                  <a:srgbClr val="243746"/>
                </a:solidFill>
                <a:latin typeface="Arial"/>
                <a:ea typeface="Arial"/>
                <a:cs typeface="Arial"/>
              </a:rPr>
              <a:t>Sem avaliação em fotografias, placas ou documentos reais.</a:t>
            </a:r>
          </a:p>
        </p:txBody>
      </p:sp>
      <p:sp>
        <p:nvSpPr>
          <p:cNvPr id="6" name="">
            <a:extLst xmlns:a="http://schemas.openxmlformats.org/drawingml/2006/main">
              <a:ext uri="{FF2B5EF4-FFF2-40B4-BE49-F238E27FC236}">
                <a16:creationId xmlns:a16="http://schemas.microsoft.com/office/drawing/2014/main" id="{C637AF2E-FFFF-4616-A125-9A8158E5F4D6}"/>
              </a:ext>
            </a:extLst>
          </p:cNvPr>
          <p:cNvSpPr>
            <a:spLocks xmlns:a="http://schemas.openxmlformats.org/drawingml/2006/main" noGrp="1"/>
          </p:cNvSpPr>
          <p:nvPr/>
        </p:nvSpPr>
        <p:spPr>
          <a:xfrm xmlns:a="http://schemas.openxmlformats.org/drawingml/2006/main">
            <a:off x="609600" y="5000625"/>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F5D"/>
                </a:solidFill>
                <a:latin typeface="Arial"/>
                <a:ea typeface="Arial"/>
                <a:cs typeface="Arial"/>
              </a:defRPr>
            </a:defPPr>
            <a:lvl1pPr>
              <a:defRPr sz="2100" b="0">
                <a:solidFill>
                  <a:srgbClr val="123F5D"/>
                </a:solidFill>
                <a:latin typeface="Arial"/>
                <a:ea typeface="Arial"/>
                <a:cs typeface="Arial"/>
              </a:defRPr>
            </a:lvl1pPr>
            <a:lvl2pPr>
              <a:defRPr sz="2100" b="0">
                <a:solidFill>
                  <a:srgbClr val="123F5D"/>
                </a:solidFill>
                <a:latin typeface="Arial"/>
                <a:ea typeface="Arial"/>
                <a:cs typeface="Arial"/>
              </a:defRPr>
            </a:lvl2pPr>
            <a:lvl3pPr>
              <a:defRPr sz="2100" b="0">
                <a:solidFill>
                  <a:srgbClr val="123F5D"/>
                </a:solidFill>
                <a:latin typeface="Arial"/>
                <a:ea typeface="Arial"/>
                <a:cs typeface="Arial"/>
              </a:defRPr>
            </a:lvl3pPr>
            <a:lvl4pPr>
              <a:defRPr sz="2100" b="0">
                <a:solidFill>
                  <a:srgbClr val="123F5D"/>
                </a:solidFill>
                <a:latin typeface="Arial"/>
                <a:ea typeface="Arial"/>
                <a:cs typeface="Arial"/>
              </a:defRPr>
            </a:lvl4pPr>
            <a:lvl5pPr>
              <a:defRPr sz="2100" b="0">
                <a:solidFill>
                  <a:srgbClr val="123F5D"/>
                </a:solidFill>
                <a:latin typeface="Arial"/>
                <a:ea typeface="Arial"/>
                <a:cs typeface="Arial"/>
              </a:defRPr>
            </a:lvl5pPr>
            <a:lvl6pPr>
              <a:defRPr sz="2100" b="0">
                <a:solidFill>
                  <a:srgbClr val="123F5D"/>
                </a:solidFill>
                <a:latin typeface="Arial"/>
                <a:ea typeface="Arial"/>
                <a:cs typeface="Arial"/>
              </a:defRPr>
            </a:lvl6pPr>
            <a:lvl7pPr>
              <a:defRPr sz="2100" b="0">
                <a:solidFill>
                  <a:srgbClr val="123F5D"/>
                </a:solidFill>
                <a:latin typeface="Arial"/>
                <a:ea typeface="Arial"/>
                <a:cs typeface="Arial"/>
              </a:defRPr>
            </a:lvl7pPr>
            <a:lvl8pPr>
              <a:defRPr sz="2100" b="0">
                <a:solidFill>
                  <a:srgbClr val="123F5D"/>
                </a:solidFill>
                <a:latin typeface="Arial"/>
                <a:ea typeface="Arial"/>
                <a:cs typeface="Arial"/>
              </a:defRPr>
            </a:lvl8pPr>
            <a:lvl9pPr>
              <a:defRPr sz="2100" b="0">
                <a:solidFill>
                  <a:srgbClr val="123F5D"/>
                </a:solidFill>
                <a:latin typeface="Arial"/>
                <a:ea typeface="Arial"/>
                <a:cs typeface="Arial"/>
              </a:defRPr>
            </a:lvl9pPr>
          </a:lstStyle>
          <a:p xmlns:a="http://schemas.openxmlformats.org/drawingml/2006/main">
            <a:pPr>
              <a:defRPr sz="2100" b="0">
                <a:solidFill>
                  <a:srgbClr val="123F5D"/>
                </a:solidFill>
                <a:latin typeface="Arial"/>
                <a:ea typeface="Arial"/>
                <a:cs typeface="Arial"/>
              </a:defRPr>
            </a:pPr>
            <a:r>
              <a:rPr sz="2100" b="0">
                <a:solidFill>
                  <a:srgbClr val="123F5D"/>
                </a:solidFill>
                <a:latin typeface="Arial"/>
                <a:ea typeface="Arial"/>
                <a:cs typeface="Arial"/>
              </a:rPr>
              <a:t>Próximo passo: validar em dados externos e medir quando o modelo</a:t>
            </a:r>
          </a:p>
          <a:p xmlns:a="http://schemas.openxmlformats.org/drawingml/2006/main">
            <a:pPr>
              <a:defRPr sz="2100" b="0">
                <a:solidFill>
                  <a:srgbClr val="123F5D"/>
                </a:solidFill>
                <a:latin typeface="Arial"/>
                <a:ea typeface="Arial"/>
                <a:cs typeface="Arial"/>
              </a:defRPr>
            </a:pPr>
            <a:r>
              <a:rPr sz="2100" b="0">
                <a:solidFill>
                  <a:srgbClr val="123F5D"/>
                </a:solidFill>
                <a:latin typeface="Arial"/>
                <a:ea typeface="Arial"/>
                <a:cs typeface="Arial"/>
              </a:rPr>
              <a:t>deve se abster, antes de propor qualquer aplicação operacional.</a:t>
            </a:r>
          </a:p>
        </p:txBody>
      </p:sp>
    </p:spTree>
    <p:extLst>
      <p:ext uri="{BB962C8B-B14F-4D97-AF65-F5344CB8AC3E}">
        <p14:creationId xmlns:p14="http://schemas.microsoft.com/office/powerpoint/2010/main" val="8844076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2026-10-19T14:02:28.6130000Z</dcterms:created>
  <dcterms:modified xsi:type="dcterms:W3CDTF">2026-10-19T14:02:28.6140000Z</dcterms:modified>
</coreProperties>
</file>