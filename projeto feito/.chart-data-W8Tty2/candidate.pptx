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e912c743ed74b31" /><Relationship Type="http://schemas.openxmlformats.org/officeDocument/2006/relationships/extended-properties" Target="/docProps/app.xml" Id="Rd360e3ebdc47407a" /><Relationship Type="http://schemas.openxmlformats.org/officeDocument/2006/relationships/officeDocument" Target="/ppt/presentation.xml" Id="Rfed530991e44434a" /></Relationships>
</file>

<file path=ppt/presentation.xml><?xml version="1.0" encoding="utf-8"?>
<p:presentation xmlns:p="http://schemas.openxmlformats.org/presentationml/2006/main">
  <p:sldMasterIdLst>
    <p:sldMasterId xmlns:r="http://schemas.openxmlformats.org/officeDocument/2006/relationships" id="2147483648" r:id="Re6d22a0d341d4e5e"/>
  </p:sldMasterIdLst>
  <p:notesMasterIdLst>
    <p:notesMasterId xmlns:r="http://schemas.openxmlformats.org/officeDocument/2006/relationships" r:id="R61d14f2c621d4c73"/>
  </p:notesMasterIdLst>
  <p:sldIdLst>
    <p:sldId xmlns:r="http://schemas.openxmlformats.org/officeDocument/2006/relationships" id="256" r:id="R5739f9c4471e4fe9"/>
    <p:sldId xmlns:r="http://schemas.openxmlformats.org/officeDocument/2006/relationships" id="257" r:id="Ra3ee7aa856754e38"/>
    <p:sldId xmlns:r="http://schemas.openxmlformats.org/officeDocument/2006/relationships" id="258" r:id="R297e4ad88cd44dec"/>
    <p:sldId xmlns:r="http://schemas.openxmlformats.org/officeDocument/2006/relationships" id="259" r:id="Rc6074c8507f74d45"/>
    <p:sldId xmlns:r="http://schemas.openxmlformats.org/officeDocument/2006/relationships" id="260" r:id="R975f596d3dad4463"/>
    <p:sldId xmlns:r="http://schemas.openxmlformats.org/officeDocument/2006/relationships" id="261" r:id="R8c3edec9244d47ef"/>
    <p:sldId xmlns:r="http://schemas.openxmlformats.org/officeDocument/2006/relationships" id="262" r:id="R1fb1fe7708e64744"/>
    <p:sldId xmlns:r="http://schemas.openxmlformats.org/officeDocument/2006/relationships" id="263" r:id="R7bd8d7cba83149b0"/>
    <p:sldId xmlns:r="http://schemas.openxmlformats.org/officeDocument/2006/relationships" id="264" r:id="Rd770974f81694e06"/>
    <p:sldId xmlns:r="http://schemas.openxmlformats.org/officeDocument/2006/relationships" id="265" r:id="Rd1ccef0350254a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68f6a7b5f44311" /><Relationship Type="http://schemas.openxmlformats.org/officeDocument/2006/relationships/slideMaster" Target="/ppt/slideMasters/slideMaster1.xml" Id="Re6d22a0d341d4e5e" /><Relationship Type="http://schemas.openxmlformats.org/officeDocument/2006/relationships/notesMaster" Target="/ppt/notesMasters/notesMaster1.xml" Id="R61d14f2c621d4c73" /><Relationship Type="http://schemas.openxmlformats.org/officeDocument/2006/relationships/presProps" Target="/ppt/presProps.xml" Id="Rf322e343f3434e33" /><Relationship Type="http://schemas.openxmlformats.org/officeDocument/2006/relationships/tableStyles" Target="/ppt/tableStyles.xml" Id="R086e82aa785342a5" /><Relationship Type="http://schemas.openxmlformats.org/officeDocument/2006/relationships/slide" Target="/ppt/slides/slide1.xml" Id="R5739f9c4471e4fe9" /><Relationship Type="http://schemas.openxmlformats.org/officeDocument/2006/relationships/slide" Target="/ppt/slides/slide2.xml" Id="Ra3ee7aa856754e38" /><Relationship Type="http://schemas.openxmlformats.org/officeDocument/2006/relationships/slide" Target="/ppt/slides/slide3.xml" Id="R297e4ad88cd44dec" /><Relationship Type="http://schemas.openxmlformats.org/officeDocument/2006/relationships/slide" Target="/ppt/slides/slide4.xml" Id="Rc6074c8507f74d45" /><Relationship Type="http://schemas.openxmlformats.org/officeDocument/2006/relationships/slide" Target="/ppt/slides/slide5.xml" Id="R975f596d3dad4463" /><Relationship Type="http://schemas.openxmlformats.org/officeDocument/2006/relationships/slide" Target="/ppt/slides/slide6.xml" Id="R8c3edec9244d47ef" /><Relationship Type="http://schemas.openxmlformats.org/officeDocument/2006/relationships/slide" Target="/ppt/slides/slide7.xml" Id="R1fb1fe7708e64744" /><Relationship Type="http://schemas.openxmlformats.org/officeDocument/2006/relationships/slide" Target="/ppt/slides/slide8.xml" Id="R7bd8d7cba83149b0" /><Relationship Type="http://schemas.openxmlformats.org/officeDocument/2006/relationships/slide" Target="/ppt/slides/slide9.xml" Id="Rd770974f81694e06" /><Relationship Type="http://schemas.openxmlformats.org/officeDocument/2006/relationships/slide" Target="/ppt/slides/slide10.xml" Id="Rd1ccef0350254a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181d8d86674e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632ae8de1a4445" /><Relationship Type="http://schemas.openxmlformats.org/officeDocument/2006/relationships/notesMaster" Target="/ppt/notesMasters/notesMaster1.xml" Id="R3ee6522b3ea349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e7bceca69f48b5" /><Relationship Type="http://schemas.openxmlformats.org/officeDocument/2006/relationships/notesMaster" Target="/ppt/notesMasters/notesMaster1.xml" Id="R6ce9507138df4a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12ef4222e54bd4" /><Relationship Type="http://schemas.openxmlformats.org/officeDocument/2006/relationships/notesMaster" Target="/ppt/notesMasters/notesMaster1.xml" Id="R36f06c792ec34f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1d8a954a1c41f8" /><Relationship Type="http://schemas.openxmlformats.org/officeDocument/2006/relationships/notesMaster" Target="/ppt/notesMasters/notesMaster1.xml" Id="R5323efa82b6a44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2240afd476457f" /><Relationship Type="http://schemas.openxmlformats.org/officeDocument/2006/relationships/notesMaster" Target="/ppt/notesMasters/notesMaster1.xml" Id="Rac847f89de5148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a24e6a4df44fde" /><Relationship Type="http://schemas.openxmlformats.org/officeDocument/2006/relationships/notesMaster" Target="/ppt/notesMasters/notesMaster1.xml" Id="R1a75538d88644a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39c73c787e4ac1" /><Relationship Type="http://schemas.openxmlformats.org/officeDocument/2006/relationships/notesMaster" Target="/ppt/notesMasters/notesMaster1.xml" Id="R1ed46cabef4e40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2cc2e73e4949b8" /><Relationship Type="http://schemas.openxmlformats.org/officeDocument/2006/relationships/notesMaster" Target="/ppt/notesMasters/notesMaster1.xml" Id="R6ab35dd9334d47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70f6c1ee274f5a" /><Relationship Type="http://schemas.openxmlformats.org/officeDocument/2006/relationships/notesMaster" Target="/ppt/notesMasters/notesMaster1.xml" Id="R68096926653c45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15aeaf20da4704" /><Relationship Type="http://schemas.openxmlformats.org/officeDocument/2006/relationships/notesMaster" Target="/ppt/notesMasters/notesMaster1.xml" Id="Rda65562743e542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Bruno Groppo, 1 minuto. Abrir com o problema: um caractere binário isolado entra, uma classe sai. Explicar que não se trata de um leitor completo de placas. Fonte: respostas das sessões e Descrição do Projeto.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classificação multiclasse e por que uma CNN pode aprender traços. Baseline: frequência calculada no treino, empate resolvido pelo menor índice (0). Fonte: experimento.py, validacao.json. Não afirmar que basta superar um baseline constante para provar superioridade a outros métodos.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alguns caracteres e explicar 1.404 imagens, 39 por classe e um canal. Fonte: https://www.tensorflow.org/datasets/catalog/binary_alpha_digits ; https://cs.nyu.edu/home/people/in_memoriam/roweis/data.html . Os exemplos vêm apenas do treino, figura amostras.png.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auditoria encontrou 1.363 imagens únicas, 39 grupos repetidos e 38 grupos conflitantes 0/O. Todas as imagens de 0 coincidem com O. Agrupar pelo hash antes de separar impede vazamento de cópias. Grupos são estratificados pela combinação de rótulos, seed 42. Fonte: auditoria.json, contagens.json, duplicatas.json. Sem escritor identificado, não garantimos independência por pessoa.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convolução, filtro compartilhado, pooling, Flatten e Dense. A dimensão do lote fica fora do input_shape. Conv2D usa padding same. Fontes: aula4 pp. PDF 129-140, aula5 p. PDF 49, experimento.py e CNN_Dropout_arquitetura.txt.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Sparse categorical crossentropy combina rótulo inteiro com saída softmax. Adam ajusta os pesos. EarlyStopping restaura a menor val_loss. A acurácia de validação escolhe a rede entre as configurações. Fontes: aula3 pp. PDF 50-64, aula5, https://keras.io/api/callbacks/early_stopping/ , configuracao.json.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Comparação feita nos mesmos 217 registros de validação. CNN inicial 160 acertos, CNN Dropout 168. Ganho de oito acertos, 3,69 pontos percentuais. Não houve teste de significância nem múltiplas sementes. Fonte: validacao.json.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gráficos têm todas as épocas, com eixos numéricos. Valores arredondados a seis casas para compatibilidade com a planilha incorporada. CNN inicial: menor val_loss 0,840 na época 10, parou em 20. Dropout: 0,689 na época 29, parou em 39. Mesmo com Dropout há separação entre treino e validação. Não confundir menor val_loss com maior val_accuracy. Fonte: historicos.json e execucoes.json.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Somente baseline e CNN selecionada foram avaliados no teste. CNN Dropout: accuracy 82,41%, macro-F1 0,817. Matriz completa no relatório. O foi previsto como 0 em quatro casos; S como 5 em dois. O recall de O é 1/6, e K e S 3/6. A ambiguidade 0/O impõe pelo menos seis erros no teste. Fontes: teste.json, metricas_por_classe.json, principais_confusoes.json e previsoes_teste.npz.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Fechar com o que foi aprendido: comparação controlada e dados importam. Uso didático ou sugestão de transcrição com revisão humana. Não existe confiabilidade operacional demonstrada. Confirmar Colab limpo, aprovação do dataset e do grupo antes da entrega. Fontes: relatório seções 5 e 6; Descrição do Projeto; Modelo de Relatório.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77c689ab4e48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5a3d4eeeef45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7b1011c83544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99f4059ce749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d2d198f9be46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b54041787245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7D876C-91EA-4763-ACAA-2DB49AA3858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886CBBF-52CA-4255-B196-C216154A118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AA05F17-E572-4FF3-BD2E-C2EBDC062D1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673CA9-8052-448D-8F7E-3481A16BDE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B1E44A-0B4B-4941-88D3-6C2D5857BB4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04238D-9C79-43DB-A7AB-0A32C1DB7A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7B27C2-74C1-4762-A2C1-4693EC71E9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09E45E-E2CD-48C9-B2CB-1EF622B1C86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60744F-5633-40B8-BE6D-4DDE04CB0B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7CEDF6-A821-4C59-B525-B1BB846908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f8f71068e94df7" /><Relationship Type="http://schemas.openxmlformats.org/officeDocument/2006/relationships/slideLayout" Target="/ppt/slideLayouts/slideLayout1.xml" Id="Re7d2b5a305a44692" /><Relationship Type="http://schemas.openxmlformats.org/officeDocument/2006/relationships/slideLayout" Target="/ppt/slideLayouts/slideLayout2.xml" Id="R481df52d8e0a48de" /><Relationship Type="http://schemas.openxmlformats.org/officeDocument/2006/relationships/slideLayout" Target="/ppt/slideLayouts/slideLayout3.xml" Id="Rc2c7e594e1a449d6" /><Relationship Type="http://schemas.openxmlformats.org/officeDocument/2006/relationships/slideLayout" Target="/ppt/slideLayouts/slideLayout4.xml" Id="R464c28abc7514e4f" /><Relationship Type="http://schemas.openxmlformats.org/officeDocument/2006/relationships/slideLayout" Target="/ppt/slideLayouts/slideLayout5.xml" Id="Rcfaa8c5033794505" /><Relationship Type="http://schemas.openxmlformats.org/officeDocument/2006/relationships/slideLayout" Target="/ppt/slideLayouts/slideLayout6.xml" Id="R3b13f69d640c4d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d2b5a305a44692"/>
    <p:sldLayoutId xmlns:r="http://schemas.openxmlformats.org/officeDocument/2006/relationships" id="2147483650" r:id="R481df52d8e0a48de"/>
    <p:sldLayoutId xmlns:r="http://schemas.openxmlformats.org/officeDocument/2006/relationships" id="2147483651" r:id="Rc2c7e594e1a449d6"/>
    <p:sldLayoutId xmlns:r="http://schemas.openxmlformats.org/officeDocument/2006/relationships" id="2147483652" r:id="R464c28abc7514e4f"/>
    <p:sldLayoutId xmlns:r="http://schemas.openxmlformats.org/officeDocument/2006/relationships" id="2147483653" r:id="Rcfaa8c5033794505"/>
    <p:sldLayoutId xmlns:r="http://schemas.openxmlformats.org/officeDocument/2006/relationships" id="2147483654" r:id="R3b13f69d640c4d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569a2c0afb419d" /><Relationship Type="http://schemas.openxmlformats.org/officeDocument/2006/relationships/notesSlide" Target="/ppt/notesSlides/notesSlide1.xml" Id="R2e11d05212b947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09e6a6eb784173" /><Relationship Type="http://schemas.openxmlformats.org/officeDocument/2006/relationships/notesSlide" Target="/ppt/notesSlides/notesSlide2.xml" Id="R68dc831080ad4b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766246d4e114638" /><Relationship Type="http://schemas.openxmlformats.org/officeDocument/2006/relationships/image" Target="/ppt/media/image.png" Id="R88bfef5c100e44ac" /><Relationship Type="http://schemas.openxmlformats.org/officeDocument/2006/relationships/notesSlide" Target="/ppt/notesSlides/notesSlide3.xml" Id="Rcf08a4ae37854c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b2ff970c1c44a14" /><Relationship Type="http://schemas.openxmlformats.org/officeDocument/2006/relationships/notesSlide" Target="/ppt/notesSlides/notesSlide4.xml" Id="R48876a55140b49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7abc2a648244f2" /><Relationship Type="http://schemas.openxmlformats.org/officeDocument/2006/relationships/notesSlide" Target="/ppt/notesSlides/notesSlide5.xml" Id="R062a438163bb49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56a2b0a67c4ebc" /><Relationship Type="http://schemas.openxmlformats.org/officeDocument/2006/relationships/notesSlide" Target="/ppt/notesSlides/notesSlide6.xml" Id="R76e979551b974c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b313ab48bf4783" /><Relationship Type="http://schemas.openxmlformats.org/officeDocument/2006/relationships/chart" Target="/ppt/slides/charts/chart1.xml" Id="R7fdcc70193d04a32" /><Relationship Type="http://schemas.openxmlformats.org/officeDocument/2006/relationships/notesSlide" Target="/ppt/notesSlides/notesSlide7.xml" Id="R86643265828c48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dc090a0b564d28" /><Relationship Type="http://schemas.openxmlformats.org/officeDocument/2006/relationships/chart" Target="/ppt/slides/charts/chart2.xml" Id="R47ea45ff333146bc" /><Relationship Type="http://schemas.openxmlformats.org/officeDocument/2006/relationships/chart" Target="/ppt/slides/charts/chart3.xml" Id="Rfa4384f2ee8a45e5" /><Relationship Type="http://schemas.openxmlformats.org/officeDocument/2006/relationships/notesSlide" Target="/ppt/notesSlides/notesSlide8.xml" Id="Rf6bc98d4003545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ac3dfbc5be54103" /><Relationship Type="http://schemas.openxmlformats.org/officeDocument/2006/relationships/image" Target="/ppt/media/image2.png" Id="R688fa063510041e0" /><Relationship Type="http://schemas.openxmlformats.org/officeDocument/2006/relationships/notesSlide" Target="/ppt/notesSlides/notesSlide9.xml" Id="R7bf02071e91346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012aa859e5d40c7" /><Relationship Type="http://schemas.openxmlformats.org/officeDocument/2006/relationships/notesSlide" Target="/ppt/notesSlides/notesSlide10.xml" Id="R2febee7dfc884d2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Acurácia de validação</c:v>
          </c:tx>
          <c:spPr>
            <a:solidFill xmlns:a="http://schemas.openxmlformats.org/drawingml/2006/main">
              <a:srgbClr val="157C80"/>
            </a:solidFill>
          </c:spPr>
          <c:invertIfNegative val="0"/>
          <c:cat>
            <c:strRef>
              <c:f>'Chart Data'!$A$2:$A$5</c:f>
              <c:strCache>
                <c:ptCount val="4"/>
                <c:pt idx="0">
                  <c:v>Baseline</c:v>
                </c:pt>
                <c:pt idx="1">
                  <c:v>MLP</c:v>
                </c:pt>
                <c:pt idx="2">
                  <c:v>CNN inicial</c:v>
                </c:pt>
                <c:pt idx="3">
                  <c:v>CNN Dropout</c:v>
                </c:pt>
              </c:strCache>
            </c:strRef>
          </c:cat>
          <c:val>
            <c:numRef>
              <c:f>'Chart Data'!$B$2:$B$5</c:f>
              <c:numCache>
                <c:formatCode>0%</c:formatCode>
                <c:ptCount val="4"/>
                <c:pt idx="0">
                  <c:v>0.02765</c:v>
                </c:pt>
                <c:pt idx="1">
                  <c:v>0.714286</c:v>
                </c:pt>
                <c:pt idx="2">
                  <c:v>0.737327</c:v>
                </c:pt>
                <c:pt idx="3">
                  <c:v>0.774194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123F5D"/>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6E1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inicial</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General</c:formatCode>
                <c:ptCount val="20"/>
                <c:pt idx="0">
                  <c:v>3.533036</c:v>
                </c:pt>
                <c:pt idx="1">
                  <c:v>3.107276</c:v>
                </c:pt>
                <c:pt idx="2">
                  <c:v>2.059161</c:v>
                </c:pt>
                <c:pt idx="3">
                  <c:v>1.382007</c:v>
                </c:pt>
                <c:pt idx="4">
                  <c:v>1.070727</c:v>
                </c:pt>
                <c:pt idx="5">
                  <c:v>0.914966</c:v>
                </c:pt>
                <c:pt idx="6">
                  <c:v>0.757121</c:v>
                </c:pt>
                <c:pt idx="7">
                  <c:v>0.644661</c:v>
                </c:pt>
                <c:pt idx="8">
                  <c:v>0.575426</c:v>
                </c:pt>
                <c:pt idx="9">
                  <c:v>0.509687</c:v>
                </c:pt>
                <c:pt idx="10">
                  <c:v>0.446626</c:v>
                </c:pt>
                <c:pt idx="11">
                  <c:v>0.393586</c:v>
                </c:pt>
                <c:pt idx="12">
                  <c:v>0.371104</c:v>
                </c:pt>
                <c:pt idx="13">
                  <c:v>0.353878</c:v>
                </c:pt>
                <c:pt idx="14">
                  <c:v>0.305555</c:v>
                </c:pt>
                <c:pt idx="15">
                  <c:v>0.290675</c:v>
                </c:pt>
                <c:pt idx="16">
                  <c:v>0.231438</c:v>
                </c:pt>
                <c:pt idx="17">
                  <c:v>0.237929</c:v>
                </c:pt>
                <c:pt idx="18">
                  <c:v>0.239872</c:v>
                </c:pt>
                <c:pt idx="19">
                  <c:v>0.177598</c:v>
                </c:pt>
              </c:numCache>
            </c:numRef>
          </c:yVal>
        </c:ser>
        <c:ser>
          <c:idx val="1"/>
          <c:order val="1"/>
          <c:tx>
            <c:v>Validação</c:v>
          </c:tx>
          <c:spPr>
            <a:ln xmlns:a="http://schemas.openxmlformats.org/drawingml/2006/main" w="28575">
              <a:solidFill>
                <a:srgbClr val="D97706"/>
              </a:solidFill>
            </a:ln>
          </c:spPr>
          <c:xVal>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Data'!$D$2:$D$21</c:f>
              <c:numCache>
                <c:formatCode>General</c:formatCode>
                <c:ptCount val="20"/>
                <c:pt idx="0">
                  <c:v>3.401455</c:v>
                </c:pt>
                <c:pt idx="1">
                  <c:v>2.615923</c:v>
                </c:pt>
                <c:pt idx="2">
                  <c:v>1.764795</c:v>
                </c:pt>
                <c:pt idx="3">
                  <c:v>1.342505</c:v>
                </c:pt>
                <c:pt idx="4">
                  <c:v>1.164081</c:v>
                </c:pt>
                <c:pt idx="5">
                  <c:v>1.035412</c:v>
                </c:pt>
                <c:pt idx="6">
                  <c:v>0.993543</c:v>
                </c:pt>
                <c:pt idx="7">
                  <c:v>1.045021</c:v>
                </c:pt>
                <c:pt idx="8">
                  <c:v>0.912854</c:v>
                </c:pt>
                <c:pt idx="9">
                  <c:v>0.839741</c:v>
                </c:pt>
                <c:pt idx="10">
                  <c:v>0.875925</c:v>
                </c:pt>
                <c:pt idx="11">
                  <c:v>0.890409</c:v>
                </c:pt>
                <c:pt idx="12">
                  <c:v>0.965881</c:v>
                </c:pt>
                <c:pt idx="13">
                  <c:v>0.920663</c:v>
                </c:pt>
                <c:pt idx="14">
                  <c:v>1.022483</c:v>
                </c:pt>
                <c:pt idx="15">
                  <c:v>0.904285</c:v>
                </c:pt>
                <c:pt idx="16">
                  <c:v>0.897593</c:v>
                </c:pt>
                <c:pt idx="17">
                  <c:v>0.862526</c:v>
                </c:pt>
                <c:pt idx="18">
                  <c:v>0.942572</c:v>
                </c:pt>
                <c:pt idx="19">
                  <c:v>0.888413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5"/>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Dropout</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Data'!$B$2:$B$40</c:f>
              <c:numCache>
                <c:formatCode>General</c:formatCode>
                <c:ptCount val="39"/>
                <c:pt idx="0">
                  <c:v>3.551802</c:v>
                </c:pt>
                <c:pt idx="1">
                  <c:v>3.327293</c:v>
                </c:pt>
                <c:pt idx="2">
                  <c:v>2.77866</c:v>
                </c:pt>
                <c:pt idx="3">
                  <c:v>2.292079</c:v>
                </c:pt>
                <c:pt idx="4">
                  <c:v>1.886957</c:v>
                </c:pt>
                <c:pt idx="5">
                  <c:v>1.671787</c:v>
                </c:pt>
                <c:pt idx="6">
                  <c:v>1.456519</c:v>
                </c:pt>
                <c:pt idx="7">
                  <c:v>1.358083</c:v>
                </c:pt>
                <c:pt idx="8">
                  <c:v>1.197867</c:v>
                </c:pt>
                <c:pt idx="9">
                  <c:v>1.123148</c:v>
                </c:pt>
                <c:pt idx="10">
                  <c:v>1.069098</c:v>
                </c:pt>
                <c:pt idx="11">
                  <c:v>0.965461</c:v>
                </c:pt>
                <c:pt idx="12">
                  <c:v>0.951356</c:v>
                </c:pt>
                <c:pt idx="13">
                  <c:v>0.866504</c:v>
                </c:pt>
                <c:pt idx="14">
                  <c:v>0.795495</c:v>
                </c:pt>
                <c:pt idx="15">
                  <c:v>0.766986</c:v>
                </c:pt>
                <c:pt idx="16">
                  <c:v>0.722725</c:v>
                </c:pt>
                <c:pt idx="17">
                  <c:v>0.670898</c:v>
                </c:pt>
                <c:pt idx="18">
                  <c:v>0.64439</c:v>
                </c:pt>
                <c:pt idx="19">
                  <c:v>0.619145</c:v>
                </c:pt>
                <c:pt idx="20">
                  <c:v>0.618694</c:v>
                </c:pt>
                <c:pt idx="21">
                  <c:v>0.534751</c:v>
                </c:pt>
                <c:pt idx="22">
                  <c:v>0.488472</c:v>
                </c:pt>
                <c:pt idx="23">
                  <c:v>0.494781</c:v>
                </c:pt>
                <c:pt idx="24">
                  <c:v>0.45066</c:v>
                </c:pt>
                <c:pt idx="25">
                  <c:v>0.472498</c:v>
                </c:pt>
                <c:pt idx="26">
                  <c:v>0.40963</c:v>
                </c:pt>
                <c:pt idx="27">
                  <c:v>0.418251</c:v>
                </c:pt>
                <c:pt idx="28">
                  <c:v>0.423916</c:v>
                </c:pt>
                <c:pt idx="29">
                  <c:v>0.408229</c:v>
                </c:pt>
                <c:pt idx="30">
                  <c:v>0.305935</c:v>
                </c:pt>
                <c:pt idx="31">
                  <c:v>0.330663</c:v>
                </c:pt>
                <c:pt idx="32">
                  <c:v>0.290571</c:v>
                </c:pt>
                <c:pt idx="33">
                  <c:v>0.306968</c:v>
                </c:pt>
                <c:pt idx="34">
                  <c:v>0.311528</c:v>
                </c:pt>
                <c:pt idx="35">
                  <c:v>0.307317</c:v>
                </c:pt>
                <c:pt idx="36">
                  <c:v>0.31315</c:v>
                </c:pt>
                <c:pt idx="37">
                  <c:v>0.286059</c:v>
                </c:pt>
                <c:pt idx="38">
                  <c:v>0.30337</c:v>
                </c:pt>
              </c:numCache>
            </c:numRef>
          </c:yVal>
        </c:ser>
        <c:ser>
          <c:idx val="1"/>
          <c:order val="1"/>
          <c:tx>
            <c:v>Validação</c:v>
          </c:tx>
          <c:spPr>
            <a:ln xmlns:a="http://schemas.openxmlformats.org/drawingml/2006/main" w="28575">
              <a:solidFill>
                <a:srgbClr val="D97706"/>
              </a:solidFill>
            </a:ln>
          </c:spPr>
          <c:xVal>
            <c:numRef>
              <c:f>'Chart Data'!$C$2:$C$40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Data'!$D$2:$D$40</c:f>
              <c:numCache>
                <c:formatCode>General</c:formatCode>
                <c:ptCount val="39"/>
                <c:pt idx="0">
                  <c:v>3.461399</c:v>
                </c:pt>
                <c:pt idx="1">
                  <c:v>3.022024</c:v>
                </c:pt>
                <c:pt idx="2">
                  <c:v>2.349824</c:v>
                </c:pt>
                <c:pt idx="3">
                  <c:v>1.781806</c:v>
                </c:pt>
                <c:pt idx="4">
                  <c:v>1.41515</c:v>
                </c:pt>
                <c:pt idx="5">
                  <c:v>1.268673</c:v>
                </c:pt>
                <c:pt idx="6">
                  <c:v>1.144305</c:v>
                </c:pt>
                <c:pt idx="7">
                  <c:v>1.069531</c:v>
                </c:pt>
                <c:pt idx="8">
                  <c:v>0.945487</c:v>
                </c:pt>
                <c:pt idx="9">
                  <c:v>0.923956</c:v>
                </c:pt>
                <c:pt idx="10">
                  <c:v>0.868562</c:v>
                </c:pt>
                <c:pt idx="11">
                  <c:v>0.837732</c:v>
                </c:pt>
                <c:pt idx="12">
                  <c:v>0.847555</c:v>
                </c:pt>
                <c:pt idx="13">
                  <c:v>0.823776</c:v>
                </c:pt>
                <c:pt idx="14">
                  <c:v>0.820319</c:v>
                </c:pt>
                <c:pt idx="15">
                  <c:v>0.784939</c:v>
                </c:pt>
                <c:pt idx="16">
                  <c:v>0.7396</c:v>
                </c:pt>
                <c:pt idx="17">
                  <c:v>0.765228</c:v>
                </c:pt>
                <c:pt idx="18">
                  <c:v>0.725034</c:v>
                </c:pt>
                <c:pt idx="19">
                  <c:v>0.745818</c:v>
                </c:pt>
                <c:pt idx="20">
                  <c:v>0.715018</c:v>
                </c:pt>
                <c:pt idx="21">
                  <c:v>0.722205</c:v>
                </c:pt>
                <c:pt idx="22">
                  <c:v>0.734265</c:v>
                </c:pt>
                <c:pt idx="23">
                  <c:v>0.725213</c:v>
                </c:pt>
                <c:pt idx="24">
                  <c:v>0.716264</c:v>
                </c:pt>
                <c:pt idx="25">
                  <c:v>0.698506</c:v>
                </c:pt>
                <c:pt idx="26">
                  <c:v>0.730054</c:v>
                </c:pt>
                <c:pt idx="27">
                  <c:v>0.713747</c:v>
                </c:pt>
                <c:pt idx="28">
                  <c:v>0.688759</c:v>
                </c:pt>
                <c:pt idx="29">
                  <c:v>0.693489</c:v>
                </c:pt>
                <c:pt idx="30">
                  <c:v>0.737158</c:v>
                </c:pt>
                <c:pt idx="31">
                  <c:v>0.696638</c:v>
                </c:pt>
                <c:pt idx="32">
                  <c:v>0.711104</c:v>
                </c:pt>
                <c:pt idx="33">
                  <c:v>0.705796</c:v>
                </c:pt>
                <c:pt idx="34">
                  <c:v>0.715709</c:v>
                </c:pt>
                <c:pt idx="35">
                  <c:v>0.725926</c:v>
                </c:pt>
                <c:pt idx="36">
                  <c:v>0.769814</c:v>
                </c:pt>
                <c:pt idx="37">
                  <c:v>0.706843</c:v>
                </c:pt>
                <c:pt idx="38">
                  <c:v>0.731392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10"/>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56CEEB-633C-493E-B6A9-AB01A79BEBD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defRPr>
            </a:defPPr>
            <a:lvl1pPr>
              <a:defRPr sz="3300" b="1">
                <a:solidFill>
                  <a:srgbClr val="123F5D"/>
                </a:solidFill>
              </a:defRPr>
            </a:lvl1pPr>
            <a:lvl2pPr>
              <a:defRPr sz="3300" b="1">
                <a:solidFill>
                  <a:srgbClr val="123F5D"/>
                </a:solidFill>
              </a:defRPr>
            </a:lvl2pPr>
            <a:lvl3pPr>
              <a:defRPr sz="3300" b="1">
                <a:solidFill>
                  <a:srgbClr val="123F5D"/>
                </a:solidFill>
              </a:defRPr>
            </a:lvl3pPr>
            <a:lvl4pPr>
              <a:defRPr sz="3300" b="1">
                <a:solidFill>
                  <a:srgbClr val="123F5D"/>
                </a:solidFill>
              </a:defRPr>
            </a:lvl4pPr>
            <a:lvl5pPr>
              <a:defRPr sz="3300" b="1">
                <a:solidFill>
                  <a:srgbClr val="123F5D"/>
                </a:solidFill>
              </a:defRPr>
            </a:lvl5pPr>
            <a:lvl6pPr>
              <a:defRPr sz="3300" b="1">
                <a:solidFill>
                  <a:srgbClr val="123F5D"/>
                </a:solidFill>
              </a:defRPr>
            </a:lvl6pPr>
            <a:lvl7pPr>
              <a:defRPr sz="3300" b="1">
                <a:solidFill>
                  <a:srgbClr val="123F5D"/>
                </a:solidFill>
              </a:defRPr>
            </a:lvl7pPr>
            <a:lvl8pPr>
              <a:defRPr sz="3300" b="1">
                <a:solidFill>
                  <a:srgbClr val="123F5D"/>
                </a:solidFill>
              </a:defRPr>
            </a:lvl8pPr>
            <a:lvl9pPr>
              <a:defRPr sz="3300" b="1">
                <a:solidFill>
                  <a:srgbClr val="123F5D"/>
                </a:solidFill>
              </a:defRPr>
            </a:lvl9pPr>
          </a:lstStyle>
          <a:p xmlns:a="http://schemas.openxmlformats.org/drawingml/2006/main">
            <a:pPr>
              <a:defRPr sz="3300" b="1">
                <a:solidFill>
                  <a:srgbClr val="123F5D"/>
                </a:solidFill>
              </a:defRPr>
            </a:pPr>
            <a:r>
              <a:rPr sz="3300" b="1">
                <a:solidFill>
                  <a:srgbClr val="123F5D"/>
                </a:solidFill>
              </a:rPr>
              <a:t>Reconhecimento de caracteres</a:t>
            </a:r>
          </a:p>
          <a:p xmlns:a="http://schemas.openxmlformats.org/drawingml/2006/main">
            <a:pPr>
              <a:defRPr sz="3300" b="1">
                <a:solidFill>
                  <a:srgbClr val="123F5D"/>
                </a:solidFill>
              </a:defRPr>
            </a:pPr>
            <a:r>
              <a:rPr sz="3300" b="1">
                <a:solidFill>
                  <a:srgbClr val="123F5D"/>
                </a:solidFill>
              </a:rPr>
              <a:t>alfanuméricos</a:t>
            </a:r>
          </a:p>
        </p:txBody>
      </p:sp>
      <p:sp>
        <p:nvSpPr>
          <p:cNvPr id="2" name="">
            <a:extLst xmlns:a="http://schemas.openxmlformats.org/drawingml/2006/main">
              <a:ext uri="{FF2B5EF4-FFF2-40B4-BE49-F238E27FC236}">
                <a16:creationId xmlns:a16="http://schemas.microsoft.com/office/drawing/2014/main" id="{7832F227-DD8A-41E8-92A5-94E0260AE79B}"/>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Grupo 4 | IASEG | Deep Learning | 19/10/2026</a:t>
            </a:r>
          </a:p>
        </p:txBody>
      </p:sp>
      <p:sp>
        <p:nvSpPr>
          <p:cNvPr id="3" name="">
            <a:extLst xmlns:a="http://schemas.openxmlformats.org/drawingml/2006/main">
              <a:ext uri="{FF2B5EF4-FFF2-40B4-BE49-F238E27FC236}">
                <a16:creationId xmlns:a16="http://schemas.microsoft.com/office/drawing/2014/main" id="{869B0FFB-6A50-43C7-8DEF-A3A175D3143D}"/>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1</a:t>
            </a:r>
          </a:p>
        </p:txBody>
      </p:sp>
      <p:sp>
        <p:nvSpPr>
          <p:cNvPr id="4" name="">
            <a:extLst xmlns:a="http://schemas.openxmlformats.org/drawingml/2006/main">
              <a:ext uri="{FF2B5EF4-FFF2-40B4-BE49-F238E27FC236}">
                <a16:creationId xmlns:a16="http://schemas.microsoft.com/office/drawing/2014/main" id="{89375175-B197-4785-931A-4090CBFF9048}"/>
              </a:ext>
            </a:extLst>
          </p:cNvPr>
          <p:cNvSpPr>
            <a:spLocks xmlns:a="http://schemas.openxmlformats.org/drawingml/2006/main" noGrp="1"/>
          </p:cNvSpPr>
          <p:nvPr/>
        </p:nvSpPr>
        <p:spPr>
          <a:xfrm xmlns:a="http://schemas.openxmlformats.org/drawingml/2006/main">
            <a:off x="609600" y="22479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57C80"/>
                </a:solidFill>
              </a:defRPr>
            </a:defPPr>
            <a:lvl1pPr>
              <a:defRPr sz="2550" b="0">
                <a:solidFill>
                  <a:srgbClr val="157C80"/>
                </a:solidFill>
              </a:defRPr>
            </a:lvl1pPr>
            <a:lvl2pPr>
              <a:defRPr sz="2550" b="0">
                <a:solidFill>
                  <a:srgbClr val="157C80"/>
                </a:solidFill>
              </a:defRPr>
            </a:lvl2pPr>
            <a:lvl3pPr>
              <a:defRPr sz="2550" b="0">
                <a:solidFill>
                  <a:srgbClr val="157C80"/>
                </a:solidFill>
              </a:defRPr>
            </a:lvl3pPr>
            <a:lvl4pPr>
              <a:defRPr sz="2550" b="0">
                <a:solidFill>
                  <a:srgbClr val="157C80"/>
                </a:solidFill>
              </a:defRPr>
            </a:lvl4pPr>
            <a:lvl5pPr>
              <a:defRPr sz="2550" b="0">
                <a:solidFill>
                  <a:srgbClr val="157C80"/>
                </a:solidFill>
              </a:defRPr>
            </a:lvl5pPr>
            <a:lvl6pPr>
              <a:defRPr sz="2550" b="0">
                <a:solidFill>
                  <a:srgbClr val="157C80"/>
                </a:solidFill>
              </a:defRPr>
            </a:lvl6pPr>
            <a:lvl7pPr>
              <a:defRPr sz="2550" b="0">
                <a:solidFill>
                  <a:srgbClr val="157C80"/>
                </a:solidFill>
              </a:defRPr>
            </a:lvl7pPr>
            <a:lvl8pPr>
              <a:defRPr sz="2550" b="0">
                <a:solidFill>
                  <a:srgbClr val="157C80"/>
                </a:solidFill>
              </a:defRPr>
            </a:lvl8pPr>
            <a:lvl9pPr>
              <a:defRPr sz="2550" b="0">
                <a:solidFill>
                  <a:srgbClr val="157C80"/>
                </a:solidFill>
              </a:defRPr>
            </a:lvl9pPr>
          </a:lstStyle>
          <a:p xmlns:a="http://schemas.openxmlformats.org/drawingml/2006/main">
            <a:pPr>
              <a:defRPr sz="2550" b="0">
                <a:solidFill>
                  <a:srgbClr val="157C80"/>
                </a:solidFill>
              </a:defRPr>
            </a:pPr>
            <a:r>
              <a:rPr sz="2550" b="0">
                <a:solidFill>
                  <a:srgbClr val="157C80"/>
                </a:solidFill>
              </a:rPr>
              <a:t>Uma imagem de 20 × 16 pixels. Uma classe entre 0-9 e A-Z.</a:t>
            </a:r>
          </a:p>
        </p:txBody>
      </p:sp>
      <p:sp>
        <p:nvSpPr>
          <p:cNvPr id="5" name="">
            <a:extLst xmlns:a="http://schemas.openxmlformats.org/drawingml/2006/main">
              <a:ext uri="{FF2B5EF4-FFF2-40B4-BE49-F238E27FC236}">
                <a16:creationId xmlns:a16="http://schemas.microsoft.com/office/drawing/2014/main" id="{0CE0832E-CAE6-4CB9-A857-8F87ADFF0637}"/>
              </a:ext>
            </a:extLst>
          </p:cNvPr>
          <p:cNvSpPr>
            <a:spLocks xmlns:a="http://schemas.openxmlformats.org/drawingml/2006/main" noGrp="1"/>
          </p:cNvSpPr>
          <p:nvPr/>
        </p:nvSpPr>
        <p:spPr>
          <a:xfrm xmlns:a="http://schemas.openxmlformats.org/drawingml/2006/main">
            <a:off x="609600" y="4381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16B"/>
                </a:solidFill>
              </a:defRPr>
            </a:defPPr>
            <a:lvl1pPr>
              <a:defRPr sz="1875" b="0">
                <a:solidFill>
                  <a:srgbClr val="52616B"/>
                </a:solidFill>
              </a:defRPr>
            </a:lvl1pPr>
            <a:lvl2pPr>
              <a:defRPr sz="1875" b="0">
                <a:solidFill>
                  <a:srgbClr val="52616B"/>
                </a:solidFill>
              </a:defRPr>
            </a:lvl2pPr>
            <a:lvl3pPr>
              <a:defRPr sz="1875" b="0">
                <a:solidFill>
                  <a:srgbClr val="52616B"/>
                </a:solidFill>
              </a:defRPr>
            </a:lvl3pPr>
            <a:lvl4pPr>
              <a:defRPr sz="1875" b="0">
                <a:solidFill>
                  <a:srgbClr val="52616B"/>
                </a:solidFill>
              </a:defRPr>
            </a:lvl4pPr>
            <a:lvl5pPr>
              <a:defRPr sz="1875" b="0">
                <a:solidFill>
                  <a:srgbClr val="52616B"/>
                </a:solidFill>
              </a:defRPr>
            </a:lvl5pPr>
            <a:lvl6pPr>
              <a:defRPr sz="1875" b="0">
                <a:solidFill>
                  <a:srgbClr val="52616B"/>
                </a:solidFill>
              </a:defRPr>
            </a:lvl6pPr>
            <a:lvl7pPr>
              <a:defRPr sz="1875" b="0">
                <a:solidFill>
                  <a:srgbClr val="52616B"/>
                </a:solidFill>
              </a:defRPr>
            </a:lvl7pPr>
            <a:lvl8pPr>
              <a:defRPr sz="1875" b="0">
                <a:solidFill>
                  <a:srgbClr val="52616B"/>
                </a:solidFill>
              </a:defRPr>
            </a:lvl8pPr>
            <a:lvl9pPr>
              <a:defRPr sz="1875" b="0">
                <a:solidFill>
                  <a:srgbClr val="52616B"/>
                </a:solidFill>
              </a:defRPr>
            </a:lvl9pPr>
          </a:lstStyle>
          <a:p xmlns:a="http://schemas.openxmlformats.org/drawingml/2006/main">
            <a:pPr>
              <a:defRPr sz="1875" b="0">
                <a:solidFill>
                  <a:srgbClr val="52616B"/>
                </a:solidFill>
              </a:defRPr>
            </a:pPr>
            <a:r>
              <a:rPr sz="1875" b="0">
                <a:solidFill>
                  <a:srgbClr val="52616B"/>
                </a:solidFill>
              </a:rPr>
              <a:t>Bruno Groppo · Bruno Pimentel · Reynato Junior</a:t>
            </a:r>
          </a:p>
          <a:p xmlns:a="http://schemas.openxmlformats.org/drawingml/2006/main">
            <a:pPr>
              <a:defRPr sz="1875" b="0">
                <a:solidFill>
                  <a:srgbClr val="52616B"/>
                </a:solidFill>
              </a:defRPr>
            </a:pPr>
            <a:r>
              <a:rPr sz="1875" b="0">
                <a:solidFill>
                  <a:srgbClr val="52616B"/>
                </a:solidFill>
              </a:rPr>
              <a:t>Wallace Jardim · Daniel Gil</a:t>
            </a:r>
          </a:p>
        </p:txBody>
      </p:sp>
    </p:spTree>
    <p:extLst>
      <p:ext uri="{BB962C8B-B14F-4D97-AF65-F5344CB8AC3E}">
        <p14:creationId xmlns:p14="http://schemas.microsoft.com/office/powerpoint/2010/main" val="6469062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A71A70-816A-468A-8BAC-8FC13406F51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defRPr>
            </a:defPPr>
            <a:lvl1pPr>
              <a:defRPr sz="3300" b="1">
                <a:solidFill>
                  <a:srgbClr val="123F5D"/>
                </a:solidFill>
              </a:defRPr>
            </a:lvl1pPr>
            <a:lvl2pPr>
              <a:defRPr sz="3300" b="1">
                <a:solidFill>
                  <a:srgbClr val="123F5D"/>
                </a:solidFill>
              </a:defRPr>
            </a:lvl2pPr>
            <a:lvl3pPr>
              <a:defRPr sz="3300" b="1">
                <a:solidFill>
                  <a:srgbClr val="123F5D"/>
                </a:solidFill>
              </a:defRPr>
            </a:lvl3pPr>
            <a:lvl4pPr>
              <a:defRPr sz="3300" b="1">
                <a:solidFill>
                  <a:srgbClr val="123F5D"/>
                </a:solidFill>
              </a:defRPr>
            </a:lvl4pPr>
            <a:lvl5pPr>
              <a:defRPr sz="3300" b="1">
                <a:solidFill>
                  <a:srgbClr val="123F5D"/>
                </a:solidFill>
              </a:defRPr>
            </a:lvl5pPr>
            <a:lvl6pPr>
              <a:defRPr sz="3300" b="1">
                <a:solidFill>
                  <a:srgbClr val="123F5D"/>
                </a:solidFill>
              </a:defRPr>
            </a:lvl6pPr>
            <a:lvl7pPr>
              <a:defRPr sz="3300" b="1">
                <a:solidFill>
                  <a:srgbClr val="123F5D"/>
                </a:solidFill>
              </a:defRPr>
            </a:lvl7pPr>
            <a:lvl8pPr>
              <a:defRPr sz="3300" b="1">
                <a:solidFill>
                  <a:srgbClr val="123F5D"/>
                </a:solidFill>
              </a:defRPr>
            </a:lvl8pPr>
            <a:lvl9pPr>
              <a:defRPr sz="3300" b="1">
                <a:solidFill>
                  <a:srgbClr val="123F5D"/>
                </a:solidFill>
              </a:defRPr>
            </a:lvl9pPr>
          </a:lstStyle>
          <a:p xmlns:a="http://schemas.openxmlformats.org/drawingml/2006/main">
            <a:pPr>
              <a:defRPr sz="3300" b="1">
                <a:solidFill>
                  <a:srgbClr val="123F5D"/>
                </a:solidFill>
              </a:defRPr>
            </a:pPr>
            <a:r>
              <a:rPr sz="3300" b="1">
                <a:solidFill>
                  <a:srgbClr val="123F5D"/>
                </a:solidFill>
              </a:rPr>
              <a:t>Problema e referência de comparação</a:t>
            </a:r>
          </a:p>
        </p:txBody>
      </p:sp>
      <p:sp>
        <p:nvSpPr>
          <p:cNvPr id="2" name="">
            <a:extLst xmlns:a="http://schemas.openxmlformats.org/drawingml/2006/main">
              <a:ext uri="{FF2B5EF4-FFF2-40B4-BE49-F238E27FC236}">
                <a16:creationId xmlns:a16="http://schemas.microsoft.com/office/drawing/2014/main" id="{4953E633-1CF5-412D-919F-316E28FC5C65}"/>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Bruno Groppo | 2 minutos</a:t>
            </a:r>
          </a:p>
        </p:txBody>
      </p:sp>
      <p:sp>
        <p:nvSpPr>
          <p:cNvPr id="3" name="">
            <a:extLst xmlns:a="http://schemas.openxmlformats.org/drawingml/2006/main">
              <a:ext uri="{FF2B5EF4-FFF2-40B4-BE49-F238E27FC236}">
                <a16:creationId xmlns:a16="http://schemas.microsoft.com/office/drawing/2014/main" id="{B492DB67-A08C-4C3C-AE8A-ED8643AEAC9E}"/>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2</a:t>
            </a:r>
          </a:p>
        </p:txBody>
      </p:sp>
      <p:sp>
        <p:nvSpPr>
          <p:cNvPr id="4" name="">
            <a:extLst xmlns:a="http://schemas.openxmlformats.org/drawingml/2006/main">
              <a:ext uri="{FF2B5EF4-FFF2-40B4-BE49-F238E27FC236}">
                <a16:creationId xmlns:a16="http://schemas.microsoft.com/office/drawing/2014/main" id="{CAC3C7EB-0EB8-4AC8-8751-8144989918B4}"/>
              </a:ext>
            </a:extLst>
          </p:cNvPr>
          <p:cNvSpPr>
            <a:spLocks xmlns:a="http://schemas.openxmlformats.org/drawingml/2006/main" noGrp="1"/>
          </p:cNvSpPr>
          <p:nvPr/>
        </p:nvSpPr>
        <p:spPr>
          <a:xfrm xmlns:a="http://schemas.openxmlformats.org/drawingml/2006/main">
            <a:off x="609600" y="1581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defRPr>
            </a:defPPr>
            <a:lvl1pPr>
              <a:defRPr sz="2250" b="1">
                <a:solidFill>
                  <a:srgbClr val="157C80"/>
                </a:solidFill>
              </a:defRPr>
            </a:lvl1pPr>
            <a:lvl2pPr>
              <a:defRPr sz="2250" b="1">
                <a:solidFill>
                  <a:srgbClr val="157C80"/>
                </a:solidFill>
              </a:defRPr>
            </a:lvl2pPr>
            <a:lvl3pPr>
              <a:defRPr sz="2250" b="1">
                <a:solidFill>
                  <a:srgbClr val="157C80"/>
                </a:solidFill>
              </a:defRPr>
            </a:lvl3pPr>
            <a:lvl4pPr>
              <a:defRPr sz="2250" b="1">
                <a:solidFill>
                  <a:srgbClr val="157C80"/>
                </a:solidFill>
              </a:defRPr>
            </a:lvl4pPr>
            <a:lvl5pPr>
              <a:defRPr sz="2250" b="1">
                <a:solidFill>
                  <a:srgbClr val="157C80"/>
                </a:solidFill>
              </a:defRPr>
            </a:lvl5pPr>
            <a:lvl6pPr>
              <a:defRPr sz="2250" b="1">
                <a:solidFill>
                  <a:srgbClr val="157C80"/>
                </a:solidFill>
              </a:defRPr>
            </a:lvl6pPr>
            <a:lvl7pPr>
              <a:defRPr sz="2250" b="1">
                <a:solidFill>
                  <a:srgbClr val="157C80"/>
                </a:solidFill>
              </a:defRPr>
            </a:lvl7pPr>
            <a:lvl8pPr>
              <a:defRPr sz="2250" b="1">
                <a:solidFill>
                  <a:srgbClr val="157C80"/>
                </a:solidFill>
              </a:defRPr>
            </a:lvl8pPr>
            <a:lvl9pPr>
              <a:defRPr sz="2250" b="1">
                <a:solidFill>
                  <a:srgbClr val="157C80"/>
                </a:solidFill>
              </a:defRPr>
            </a:lvl9pPr>
          </a:lstStyle>
          <a:p xmlns:a="http://schemas.openxmlformats.org/drawingml/2006/main">
            <a:pPr>
              <a:defRPr sz="2250" b="1">
                <a:solidFill>
                  <a:srgbClr val="157C80"/>
                </a:solidFill>
              </a:defRPr>
            </a:pPr>
            <a:r>
              <a:rPr sz="2250" b="1">
                <a:solidFill>
                  <a:srgbClr val="157C80"/>
                </a:solidFill>
              </a:rPr>
              <a:t>Entrada</a:t>
            </a:r>
          </a:p>
        </p:txBody>
      </p:sp>
      <p:sp>
        <p:nvSpPr>
          <p:cNvPr id="5" name="">
            <a:extLst xmlns:a="http://schemas.openxmlformats.org/drawingml/2006/main">
              <a:ext uri="{FF2B5EF4-FFF2-40B4-BE49-F238E27FC236}">
                <a16:creationId xmlns:a16="http://schemas.microsoft.com/office/drawing/2014/main" id="{06B5B1E5-E551-4DF6-92AE-C3D476A5692B}"/>
              </a:ext>
            </a:extLst>
          </p:cNvPr>
          <p:cNvSpPr>
            <a:spLocks xmlns:a="http://schemas.openxmlformats.org/drawingml/2006/main" noGrp="1"/>
          </p:cNvSpPr>
          <p:nvPr/>
        </p:nvSpPr>
        <p:spPr>
          <a:xfrm xmlns:a="http://schemas.openxmlformats.org/drawingml/2006/main">
            <a:off x="6096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defRPr>
            </a:defPPr>
            <a:lvl1pPr>
              <a:defRPr sz="2250" b="0">
                <a:solidFill>
                  <a:srgbClr val="243746"/>
                </a:solidFill>
              </a:defRPr>
            </a:lvl1pPr>
            <a:lvl2pPr>
              <a:defRPr sz="2250" b="0">
                <a:solidFill>
                  <a:srgbClr val="243746"/>
                </a:solidFill>
              </a:defRPr>
            </a:lvl2pPr>
            <a:lvl3pPr>
              <a:defRPr sz="2250" b="0">
                <a:solidFill>
                  <a:srgbClr val="243746"/>
                </a:solidFill>
              </a:defRPr>
            </a:lvl3pPr>
            <a:lvl4pPr>
              <a:defRPr sz="2250" b="0">
                <a:solidFill>
                  <a:srgbClr val="243746"/>
                </a:solidFill>
              </a:defRPr>
            </a:lvl4pPr>
            <a:lvl5pPr>
              <a:defRPr sz="2250" b="0">
                <a:solidFill>
                  <a:srgbClr val="243746"/>
                </a:solidFill>
              </a:defRPr>
            </a:lvl5pPr>
            <a:lvl6pPr>
              <a:defRPr sz="2250" b="0">
                <a:solidFill>
                  <a:srgbClr val="243746"/>
                </a:solidFill>
              </a:defRPr>
            </a:lvl6pPr>
            <a:lvl7pPr>
              <a:defRPr sz="2250" b="0">
                <a:solidFill>
                  <a:srgbClr val="243746"/>
                </a:solidFill>
              </a:defRPr>
            </a:lvl7pPr>
            <a:lvl8pPr>
              <a:defRPr sz="2250" b="0">
                <a:solidFill>
                  <a:srgbClr val="243746"/>
                </a:solidFill>
              </a:defRPr>
            </a:lvl8pPr>
            <a:lvl9pPr>
              <a:defRPr sz="2250" b="0">
                <a:solidFill>
                  <a:srgbClr val="243746"/>
                </a:solidFill>
              </a:defRPr>
            </a:lvl9pPr>
          </a:lstStyle>
          <a:p xmlns:a="http://schemas.openxmlformats.org/drawingml/2006/main">
            <a:pPr>
              <a:defRPr sz="2250" b="0">
                <a:solidFill>
                  <a:srgbClr val="243746"/>
                </a:solidFill>
              </a:defRPr>
            </a:pPr>
            <a:r>
              <a:rPr sz="2250" b="0">
                <a:solidFill>
                  <a:srgbClr val="243746"/>
                </a:solidFill>
              </a:rPr>
              <a:t>Um caractere isolado, binário,</a:t>
            </a:r>
          </a:p>
          <a:p xmlns:a="http://schemas.openxmlformats.org/drawingml/2006/main">
            <a:pPr>
              <a:defRPr sz="2250" b="0">
                <a:solidFill>
                  <a:srgbClr val="243746"/>
                </a:solidFill>
              </a:defRPr>
            </a:pPr>
            <a:r>
              <a:rPr sz="2250" b="0">
                <a:solidFill>
                  <a:srgbClr val="243746"/>
                </a:solidFill>
              </a:rPr>
              <a:t>com orientação já definida.</a:t>
            </a:r>
          </a:p>
        </p:txBody>
      </p:sp>
      <p:sp>
        <p:nvSpPr>
          <p:cNvPr id="6" name="">
            <a:extLst xmlns:a="http://schemas.openxmlformats.org/drawingml/2006/main">
              <a:ext uri="{FF2B5EF4-FFF2-40B4-BE49-F238E27FC236}">
                <a16:creationId xmlns:a16="http://schemas.microsoft.com/office/drawing/2014/main" id="{2ED77CE8-CE90-4CB8-87BD-1EE963159C0E}"/>
              </a:ext>
            </a:extLst>
          </p:cNvPr>
          <p:cNvSpPr>
            <a:spLocks xmlns:a="http://schemas.openxmlformats.org/drawingml/2006/main" noGrp="1"/>
          </p:cNvSpPr>
          <p:nvPr/>
        </p:nvSpPr>
        <p:spPr>
          <a:xfrm xmlns:a="http://schemas.openxmlformats.org/drawingml/2006/main">
            <a:off x="6477000" y="15811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defRPr>
            </a:defPPr>
            <a:lvl1pPr>
              <a:defRPr sz="2250" b="1">
                <a:solidFill>
                  <a:srgbClr val="157C80"/>
                </a:solidFill>
              </a:defRPr>
            </a:lvl1pPr>
            <a:lvl2pPr>
              <a:defRPr sz="2250" b="1">
                <a:solidFill>
                  <a:srgbClr val="157C80"/>
                </a:solidFill>
              </a:defRPr>
            </a:lvl2pPr>
            <a:lvl3pPr>
              <a:defRPr sz="2250" b="1">
                <a:solidFill>
                  <a:srgbClr val="157C80"/>
                </a:solidFill>
              </a:defRPr>
            </a:lvl3pPr>
            <a:lvl4pPr>
              <a:defRPr sz="2250" b="1">
                <a:solidFill>
                  <a:srgbClr val="157C80"/>
                </a:solidFill>
              </a:defRPr>
            </a:lvl4pPr>
            <a:lvl5pPr>
              <a:defRPr sz="2250" b="1">
                <a:solidFill>
                  <a:srgbClr val="157C80"/>
                </a:solidFill>
              </a:defRPr>
            </a:lvl5pPr>
            <a:lvl6pPr>
              <a:defRPr sz="2250" b="1">
                <a:solidFill>
                  <a:srgbClr val="157C80"/>
                </a:solidFill>
              </a:defRPr>
            </a:lvl6pPr>
            <a:lvl7pPr>
              <a:defRPr sz="2250" b="1">
                <a:solidFill>
                  <a:srgbClr val="157C80"/>
                </a:solidFill>
              </a:defRPr>
            </a:lvl7pPr>
            <a:lvl8pPr>
              <a:defRPr sz="2250" b="1">
                <a:solidFill>
                  <a:srgbClr val="157C80"/>
                </a:solidFill>
              </a:defRPr>
            </a:lvl8pPr>
            <a:lvl9pPr>
              <a:defRPr sz="2250" b="1">
                <a:solidFill>
                  <a:srgbClr val="157C80"/>
                </a:solidFill>
              </a:defRPr>
            </a:lvl9pPr>
          </a:lstStyle>
          <a:p xmlns:a="http://schemas.openxmlformats.org/drawingml/2006/main">
            <a:pPr>
              <a:defRPr sz="2250" b="1">
                <a:solidFill>
                  <a:srgbClr val="157C80"/>
                </a:solidFill>
              </a:defRPr>
            </a:pPr>
            <a:r>
              <a:rPr sz="2250" b="1">
                <a:solidFill>
                  <a:srgbClr val="157C80"/>
                </a:solidFill>
              </a:rPr>
              <a:t>Saída</a:t>
            </a:r>
          </a:p>
        </p:txBody>
      </p:sp>
      <p:sp>
        <p:nvSpPr>
          <p:cNvPr id="7" name="">
            <a:extLst xmlns:a="http://schemas.openxmlformats.org/drawingml/2006/main">
              <a:ext uri="{FF2B5EF4-FFF2-40B4-BE49-F238E27FC236}">
                <a16:creationId xmlns:a16="http://schemas.microsoft.com/office/drawing/2014/main" id="{4DCFE45D-479A-481E-9C62-09E6F7F10FC2}"/>
              </a:ext>
            </a:extLst>
          </p:cNvPr>
          <p:cNvSpPr>
            <a:spLocks xmlns:a="http://schemas.openxmlformats.org/drawingml/2006/main" noGrp="1"/>
          </p:cNvSpPr>
          <p:nvPr/>
        </p:nvSpPr>
        <p:spPr>
          <a:xfrm xmlns:a="http://schemas.openxmlformats.org/drawingml/2006/main">
            <a:off x="64770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defRPr>
            </a:defPPr>
            <a:lvl1pPr>
              <a:defRPr sz="2250" b="0">
                <a:solidFill>
                  <a:srgbClr val="243746"/>
                </a:solidFill>
              </a:defRPr>
            </a:lvl1pPr>
            <a:lvl2pPr>
              <a:defRPr sz="2250" b="0">
                <a:solidFill>
                  <a:srgbClr val="243746"/>
                </a:solidFill>
              </a:defRPr>
            </a:lvl2pPr>
            <a:lvl3pPr>
              <a:defRPr sz="2250" b="0">
                <a:solidFill>
                  <a:srgbClr val="243746"/>
                </a:solidFill>
              </a:defRPr>
            </a:lvl3pPr>
            <a:lvl4pPr>
              <a:defRPr sz="2250" b="0">
                <a:solidFill>
                  <a:srgbClr val="243746"/>
                </a:solidFill>
              </a:defRPr>
            </a:lvl4pPr>
            <a:lvl5pPr>
              <a:defRPr sz="2250" b="0">
                <a:solidFill>
                  <a:srgbClr val="243746"/>
                </a:solidFill>
              </a:defRPr>
            </a:lvl5pPr>
            <a:lvl6pPr>
              <a:defRPr sz="2250" b="0">
                <a:solidFill>
                  <a:srgbClr val="243746"/>
                </a:solidFill>
              </a:defRPr>
            </a:lvl6pPr>
            <a:lvl7pPr>
              <a:defRPr sz="2250" b="0">
                <a:solidFill>
                  <a:srgbClr val="243746"/>
                </a:solidFill>
              </a:defRPr>
            </a:lvl7pPr>
            <a:lvl8pPr>
              <a:defRPr sz="2250" b="0">
                <a:solidFill>
                  <a:srgbClr val="243746"/>
                </a:solidFill>
              </a:defRPr>
            </a:lvl8pPr>
            <a:lvl9pPr>
              <a:defRPr sz="2250" b="0">
                <a:solidFill>
                  <a:srgbClr val="243746"/>
                </a:solidFill>
              </a:defRPr>
            </a:lvl9pPr>
          </a:lstStyle>
          <a:p xmlns:a="http://schemas.openxmlformats.org/drawingml/2006/main">
            <a:pPr>
              <a:defRPr sz="2250" b="0">
                <a:solidFill>
                  <a:srgbClr val="243746"/>
                </a:solidFill>
              </a:defRPr>
            </a:pPr>
            <a:r>
              <a:rPr sz="2250" b="0">
                <a:solidFill>
                  <a:srgbClr val="243746"/>
                </a:solidFill>
              </a:rPr>
              <a:t>36 pontuações softmax.</a:t>
            </a:r>
          </a:p>
          <a:p xmlns:a="http://schemas.openxmlformats.org/drawingml/2006/main">
            <a:pPr>
              <a:defRPr sz="2250" b="0">
                <a:solidFill>
                  <a:srgbClr val="243746"/>
                </a:solidFill>
              </a:defRPr>
            </a:pPr>
            <a:r>
              <a:rPr sz="2250" b="0">
                <a:solidFill>
                  <a:srgbClr val="243746"/>
                </a:solidFill>
              </a:rPr>
              <a:t>Escolhemos a maior.</a:t>
            </a:r>
          </a:p>
        </p:txBody>
      </p:sp>
      <p:sp>
        <p:nvSpPr>
          <p:cNvPr id="8" name="">
            <a:extLst xmlns:a="http://schemas.openxmlformats.org/drawingml/2006/main">
              <a:ext uri="{FF2B5EF4-FFF2-40B4-BE49-F238E27FC236}">
                <a16:creationId xmlns:a16="http://schemas.microsoft.com/office/drawing/2014/main" id="{8421E8AA-AB12-46DF-B5A7-3C1E3F522BB5}"/>
              </a:ext>
            </a:extLst>
          </p:cNvPr>
          <p:cNvSpPr>
            <a:spLocks xmlns:a="http://schemas.openxmlformats.org/drawingml/2006/main" noGrp="1"/>
          </p:cNvSpPr>
          <p:nvPr/>
        </p:nvSpPr>
        <p:spPr>
          <a:xfrm xmlns:a="http://schemas.openxmlformats.org/drawingml/2006/main">
            <a:off x="609600" y="38671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23F5D"/>
                </a:solidFill>
              </a:defRPr>
            </a:defPPr>
            <a:lvl1pPr>
              <a:defRPr sz="2700" b="1">
                <a:solidFill>
                  <a:srgbClr val="123F5D"/>
                </a:solidFill>
              </a:defRPr>
            </a:lvl1pPr>
            <a:lvl2pPr>
              <a:defRPr sz="2700" b="1">
                <a:solidFill>
                  <a:srgbClr val="123F5D"/>
                </a:solidFill>
              </a:defRPr>
            </a:lvl2pPr>
            <a:lvl3pPr>
              <a:defRPr sz="2700" b="1">
                <a:solidFill>
                  <a:srgbClr val="123F5D"/>
                </a:solidFill>
              </a:defRPr>
            </a:lvl3pPr>
            <a:lvl4pPr>
              <a:defRPr sz="2700" b="1">
                <a:solidFill>
                  <a:srgbClr val="123F5D"/>
                </a:solidFill>
              </a:defRPr>
            </a:lvl4pPr>
            <a:lvl5pPr>
              <a:defRPr sz="2700" b="1">
                <a:solidFill>
                  <a:srgbClr val="123F5D"/>
                </a:solidFill>
              </a:defRPr>
            </a:lvl5pPr>
            <a:lvl6pPr>
              <a:defRPr sz="2700" b="1">
                <a:solidFill>
                  <a:srgbClr val="123F5D"/>
                </a:solidFill>
              </a:defRPr>
            </a:lvl6pPr>
            <a:lvl7pPr>
              <a:defRPr sz="2700" b="1">
                <a:solidFill>
                  <a:srgbClr val="123F5D"/>
                </a:solidFill>
              </a:defRPr>
            </a:lvl7pPr>
            <a:lvl8pPr>
              <a:defRPr sz="2700" b="1">
                <a:solidFill>
                  <a:srgbClr val="123F5D"/>
                </a:solidFill>
              </a:defRPr>
            </a:lvl8pPr>
            <a:lvl9pPr>
              <a:defRPr sz="2700" b="1">
                <a:solidFill>
                  <a:srgbClr val="123F5D"/>
                </a:solidFill>
              </a:defRPr>
            </a:lvl9pPr>
          </a:lstStyle>
          <a:p xmlns:a="http://schemas.openxmlformats.org/drawingml/2006/main">
            <a:pPr>
              <a:defRPr sz="2700" b="1">
                <a:solidFill>
                  <a:srgbClr val="123F5D"/>
                </a:solidFill>
              </a:defRPr>
            </a:pPr>
            <a:r>
              <a:rPr sz="2700" b="1">
                <a:solidFill>
                  <a:srgbClr val="123F5D"/>
                </a:solidFill>
              </a:rPr>
              <a:t>Baseline: sempre prever 0</a:t>
            </a:r>
          </a:p>
        </p:txBody>
      </p:sp>
      <p:sp>
        <p:nvSpPr>
          <p:cNvPr id="9" name="">
            <a:extLst xmlns:a="http://schemas.openxmlformats.org/drawingml/2006/main">
              <a:ext uri="{FF2B5EF4-FFF2-40B4-BE49-F238E27FC236}">
                <a16:creationId xmlns:a16="http://schemas.microsoft.com/office/drawing/2014/main" id="{49AC12AD-A975-4425-AC19-072BEECEAE4F}"/>
              </a:ext>
            </a:extLst>
          </p:cNvPr>
          <p:cNvSpPr>
            <a:spLocks xmlns:a="http://schemas.openxmlformats.org/drawingml/2006/main" noGrp="1"/>
          </p:cNvSpPr>
          <p:nvPr/>
        </p:nvSpPr>
        <p:spPr>
          <a:xfrm xmlns:a="http://schemas.openxmlformats.org/drawingml/2006/main">
            <a:off x="609600" y="46291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defRPr>
            </a:defPPr>
            <a:lvl1pPr>
              <a:defRPr sz="2250" b="0">
                <a:solidFill>
                  <a:srgbClr val="243746"/>
                </a:solidFill>
              </a:defRPr>
            </a:lvl1pPr>
            <a:lvl2pPr>
              <a:defRPr sz="2250" b="0">
                <a:solidFill>
                  <a:srgbClr val="243746"/>
                </a:solidFill>
              </a:defRPr>
            </a:lvl2pPr>
            <a:lvl3pPr>
              <a:defRPr sz="2250" b="0">
                <a:solidFill>
                  <a:srgbClr val="243746"/>
                </a:solidFill>
              </a:defRPr>
            </a:lvl3pPr>
            <a:lvl4pPr>
              <a:defRPr sz="2250" b="0">
                <a:solidFill>
                  <a:srgbClr val="243746"/>
                </a:solidFill>
              </a:defRPr>
            </a:lvl4pPr>
            <a:lvl5pPr>
              <a:defRPr sz="2250" b="0">
                <a:solidFill>
                  <a:srgbClr val="243746"/>
                </a:solidFill>
              </a:defRPr>
            </a:lvl5pPr>
            <a:lvl6pPr>
              <a:defRPr sz="2250" b="0">
                <a:solidFill>
                  <a:srgbClr val="243746"/>
                </a:solidFill>
              </a:defRPr>
            </a:lvl6pPr>
            <a:lvl7pPr>
              <a:defRPr sz="2250" b="0">
                <a:solidFill>
                  <a:srgbClr val="243746"/>
                </a:solidFill>
              </a:defRPr>
            </a:lvl7pPr>
            <a:lvl8pPr>
              <a:defRPr sz="2250" b="0">
                <a:solidFill>
                  <a:srgbClr val="243746"/>
                </a:solidFill>
              </a:defRPr>
            </a:lvl8pPr>
            <a:lvl9pPr>
              <a:defRPr sz="2250" b="0">
                <a:solidFill>
                  <a:srgbClr val="243746"/>
                </a:solidFill>
              </a:defRPr>
            </a:lvl9pPr>
          </a:lstStyle>
          <a:p xmlns:a="http://schemas.openxmlformats.org/drawingml/2006/main">
            <a:pPr>
              <a:defRPr sz="2250" b="0">
                <a:solidFill>
                  <a:srgbClr val="243746"/>
                </a:solidFill>
              </a:defRPr>
            </a:pPr>
            <a:r>
              <a:rPr sz="2250" b="0">
                <a:solidFill>
                  <a:srgbClr val="243746"/>
                </a:solidFill>
              </a:rPr>
              <a:t>6 acertos em 217 imagens de validação: 2,76%.</a:t>
            </a:r>
          </a:p>
          <a:p xmlns:a="http://schemas.openxmlformats.org/drawingml/2006/main">
            <a:pPr>
              <a:defRPr sz="2250" b="0">
                <a:solidFill>
                  <a:srgbClr val="243746"/>
                </a:solidFill>
              </a:defRPr>
            </a:pPr>
            <a:r>
              <a:rPr sz="2250" b="0">
                <a:solidFill>
                  <a:srgbClr val="243746"/>
                </a:solidFill>
              </a:rPr>
              <a:t>Uma MLP adicional compara a CNN com uma rede densa.</a:t>
            </a:r>
          </a:p>
        </p:txBody>
      </p:sp>
    </p:spTree>
    <p:extLst>
      <p:ext uri="{BB962C8B-B14F-4D97-AF65-F5344CB8AC3E}">
        <p14:creationId xmlns:p14="http://schemas.microsoft.com/office/powerpoint/2010/main" val="4471523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C50402-4CBD-42E9-B4B2-9C9888442CD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defRPr>
            </a:defPPr>
            <a:lvl1pPr>
              <a:defRPr sz="3300" b="1">
                <a:solidFill>
                  <a:srgbClr val="123F5D"/>
                </a:solidFill>
              </a:defRPr>
            </a:lvl1pPr>
            <a:lvl2pPr>
              <a:defRPr sz="3300" b="1">
                <a:solidFill>
                  <a:srgbClr val="123F5D"/>
                </a:solidFill>
              </a:defRPr>
            </a:lvl2pPr>
            <a:lvl3pPr>
              <a:defRPr sz="3300" b="1">
                <a:solidFill>
                  <a:srgbClr val="123F5D"/>
                </a:solidFill>
              </a:defRPr>
            </a:lvl3pPr>
            <a:lvl4pPr>
              <a:defRPr sz="3300" b="1">
                <a:solidFill>
                  <a:srgbClr val="123F5D"/>
                </a:solidFill>
              </a:defRPr>
            </a:lvl4pPr>
            <a:lvl5pPr>
              <a:defRPr sz="3300" b="1">
                <a:solidFill>
                  <a:srgbClr val="123F5D"/>
                </a:solidFill>
              </a:defRPr>
            </a:lvl5pPr>
            <a:lvl6pPr>
              <a:defRPr sz="3300" b="1">
                <a:solidFill>
                  <a:srgbClr val="123F5D"/>
                </a:solidFill>
              </a:defRPr>
            </a:lvl6pPr>
            <a:lvl7pPr>
              <a:defRPr sz="3300" b="1">
                <a:solidFill>
                  <a:srgbClr val="123F5D"/>
                </a:solidFill>
              </a:defRPr>
            </a:lvl7pPr>
            <a:lvl8pPr>
              <a:defRPr sz="3300" b="1">
                <a:solidFill>
                  <a:srgbClr val="123F5D"/>
                </a:solidFill>
              </a:defRPr>
            </a:lvl8pPr>
            <a:lvl9pPr>
              <a:defRPr sz="3300" b="1">
                <a:solidFill>
                  <a:srgbClr val="123F5D"/>
                </a:solidFill>
              </a:defRPr>
            </a:lvl9pPr>
          </a:lstStyle>
          <a:p xmlns:a="http://schemas.openxmlformats.org/drawingml/2006/main">
            <a:pPr>
              <a:defRPr sz="3300" b="1">
                <a:solidFill>
                  <a:srgbClr val="123F5D"/>
                </a:solidFill>
              </a:defRPr>
            </a:pPr>
            <a:r>
              <a:rPr sz="3300" b="1">
                <a:solidFill>
                  <a:srgbClr val="123F5D"/>
                </a:solidFill>
              </a:rPr>
              <a:t>Binary Alpha Digits</a:t>
            </a:r>
          </a:p>
        </p:txBody>
      </p:sp>
      <p:sp>
        <p:nvSpPr>
          <p:cNvPr id="2" name="">
            <a:extLst xmlns:a="http://schemas.openxmlformats.org/drawingml/2006/main">
              <a:ext uri="{FF2B5EF4-FFF2-40B4-BE49-F238E27FC236}">
                <a16:creationId xmlns:a16="http://schemas.microsoft.com/office/drawing/2014/main" id="{73D7DBF2-C18E-4B0E-A287-A908CBBA81B5}"/>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Bruno Pimentel | 1 minuto e 30 segundos</a:t>
            </a:r>
          </a:p>
        </p:txBody>
      </p:sp>
      <p:sp>
        <p:nvSpPr>
          <p:cNvPr id="3" name="">
            <a:extLst xmlns:a="http://schemas.openxmlformats.org/drawingml/2006/main">
              <a:ext uri="{FF2B5EF4-FFF2-40B4-BE49-F238E27FC236}">
                <a16:creationId xmlns:a16="http://schemas.microsoft.com/office/drawing/2014/main" id="{8B7F587C-607A-440F-BBB6-38B1955B4FE6}"/>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3</a:t>
            </a:r>
          </a:p>
        </p:txBody>
      </p:sp>
      <p:sp>
        <p:nvSpPr>
          <p:cNvPr id="4" name="">
            <a:extLst xmlns:a="http://schemas.openxmlformats.org/drawingml/2006/main">
              <a:ext uri="{FF2B5EF4-FFF2-40B4-BE49-F238E27FC236}">
                <a16:creationId xmlns:a16="http://schemas.microsoft.com/office/drawing/2014/main" id="{E49DCA76-C36A-4333-A645-E75DDF5D6C2F}"/>
              </a:ext>
            </a:extLst>
          </p:cNvPr>
          <p:cNvSpPr>
            <a:spLocks xmlns:a="http://schemas.openxmlformats.org/drawingml/2006/main" noGrp="1"/>
          </p:cNvSpPr>
          <p:nvPr/>
        </p:nvSpPr>
        <p:spPr>
          <a:xfrm xmlns:a="http://schemas.openxmlformats.org/drawingml/2006/main">
            <a:off x="609600" y="138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7C80"/>
                </a:solidFill>
              </a:defRPr>
            </a:defPPr>
            <a:lvl1pPr>
              <a:defRPr sz="2250" b="0">
                <a:solidFill>
                  <a:srgbClr val="157C80"/>
                </a:solidFill>
              </a:defRPr>
            </a:lvl1pPr>
            <a:lvl2pPr>
              <a:defRPr sz="2250" b="0">
                <a:solidFill>
                  <a:srgbClr val="157C80"/>
                </a:solidFill>
              </a:defRPr>
            </a:lvl2pPr>
            <a:lvl3pPr>
              <a:defRPr sz="2250" b="0">
                <a:solidFill>
                  <a:srgbClr val="157C80"/>
                </a:solidFill>
              </a:defRPr>
            </a:lvl3pPr>
            <a:lvl4pPr>
              <a:defRPr sz="2250" b="0">
                <a:solidFill>
                  <a:srgbClr val="157C80"/>
                </a:solidFill>
              </a:defRPr>
            </a:lvl4pPr>
            <a:lvl5pPr>
              <a:defRPr sz="2250" b="0">
                <a:solidFill>
                  <a:srgbClr val="157C80"/>
                </a:solidFill>
              </a:defRPr>
            </a:lvl5pPr>
            <a:lvl6pPr>
              <a:defRPr sz="2250" b="0">
                <a:solidFill>
                  <a:srgbClr val="157C80"/>
                </a:solidFill>
              </a:defRPr>
            </a:lvl6pPr>
            <a:lvl7pPr>
              <a:defRPr sz="2250" b="0">
                <a:solidFill>
                  <a:srgbClr val="157C80"/>
                </a:solidFill>
              </a:defRPr>
            </a:lvl7pPr>
            <a:lvl8pPr>
              <a:defRPr sz="2250" b="0">
                <a:solidFill>
                  <a:srgbClr val="157C80"/>
                </a:solidFill>
              </a:defRPr>
            </a:lvl8pPr>
            <a:lvl9pPr>
              <a:defRPr sz="2250" b="0">
                <a:solidFill>
                  <a:srgbClr val="157C80"/>
                </a:solidFill>
              </a:defRPr>
            </a:lvl9pPr>
          </a:lstStyle>
          <a:p xmlns:a="http://schemas.openxmlformats.org/drawingml/2006/main">
            <a:pPr>
              <a:defRPr sz="2250" b="0">
                <a:solidFill>
                  <a:srgbClr val="157C80"/>
                </a:solidFill>
              </a:defRPr>
            </a:pPr>
            <a:r>
              <a:rPr sz="2250" b="0">
                <a:solidFill>
                  <a:srgbClr val="157C80"/>
                </a:solidFill>
              </a:rPr>
              <a:t>1.404 imagens · 36 classes · 39 exemplos por classe</a:t>
            </a:r>
          </a:p>
        </p:txBody>
      </p:sp>
      <p:pic>
        <p:nvPicPr>
          <p:cNvPr id="5" name="">
            <a:extLst xmlns:a="http://schemas.openxmlformats.org/drawingml/2006/main">
              <a:ext uri="{FF2B5EF4-FFF2-40B4-BE49-F238E27FC236}">
                <a16:creationId xmlns:a16="http://schemas.microsoft.com/office/drawing/2014/main" id="{3A35938B-11BB-4A96-A5AB-695B614E9E3F}"/>
              </a:ext>
            </a:extLst>
          </p:cNvPr>
          <p:cNvPicPr>
            <a:picLocks xmlns:a="http://schemas.openxmlformats.org/drawingml/2006/main" noChangeAspect="1"/>
          </p:cNvPicPr>
          <p:nvPr/>
        </p:nvPicPr>
        <p:blipFill>
          <a:blip xmlns:r="http://schemas.openxmlformats.org/officeDocument/2006/relationships" xmlns:a="http://schemas.openxmlformats.org/drawingml/2006/main" r:embed="R88bfef5c100e44ac"/>
          <a:stretch xmlns:a="http://schemas.openxmlformats.org/drawingml/2006/main"/>
        </p:blipFill>
        <p:spPr>
          <a:xfrm xmlns:a="http://schemas.openxmlformats.org/drawingml/2006/main">
            <a:off x="2599513" y="2000250"/>
            <a:ext cx="6992975" cy="3886200"/>
          </a:xfrm>
          <a:prstGeom xmlns:a="http://schemas.openxmlformats.org/drawingml/2006/main" prst="rect">
            <a:avLst/>
          </a:prstGeom>
        </p:spPr>
      </p:pic>
    </p:spTree>
    <p:extLst>
      <p:ext uri="{BB962C8B-B14F-4D97-AF65-F5344CB8AC3E}">
        <p14:creationId xmlns:p14="http://schemas.microsoft.com/office/powerpoint/2010/main" val="2983609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B69B1C-7900-42E0-B207-D42599ACB7B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defRPr>
            </a:defPPr>
            <a:lvl1pPr>
              <a:defRPr sz="3300" b="1">
                <a:solidFill>
                  <a:srgbClr val="123F5D"/>
                </a:solidFill>
              </a:defRPr>
            </a:lvl1pPr>
            <a:lvl2pPr>
              <a:defRPr sz="3300" b="1">
                <a:solidFill>
                  <a:srgbClr val="123F5D"/>
                </a:solidFill>
              </a:defRPr>
            </a:lvl2pPr>
            <a:lvl3pPr>
              <a:defRPr sz="3300" b="1">
                <a:solidFill>
                  <a:srgbClr val="123F5D"/>
                </a:solidFill>
              </a:defRPr>
            </a:lvl3pPr>
            <a:lvl4pPr>
              <a:defRPr sz="3300" b="1">
                <a:solidFill>
                  <a:srgbClr val="123F5D"/>
                </a:solidFill>
              </a:defRPr>
            </a:lvl4pPr>
            <a:lvl5pPr>
              <a:defRPr sz="3300" b="1">
                <a:solidFill>
                  <a:srgbClr val="123F5D"/>
                </a:solidFill>
              </a:defRPr>
            </a:lvl5pPr>
            <a:lvl6pPr>
              <a:defRPr sz="3300" b="1">
                <a:solidFill>
                  <a:srgbClr val="123F5D"/>
                </a:solidFill>
              </a:defRPr>
            </a:lvl6pPr>
            <a:lvl7pPr>
              <a:defRPr sz="3300" b="1">
                <a:solidFill>
                  <a:srgbClr val="123F5D"/>
                </a:solidFill>
              </a:defRPr>
            </a:lvl7pPr>
            <a:lvl8pPr>
              <a:defRPr sz="3300" b="1">
                <a:solidFill>
                  <a:srgbClr val="123F5D"/>
                </a:solidFill>
              </a:defRPr>
            </a:lvl8pPr>
            <a:lvl9pPr>
              <a:defRPr sz="3300" b="1">
                <a:solidFill>
                  <a:srgbClr val="123F5D"/>
                </a:solidFill>
              </a:defRPr>
            </a:lvl9pPr>
          </a:lstStyle>
          <a:p xmlns:a="http://schemas.openxmlformats.org/drawingml/2006/main">
            <a:pPr>
              <a:defRPr sz="3300" b="1">
                <a:solidFill>
                  <a:srgbClr val="123F5D"/>
                </a:solidFill>
              </a:defRPr>
            </a:pPr>
            <a:r>
              <a:rPr sz="3300" b="1">
                <a:solidFill>
                  <a:srgbClr val="123F5D"/>
                </a:solidFill>
              </a:rPr>
              <a:t>Cópias idênticas ficam no mesmo conjunto</a:t>
            </a:r>
          </a:p>
        </p:txBody>
      </p:sp>
      <p:sp>
        <p:nvSpPr>
          <p:cNvPr id="2" name="">
            <a:extLst xmlns:a="http://schemas.openxmlformats.org/drawingml/2006/main">
              <a:ext uri="{FF2B5EF4-FFF2-40B4-BE49-F238E27FC236}">
                <a16:creationId xmlns:a16="http://schemas.microsoft.com/office/drawing/2014/main" id="{F5AB4943-2682-4DB7-A44F-999531F27EA9}"/>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Bruno Pimentel | 1 minuto e 30 segundos</a:t>
            </a:r>
          </a:p>
        </p:txBody>
      </p:sp>
      <p:sp>
        <p:nvSpPr>
          <p:cNvPr id="3" name="">
            <a:extLst xmlns:a="http://schemas.openxmlformats.org/drawingml/2006/main">
              <a:ext uri="{FF2B5EF4-FFF2-40B4-BE49-F238E27FC236}">
                <a16:creationId xmlns:a16="http://schemas.microsoft.com/office/drawing/2014/main" id="{4C2F37F9-10C3-481E-BDEC-89B6846EF49E}"/>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4</a:t>
            </a:r>
          </a:p>
        </p:txBody>
      </p:sp>
      <p:sp>
        <p:nvSpPr>
          <p:cNvPr id="4" name="">
            <a:extLst xmlns:a="http://schemas.openxmlformats.org/drawingml/2006/main">
              <a:ext uri="{FF2B5EF4-FFF2-40B4-BE49-F238E27FC236}">
                <a16:creationId xmlns:a16="http://schemas.microsoft.com/office/drawing/2014/main" id="{B8E679A8-7FB1-4529-8546-DB6B49F389B3}"/>
              </a:ext>
            </a:extLst>
          </p:cNvPr>
          <p:cNvSpPr>
            <a:spLocks xmlns:a="http://schemas.openxmlformats.org/drawingml/2006/main" noGrp="1"/>
          </p:cNvSpPr>
          <p:nvPr/>
        </p:nvSpPr>
        <p:spPr>
          <a:xfrm xmlns:a="http://schemas.openxmlformats.org/drawingml/2006/main">
            <a:off x="609600" y="14763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defRPr>
            </a:defPPr>
            <a:lvl1pPr>
              <a:defRPr sz="2250" b="0">
                <a:solidFill>
                  <a:srgbClr val="243746"/>
                </a:solidFill>
              </a:defRPr>
            </a:lvl1pPr>
            <a:lvl2pPr>
              <a:defRPr sz="2250" b="0">
                <a:solidFill>
                  <a:srgbClr val="243746"/>
                </a:solidFill>
              </a:defRPr>
            </a:lvl2pPr>
            <a:lvl3pPr>
              <a:defRPr sz="2250" b="0">
                <a:solidFill>
                  <a:srgbClr val="243746"/>
                </a:solidFill>
              </a:defRPr>
            </a:lvl3pPr>
            <a:lvl4pPr>
              <a:defRPr sz="2250" b="0">
                <a:solidFill>
                  <a:srgbClr val="243746"/>
                </a:solidFill>
              </a:defRPr>
            </a:lvl4pPr>
            <a:lvl5pPr>
              <a:defRPr sz="2250" b="0">
                <a:solidFill>
                  <a:srgbClr val="243746"/>
                </a:solidFill>
              </a:defRPr>
            </a:lvl5pPr>
            <a:lvl6pPr>
              <a:defRPr sz="2250" b="0">
                <a:solidFill>
                  <a:srgbClr val="243746"/>
                </a:solidFill>
              </a:defRPr>
            </a:lvl6pPr>
            <a:lvl7pPr>
              <a:defRPr sz="2250" b="0">
                <a:solidFill>
                  <a:srgbClr val="243746"/>
                </a:solidFill>
              </a:defRPr>
            </a:lvl7pPr>
            <a:lvl8pPr>
              <a:defRPr sz="2250" b="0">
                <a:solidFill>
                  <a:srgbClr val="243746"/>
                </a:solidFill>
              </a:defRPr>
            </a:lvl8pPr>
            <a:lvl9pPr>
              <a:defRPr sz="2250" b="0">
                <a:solidFill>
                  <a:srgbClr val="243746"/>
                </a:solidFill>
              </a:defRPr>
            </a:lvl9pPr>
          </a:lstStyle>
          <a:p xmlns:a="http://schemas.openxmlformats.org/drawingml/2006/main">
            <a:pPr>
              <a:defRPr sz="2250" b="0">
                <a:solidFill>
                  <a:srgbClr val="243746"/>
                </a:solidFill>
              </a:defRPr>
            </a:pPr>
            <a:r>
              <a:rPr sz="2250" b="0">
                <a:solidFill>
                  <a:srgbClr val="243746"/>
                </a:solidFill>
              </a:rPr>
              <a:t>As imagens de 0 e O são iguais, com rótulos diferentes.</a:t>
            </a:r>
          </a:p>
          <a:p xmlns:a="http://schemas.openxmlformats.org/drawingml/2006/main">
            <a:pPr>
              <a:defRPr sz="2250" b="0">
                <a:solidFill>
                  <a:srgbClr val="243746"/>
                </a:solidFill>
              </a:defRPr>
            </a:pPr>
            <a:r>
              <a:rPr sz="2250" b="0">
                <a:solidFill>
                  <a:srgbClr val="243746"/>
                </a:solidFill>
              </a:rPr>
              <a:t>O hash dos pixels define os grupos da divisão.</a:t>
            </a:r>
          </a:p>
        </p:txBody>
      </p:sp>
      <p:graphicFrame>
        <p:nvGraphicFramePr>
          <p:cNvPr id="5" name="">
            <a:extLst xmlns:a="http://schemas.openxmlformats.org/drawingml/2006/main">
              <a:ext uri="{FF2B5EF4-FFF2-40B4-BE49-F238E27FC236}">
                <a16:creationId xmlns:a16="http://schemas.microsoft.com/office/drawing/2014/main" id="{A4C35EE3-1FE9-4BE0-9D45-F492A8AC1436}"/>
              </a:ext>
            </a:extLst>
          </p:cNvPr>
          <p:cNvGraphicFramePr/>
          <p:nvPr/>
        </p:nvGraphicFramePr>
        <p:xfrm>
          <a:off xmlns:a="http://schemas.openxmlformats.org/drawingml/2006/main" x="609600" y="2905125"/>
          <a:ext xmlns:a="http://schemas.openxmlformats.org/drawingml/2006/main" cx="10972800" cy="2476500"/>
        </p:xfrm>
        <a:graphic xmlns:a="http://schemas.openxmlformats.org/drawingml/2006/main">
          <a:graphicData uri="http://schemas.openxmlformats.org/drawingml/2006/table">
            <a:tbl>
              <a:tblPr/>
              <a:tblGrid>
                <a:gridCol w="4572000"/>
                <a:gridCol w="3200400"/>
                <a:gridCol w="3200400"/>
              </a:tblGrid>
              <a:tr h="619125">
                <a:tc>
                  <a:txBody>
                    <a:bodyPr/>
                    <a:lstStyle/>
                    <a:p>
                      <a:r>
                        <a:rPr sz="1800" b="1">
                          <a:solidFill>
                            <a:srgbClr val="243746"/>
                          </a:solidFill>
                        </a:rPr>
                        <a:t>Conjunto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rPr>
                        <a:t>Imagens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rPr>
                        <a:t>Padrões únicos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619125">
                <a:tc>
                  <a:txBody>
                    <a:bodyPr/>
                    <a:lstStyle/>
                    <a:p>
                      <a:r>
                        <a:rPr sz="1800" b="0">
                          <a:solidFill>
                            <a:srgbClr val="243746"/>
                          </a:solidFill>
                        </a:rPr>
                        <a:t>Treino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rPr>
                        <a:t>971</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rPr>
                        <a:t>943</a:t>
                      </a:r>
                    </a:p>
                  </a:txBody>
                  <a:tcPr marL="91440" marR="91440" marT="45720" marB="45720">
                    <a:lnR w="4763">
                      <a:solidFill>
                        <a:srgbClr val="D6E1E7"/>
                      </a:solidFill>
                      <a:prstDash val="solid"/>
                    </a:lnR>
                    <a:lnB w="4763">
                      <a:solidFill>
                        <a:srgbClr val="D6E1E7"/>
                      </a:solidFill>
                      <a:prstDash val="solid"/>
                    </a:lnB>
                    <a:solidFill>
                      <a:srgbClr val="FFFFFF"/>
                    </a:solidFill>
                  </a:tcPr>
                </a:tc>
              </a:tr>
              <a:tr h="619125">
                <a:tc>
                  <a:txBody>
                    <a:bodyPr/>
                    <a:lstStyle/>
                    <a:p>
                      <a:r>
                        <a:rPr sz="1800" b="0">
                          <a:solidFill>
                            <a:srgbClr val="243746"/>
                          </a:solidFill>
                        </a:rPr>
                        <a:t>Validação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rPr>
                        <a:t>217</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rPr>
                        <a:t>210</a:t>
                      </a:r>
                    </a:p>
                  </a:txBody>
                  <a:tcPr marL="91440" marR="91440" marT="45720" marB="45720">
                    <a:lnR w="4763">
                      <a:solidFill>
                        <a:srgbClr val="D6E1E7"/>
                      </a:solidFill>
                      <a:prstDash val="solid"/>
                    </a:lnR>
                    <a:lnB w="4763">
                      <a:solidFill>
                        <a:srgbClr val="D6E1E7"/>
                      </a:solidFill>
                      <a:prstDash val="solid"/>
                    </a:lnB>
                    <a:solidFill>
                      <a:srgbClr val="F5F8FA"/>
                    </a:solidFill>
                  </a:tcPr>
                </a:tc>
              </a:tr>
              <a:tr h="619125">
                <a:tc>
                  <a:txBody>
                    <a:bodyPr/>
                    <a:lstStyle/>
                    <a:p>
                      <a:r>
                        <a:rPr sz="1800" b="0">
                          <a:solidFill>
                            <a:srgbClr val="243746"/>
                          </a:solidFill>
                        </a:rPr>
                        <a:t>Teste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rPr>
                        <a:t>216</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rPr>
                        <a:t>210</a:t>
                      </a:r>
                    </a:p>
                  </a:txBody>
                  <a:tcPr marL="91440" marR="91440" marT="45720" marB="45720">
                    <a:lnR w="4763">
                      <a:solidFill>
                        <a:srgbClr val="D6E1E7"/>
                      </a:solidFill>
                      <a:prstDash val="solid"/>
                    </a:lnR>
                    <a:lnB w="4763">
                      <a:solidFill>
                        <a:srgbClr val="D6E1E7"/>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DE13B34-00E0-49B1-AE28-1589730EE8EE}"/>
              </a:ext>
            </a:extLst>
          </p:cNvPr>
          <p:cNvSpPr>
            <a:spLocks xmlns:a="http://schemas.openxmlformats.org/drawingml/2006/main" noGrp="1"/>
          </p:cNvSpPr>
          <p:nvPr/>
        </p:nvSpPr>
        <p:spPr>
          <a:xfrm xmlns:a="http://schemas.openxmlformats.org/drawingml/2006/main">
            <a:off x="609600" y="5638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7C80"/>
                </a:solidFill>
              </a:defRPr>
            </a:defPPr>
            <a:lvl1pPr>
              <a:defRPr sz="1875" b="0">
                <a:solidFill>
                  <a:srgbClr val="157C80"/>
                </a:solidFill>
              </a:defRPr>
            </a:lvl1pPr>
            <a:lvl2pPr>
              <a:defRPr sz="1875" b="0">
                <a:solidFill>
                  <a:srgbClr val="157C80"/>
                </a:solidFill>
              </a:defRPr>
            </a:lvl2pPr>
            <a:lvl3pPr>
              <a:defRPr sz="1875" b="0">
                <a:solidFill>
                  <a:srgbClr val="157C80"/>
                </a:solidFill>
              </a:defRPr>
            </a:lvl3pPr>
            <a:lvl4pPr>
              <a:defRPr sz="1875" b="0">
                <a:solidFill>
                  <a:srgbClr val="157C80"/>
                </a:solidFill>
              </a:defRPr>
            </a:lvl4pPr>
            <a:lvl5pPr>
              <a:defRPr sz="1875" b="0">
                <a:solidFill>
                  <a:srgbClr val="157C80"/>
                </a:solidFill>
              </a:defRPr>
            </a:lvl5pPr>
            <a:lvl6pPr>
              <a:defRPr sz="1875" b="0">
                <a:solidFill>
                  <a:srgbClr val="157C80"/>
                </a:solidFill>
              </a:defRPr>
            </a:lvl6pPr>
            <a:lvl7pPr>
              <a:defRPr sz="1875" b="0">
                <a:solidFill>
                  <a:srgbClr val="157C80"/>
                </a:solidFill>
              </a:defRPr>
            </a:lvl7pPr>
            <a:lvl8pPr>
              <a:defRPr sz="1875" b="0">
                <a:solidFill>
                  <a:srgbClr val="157C80"/>
                </a:solidFill>
              </a:defRPr>
            </a:lvl8pPr>
            <a:lvl9pPr>
              <a:defRPr sz="1875" b="0">
                <a:solidFill>
                  <a:srgbClr val="157C80"/>
                </a:solidFill>
              </a:defRPr>
            </a:lvl9pPr>
          </a:lstStyle>
          <a:p xmlns:a="http://schemas.openxmlformats.org/drawingml/2006/main">
            <a:pPr>
              <a:defRPr sz="1875" b="0">
                <a:solidFill>
                  <a:srgbClr val="157C80"/>
                </a:solidFill>
              </a:defRPr>
            </a:pPr>
            <a:r>
              <a:rPr sz="1875" b="0">
                <a:solidFill>
                  <a:srgbClr val="157C80"/>
                </a:solidFill>
              </a:rPr>
              <a:t>Seed 42 · Nenhuma cópia exata atravessa os conjuntos</a:t>
            </a:r>
          </a:p>
        </p:txBody>
      </p:sp>
    </p:spTree>
    <p:extLst>
      <p:ext uri="{BB962C8B-B14F-4D97-AF65-F5344CB8AC3E}">
        <p14:creationId xmlns:p14="http://schemas.microsoft.com/office/powerpoint/2010/main" val="3119596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9448EA-13DF-458C-8D38-5E9400C77DDA}"/>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defRPr>
            </a:defPPr>
            <a:lvl1pPr>
              <a:defRPr sz="3300" b="1">
                <a:solidFill>
                  <a:srgbClr val="123F5D"/>
                </a:solidFill>
              </a:defRPr>
            </a:lvl1pPr>
            <a:lvl2pPr>
              <a:defRPr sz="3300" b="1">
                <a:solidFill>
                  <a:srgbClr val="123F5D"/>
                </a:solidFill>
              </a:defRPr>
            </a:lvl2pPr>
            <a:lvl3pPr>
              <a:defRPr sz="3300" b="1">
                <a:solidFill>
                  <a:srgbClr val="123F5D"/>
                </a:solidFill>
              </a:defRPr>
            </a:lvl3pPr>
            <a:lvl4pPr>
              <a:defRPr sz="3300" b="1">
                <a:solidFill>
                  <a:srgbClr val="123F5D"/>
                </a:solidFill>
              </a:defRPr>
            </a:lvl4pPr>
            <a:lvl5pPr>
              <a:defRPr sz="3300" b="1">
                <a:solidFill>
                  <a:srgbClr val="123F5D"/>
                </a:solidFill>
              </a:defRPr>
            </a:lvl5pPr>
            <a:lvl6pPr>
              <a:defRPr sz="3300" b="1">
                <a:solidFill>
                  <a:srgbClr val="123F5D"/>
                </a:solidFill>
              </a:defRPr>
            </a:lvl6pPr>
            <a:lvl7pPr>
              <a:defRPr sz="3300" b="1">
                <a:solidFill>
                  <a:srgbClr val="123F5D"/>
                </a:solidFill>
              </a:defRPr>
            </a:lvl7pPr>
            <a:lvl8pPr>
              <a:defRPr sz="3300" b="1">
                <a:solidFill>
                  <a:srgbClr val="123F5D"/>
                </a:solidFill>
              </a:defRPr>
            </a:lvl8pPr>
            <a:lvl9pPr>
              <a:defRPr sz="3300" b="1">
                <a:solidFill>
                  <a:srgbClr val="123F5D"/>
                </a:solidFill>
              </a:defRPr>
            </a:lvl9pPr>
          </a:lstStyle>
          <a:p xmlns:a="http://schemas.openxmlformats.org/drawingml/2006/main">
            <a:pPr>
              <a:defRPr sz="3300" b="1">
                <a:solidFill>
                  <a:srgbClr val="123F5D"/>
                </a:solidFill>
              </a:defRPr>
            </a:pPr>
            <a:r>
              <a:rPr sz="3300" b="1">
                <a:solidFill>
                  <a:srgbClr val="123F5D"/>
                </a:solidFill>
              </a:rPr>
              <a:t>Arquitetura da CNN</a:t>
            </a:r>
          </a:p>
        </p:txBody>
      </p:sp>
      <p:sp>
        <p:nvSpPr>
          <p:cNvPr id="2" name="">
            <a:extLst xmlns:a="http://schemas.openxmlformats.org/drawingml/2006/main">
              <a:ext uri="{FF2B5EF4-FFF2-40B4-BE49-F238E27FC236}">
                <a16:creationId xmlns:a16="http://schemas.microsoft.com/office/drawing/2014/main" id="{37CF8FFD-9F62-4B1E-B4FC-78762223DAE0}"/>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Reynato Junior | 2 minutos</a:t>
            </a:r>
          </a:p>
        </p:txBody>
      </p:sp>
      <p:sp>
        <p:nvSpPr>
          <p:cNvPr id="3" name="">
            <a:extLst xmlns:a="http://schemas.openxmlformats.org/drawingml/2006/main">
              <a:ext uri="{FF2B5EF4-FFF2-40B4-BE49-F238E27FC236}">
                <a16:creationId xmlns:a16="http://schemas.microsoft.com/office/drawing/2014/main" id="{F1AB5A5C-CF1D-4E2B-A931-AA1BFAC7BB3D}"/>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5</a:t>
            </a:r>
          </a:p>
        </p:txBody>
      </p:sp>
      <p:graphicFrame>
        <p:nvGraphicFramePr>
          <p:cNvPr id="4" name="">
            <a:extLst xmlns:a="http://schemas.openxmlformats.org/drawingml/2006/main">
              <a:ext uri="{FF2B5EF4-FFF2-40B4-BE49-F238E27FC236}">
                <a16:creationId xmlns:a16="http://schemas.microsoft.com/office/drawing/2014/main" id="{92B43535-BF38-4320-B4BD-570712044352}"/>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7905750"/>
                <a:gridCol w="3067050"/>
              </a:tblGrid>
              <a:tr h="571500">
                <a:tc>
                  <a:txBody>
                    <a:bodyPr/>
                    <a:lstStyle/>
                    <a:p>
                      <a:r>
                        <a:rPr sz="1800" b="1">
                          <a:solidFill>
                            <a:srgbClr val="243746"/>
                          </a:solidFill>
                        </a:rPr>
                        <a:t>Etapa</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rPr>
                        <a:t>Saída por imagem</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rPr>
                        <a:t>Entrada binária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rPr>
                        <a:t>20 × 16 × 1</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rPr>
                        <a:t>Conv2D(16,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rPr>
                        <a:t>10 × 8 × 16</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rPr>
                        <a:t>Conv2D(32,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rPr>
                        <a:t>5 × 4 × 32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rPr>
                        <a:t>Flatten + Dense(64, ReLU)</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rPr>
                        <a:t>64</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rPr>
                        <a:t>Dropout(0,3), só na melhoria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rPr>
                        <a:t>64</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rPr>
                        <a:t>Dense(36, softmax)</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rPr>
                        <a:t>36</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sp>
        <p:nvSpPr>
          <p:cNvPr id="5" name="">
            <a:extLst xmlns:a="http://schemas.openxmlformats.org/drawingml/2006/main">
              <a:ext uri="{FF2B5EF4-FFF2-40B4-BE49-F238E27FC236}">
                <a16:creationId xmlns:a16="http://schemas.microsoft.com/office/drawing/2014/main" id="{1D212228-9030-4FE1-B637-865E82817DEC}"/>
              </a:ext>
            </a:extLst>
          </p:cNvPr>
          <p:cNvSpPr>
            <a:spLocks xmlns:a="http://schemas.openxmlformats.org/drawingml/2006/main" noGrp="1"/>
          </p:cNvSpPr>
          <p:nvPr/>
        </p:nvSpPr>
        <p:spPr>
          <a:xfrm xmlns:a="http://schemas.openxmlformats.org/drawingml/2006/main">
            <a:off x="609600" y="5695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57C80"/>
                </a:solidFill>
              </a:defRPr>
            </a:defPPr>
            <a:lvl1pPr>
              <a:defRPr sz="1800" b="0">
                <a:solidFill>
                  <a:srgbClr val="157C80"/>
                </a:solidFill>
              </a:defRPr>
            </a:lvl1pPr>
            <a:lvl2pPr>
              <a:defRPr sz="1800" b="0">
                <a:solidFill>
                  <a:srgbClr val="157C80"/>
                </a:solidFill>
              </a:defRPr>
            </a:lvl2pPr>
            <a:lvl3pPr>
              <a:defRPr sz="1800" b="0">
                <a:solidFill>
                  <a:srgbClr val="157C80"/>
                </a:solidFill>
              </a:defRPr>
            </a:lvl3pPr>
            <a:lvl4pPr>
              <a:defRPr sz="1800" b="0">
                <a:solidFill>
                  <a:srgbClr val="157C80"/>
                </a:solidFill>
              </a:defRPr>
            </a:lvl4pPr>
            <a:lvl5pPr>
              <a:defRPr sz="1800" b="0">
                <a:solidFill>
                  <a:srgbClr val="157C80"/>
                </a:solidFill>
              </a:defRPr>
            </a:lvl5pPr>
            <a:lvl6pPr>
              <a:defRPr sz="1800" b="0">
                <a:solidFill>
                  <a:srgbClr val="157C80"/>
                </a:solidFill>
              </a:defRPr>
            </a:lvl6pPr>
            <a:lvl7pPr>
              <a:defRPr sz="1800" b="0">
                <a:solidFill>
                  <a:srgbClr val="157C80"/>
                </a:solidFill>
              </a:defRPr>
            </a:lvl7pPr>
            <a:lvl8pPr>
              <a:defRPr sz="1800" b="0">
                <a:solidFill>
                  <a:srgbClr val="157C80"/>
                </a:solidFill>
              </a:defRPr>
            </a:lvl8pPr>
            <a:lvl9pPr>
              <a:defRPr sz="1800" b="0">
                <a:solidFill>
                  <a:srgbClr val="157C80"/>
                </a:solidFill>
              </a:defRPr>
            </a:lvl9pPr>
          </a:lstStyle>
          <a:p xmlns:a="http://schemas.openxmlformats.org/drawingml/2006/main">
            <a:pPr>
              <a:defRPr sz="1800" b="0">
                <a:solidFill>
                  <a:srgbClr val="157C80"/>
                </a:solidFill>
              </a:defRPr>
            </a:pPr>
            <a:r>
              <a:rPr sz="1800" b="0">
                <a:solidFill>
                  <a:srgbClr val="157C80"/>
                </a:solidFill>
              </a:rPr>
              <a:t>48.164 parâmetros nas duas CNNs; Dropout não adiciona pesos.</a:t>
            </a:r>
          </a:p>
        </p:txBody>
      </p:sp>
    </p:spTree>
    <p:extLst>
      <p:ext uri="{BB962C8B-B14F-4D97-AF65-F5344CB8AC3E}">
        <p14:creationId xmlns:p14="http://schemas.microsoft.com/office/powerpoint/2010/main" val="1958251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821799-E34C-4F6D-A64E-58B81EA47FA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defRPr>
            </a:defPPr>
            <a:lvl1pPr>
              <a:defRPr sz="3300" b="1">
                <a:solidFill>
                  <a:srgbClr val="123F5D"/>
                </a:solidFill>
              </a:defRPr>
            </a:lvl1pPr>
            <a:lvl2pPr>
              <a:defRPr sz="3300" b="1">
                <a:solidFill>
                  <a:srgbClr val="123F5D"/>
                </a:solidFill>
              </a:defRPr>
            </a:lvl2pPr>
            <a:lvl3pPr>
              <a:defRPr sz="3300" b="1">
                <a:solidFill>
                  <a:srgbClr val="123F5D"/>
                </a:solidFill>
              </a:defRPr>
            </a:lvl3pPr>
            <a:lvl4pPr>
              <a:defRPr sz="3300" b="1">
                <a:solidFill>
                  <a:srgbClr val="123F5D"/>
                </a:solidFill>
              </a:defRPr>
            </a:lvl4pPr>
            <a:lvl5pPr>
              <a:defRPr sz="3300" b="1">
                <a:solidFill>
                  <a:srgbClr val="123F5D"/>
                </a:solidFill>
              </a:defRPr>
            </a:lvl5pPr>
            <a:lvl6pPr>
              <a:defRPr sz="3300" b="1">
                <a:solidFill>
                  <a:srgbClr val="123F5D"/>
                </a:solidFill>
              </a:defRPr>
            </a:lvl6pPr>
            <a:lvl7pPr>
              <a:defRPr sz="3300" b="1">
                <a:solidFill>
                  <a:srgbClr val="123F5D"/>
                </a:solidFill>
              </a:defRPr>
            </a:lvl7pPr>
            <a:lvl8pPr>
              <a:defRPr sz="3300" b="1">
                <a:solidFill>
                  <a:srgbClr val="123F5D"/>
                </a:solidFill>
              </a:defRPr>
            </a:lvl8pPr>
            <a:lvl9pPr>
              <a:defRPr sz="3300" b="1">
                <a:solidFill>
                  <a:srgbClr val="123F5D"/>
                </a:solidFill>
              </a:defRPr>
            </a:lvl9pPr>
          </a:lstStyle>
          <a:p xmlns:a="http://schemas.openxmlformats.org/drawingml/2006/main">
            <a:pPr>
              <a:defRPr sz="3300" b="1">
                <a:solidFill>
                  <a:srgbClr val="123F5D"/>
                </a:solidFill>
              </a:defRPr>
            </a:pPr>
            <a:r>
              <a:rPr sz="3300" b="1">
                <a:solidFill>
                  <a:srgbClr val="123F5D"/>
                </a:solidFill>
              </a:rPr>
              <a:t>Treinamento e seleção</a:t>
            </a:r>
          </a:p>
        </p:txBody>
      </p:sp>
      <p:sp>
        <p:nvSpPr>
          <p:cNvPr id="2" name="">
            <a:extLst xmlns:a="http://schemas.openxmlformats.org/drawingml/2006/main">
              <a:ext uri="{FF2B5EF4-FFF2-40B4-BE49-F238E27FC236}">
                <a16:creationId xmlns:a16="http://schemas.microsoft.com/office/drawing/2014/main" id="{7ED31781-585D-464D-9BF0-85CB585AE886}"/>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Reynato Junior | 1 minuto</a:t>
            </a:r>
          </a:p>
        </p:txBody>
      </p:sp>
      <p:sp>
        <p:nvSpPr>
          <p:cNvPr id="3" name="">
            <a:extLst xmlns:a="http://schemas.openxmlformats.org/drawingml/2006/main">
              <a:ext uri="{FF2B5EF4-FFF2-40B4-BE49-F238E27FC236}">
                <a16:creationId xmlns:a16="http://schemas.microsoft.com/office/drawing/2014/main" id="{530F2861-B147-4CE2-8AE0-0F2D5A8AA930}"/>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6</a:t>
            </a:r>
          </a:p>
        </p:txBody>
      </p:sp>
      <p:sp>
        <p:nvSpPr>
          <p:cNvPr id="4" name="">
            <a:extLst xmlns:a="http://schemas.openxmlformats.org/drawingml/2006/main">
              <a:ext uri="{FF2B5EF4-FFF2-40B4-BE49-F238E27FC236}">
                <a16:creationId xmlns:a16="http://schemas.microsoft.com/office/drawing/2014/main" id="{D01283E0-B785-4414-B074-8CA0EB2AE2E4}"/>
              </a:ext>
            </a:extLst>
          </p:cNvPr>
          <p:cNvSpPr>
            <a:spLocks xmlns:a="http://schemas.openxmlformats.org/drawingml/2006/main" noGrp="1"/>
          </p:cNvSpPr>
          <p:nvPr/>
        </p:nvSpPr>
        <p:spPr>
          <a:xfrm xmlns:a="http://schemas.openxmlformats.org/drawingml/2006/main">
            <a:off x="609600" y="1619250"/>
            <a:ext cx="4905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defRPr>
            </a:defPPr>
            <a:lvl1pPr>
              <a:defRPr sz="2400" b="0">
                <a:solidFill>
                  <a:srgbClr val="243746"/>
                </a:solidFill>
              </a:defRPr>
            </a:lvl1pPr>
            <a:lvl2pPr>
              <a:defRPr sz="2400" b="0">
                <a:solidFill>
                  <a:srgbClr val="243746"/>
                </a:solidFill>
              </a:defRPr>
            </a:lvl2pPr>
            <a:lvl3pPr>
              <a:defRPr sz="2400" b="0">
                <a:solidFill>
                  <a:srgbClr val="243746"/>
                </a:solidFill>
              </a:defRPr>
            </a:lvl3pPr>
            <a:lvl4pPr>
              <a:defRPr sz="2400" b="0">
                <a:solidFill>
                  <a:srgbClr val="243746"/>
                </a:solidFill>
              </a:defRPr>
            </a:lvl4pPr>
            <a:lvl5pPr>
              <a:defRPr sz="2400" b="0">
                <a:solidFill>
                  <a:srgbClr val="243746"/>
                </a:solidFill>
              </a:defRPr>
            </a:lvl5pPr>
            <a:lvl6pPr>
              <a:defRPr sz="2400" b="0">
                <a:solidFill>
                  <a:srgbClr val="243746"/>
                </a:solidFill>
              </a:defRPr>
            </a:lvl6pPr>
            <a:lvl7pPr>
              <a:defRPr sz="2400" b="0">
                <a:solidFill>
                  <a:srgbClr val="243746"/>
                </a:solidFill>
              </a:defRPr>
            </a:lvl7pPr>
            <a:lvl8pPr>
              <a:defRPr sz="2400" b="0">
                <a:solidFill>
                  <a:srgbClr val="243746"/>
                </a:solidFill>
              </a:defRPr>
            </a:lvl8pPr>
            <a:lvl9pPr>
              <a:defRPr sz="2400" b="0">
                <a:solidFill>
                  <a:srgbClr val="243746"/>
                </a:solidFill>
              </a:defRPr>
            </a:lvl9pPr>
          </a:lstStyle>
          <a:p xmlns:a="http://schemas.openxmlformats.org/drawingml/2006/main">
            <a:pPr>
              <a:defRPr sz="2400" b="0">
                <a:solidFill>
                  <a:srgbClr val="243746"/>
                </a:solidFill>
              </a:defRPr>
            </a:pPr>
            <a:r>
              <a:rPr sz="2400" b="0">
                <a:solidFill>
                  <a:srgbClr val="243746"/>
                </a:solidFill>
              </a:rPr>
              <a:t>Adam: taxa 0,001</a:t>
            </a:r>
          </a:p>
          <a:p xmlns:a="http://schemas.openxmlformats.org/drawingml/2006/main">
            <a:pPr>
              <a:defRPr sz="2400" b="0">
                <a:solidFill>
                  <a:srgbClr val="243746"/>
                </a:solidFill>
              </a:defRPr>
            </a:pPr>
            <a:r>
              <a:rPr sz="2400" b="0">
                <a:solidFill>
                  <a:srgbClr val="243746"/>
                </a:solidFill>
              </a:rPr>
              <a:t>Batch: 32 imagens</a:t>
            </a:r>
          </a:p>
          <a:p xmlns:a="http://schemas.openxmlformats.org/drawingml/2006/main">
            <a:pPr>
              <a:defRPr sz="2400" b="0">
                <a:solidFill>
                  <a:srgbClr val="243746"/>
                </a:solidFill>
              </a:defRPr>
            </a:pPr>
            <a:r>
              <a:rPr sz="2400" b="0">
                <a:solidFill>
                  <a:srgbClr val="243746"/>
                </a:solidFill>
              </a:rPr>
              <a:t>Limite: 80 épocas</a:t>
            </a:r>
          </a:p>
        </p:txBody>
      </p:sp>
      <p:sp>
        <p:nvSpPr>
          <p:cNvPr id="5" name="">
            <a:extLst xmlns:a="http://schemas.openxmlformats.org/drawingml/2006/main">
              <a:ext uri="{FF2B5EF4-FFF2-40B4-BE49-F238E27FC236}">
                <a16:creationId xmlns:a16="http://schemas.microsoft.com/office/drawing/2014/main" id="{3EC14D9B-C7B1-4903-BE8D-DDF64DFB0FC5}"/>
              </a:ext>
            </a:extLst>
          </p:cNvPr>
          <p:cNvSpPr>
            <a:spLocks xmlns:a="http://schemas.openxmlformats.org/drawingml/2006/main" noGrp="1"/>
          </p:cNvSpPr>
          <p:nvPr/>
        </p:nvSpPr>
        <p:spPr>
          <a:xfrm xmlns:a="http://schemas.openxmlformats.org/drawingml/2006/main">
            <a:off x="6477000" y="16192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defRPr>
            </a:defPPr>
            <a:lvl1pPr>
              <a:defRPr sz="2400" b="0">
                <a:solidFill>
                  <a:srgbClr val="243746"/>
                </a:solidFill>
              </a:defRPr>
            </a:lvl1pPr>
            <a:lvl2pPr>
              <a:defRPr sz="2400" b="0">
                <a:solidFill>
                  <a:srgbClr val="243746"/>
                </a:solidFill>
              </a:defRPr>
            </a:lvl2pPr>
            <a:lvl3pPr>
              <a:defRPr sz="2400" b="0">
                <a:solidFill>
                  <a:srgbClr val="243746"/>
                </a:solidFill>
              </a:defRPr>
            </a:lvl3pPr>
            <a:lvl4pPr>
              <a:defRPr sz="2400" b="0">
                <a:solidFill>
                  <a:srgbClr val="243746"/>
                </a:solidFill>
              </a:defRPr>
            </a:lvl4pPr>
            <a:lvl5pPr>
              <a:defRPr sz="2400" b="0">
                <a:solidFill>
                  <a:srgbClr val="243746"/>
                </a:solidFill>
              </a:defRPr>
            </a:lvl5pPr>
            <a:lvl6pPr>
              <a:defRPr sz="2400" b="0">
                <a:solidFill>
                  <a:srgbClr val="243746"/>
                </a:solidFill>
              </a:defRPr>
            </a:lvl6pPr>
            <a:lvl7pPr>
              <a:defRPr sz="2400" b="0">
                <a:solidFill>
                  <a:srgbClr val="243746"/>
                </a:solidFill>
              </a:defRPr>
            </a:lvl7pPr>
            <a:lvl8pPr>
              <a:defRPr sz="2400" b="0">
                <a:solidFill>
                  <a:srgbClr val="243746"/>
                </a:solidFill>
              </a:defRPr>
            </a:lvl8pPr>
            <a:lvl9pPr>
              <a:defRPr sz="2400" b="0">
                <a:solidFill>
                  <a:srgbClr val="243746"/>
                </a:solidFill>
              </a:defRPr>
            </a:lvl9pPr>
          </a:lstStyle>
          <a:p xmlns:a="http://schemas.openxmlformats.org/drawingml/2006/main">
            <a:pPr>
              <a:defRPr sz="2400" b="0">
                <a:solidFill>
                  <a:srgbClr val="243746"/>
                </a:solidFill>
              </a:defRPr>
            </a:pPr>
            <a:r>
              <a:rPr sz="2400" b="0">
                <a:solidFill>
                  <a:srgbClr val="243746"/>
                </a:solidFill>
              </a:rPr>
              <a:t>Perda: entropia cruzada</a:t>
            </a:r>
          </a:p>
          <a:p xmlns:a="http://schemas.openxmlformats.org/drawingml/2006/main">
            <a:pPr>
              <a:defRPr sz="2400" b="0">
                <a:solidFill>
                  <a:srgbClr val="243746"/>
                </a:solidFill>
              </a:defRPr>
            </a:pPr>
            <a:r>
              <a:rPr sz="2400" b="0">
                <a:solidFill>
                  <a:srgbClr val="243746"/>
                </a:solidFill>
              </a:rPr>
              <a:t>Rótulos inteiros (sparse)</a:t>
            </a:r>
          </a:p>
          <a:p xmlns:a="http://schemas.openxmlformats.org/drawingml/2006/main">
            <a:pPr>
              <a:defRPr sz="2400" b="0">
                <a:solidFill>
                  <a:srgbClr val="243746"/>
                </a:solidFill>
              </a:defRPr>
            </a:pPr>
            <a:r>
              <a:rPr sz="2400" b="0">
                <a:solidFill>
                  <a:srgbClr val="243746"/>
                </a:solidFill>
              </a:rPr>
              <a:t>Métrica principal: acurácia</a:t>
            </a:r>
          </a:p>
        </p:txBody>
      </p:sp>
      <p:sp>
        <p:nvSpPr>
          <p:cNvPr id="6" name="">
            <a:extLst xmlns:a="http://schemas.openxmlformats.org/drawingml/2006/main">
              <a:ext uri="{FF2B5EF4-FFF2-40B4-BE49-F238E27FC236}">
                <a16:creationId xmlns:a16="http://schemas.microsoft.com/office/drawing/2014/main" id="{569D6159-5E27-4F2D-A602-257B4DC602C5}"/>
              </a:ext>
            </a:extLst>
          </p:cNvPr>
          <p:cNvSpPr>
            <a:spLocks xmlns:a="http://schemas.openxmlformats.org/drawingml/2006/main" noGrp="1"/>
          </p:cNvSpPr>
          <p:nvPr/>
        </p:nvSpPr>
        <p:spPr>
          <a:xfrm xmlns:a="http://schemas.openxmlformats.org/drawingml/2006/main">
            <a:off x="609600" y="3905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F5D"/>
                </a:solidFill>
              </a:defRPr>
            </a:defPPr>
            <a:lvl1pPr>
              <a:defRPr sz="2400" b="1">
                <a:solidFill>
                  <a:srgbClr val="123F5D"/>
                </a:solidFill>
              </a:defRPr>
            </a:lvl1pPr>
            <a:lvl2pPr>
              <a:defRPr sz="2400" b="1">
                <a:solidFill>
                  <a:srgbClr val="123F5D"/>
                </a:solidFill>
              </a:defRPr>
            </a:lvl2pPr>
            <a:lvl3pPr>
              <a:defRPr sz="2400" b="1">
                <a:solidFill>
                  <a:srgbClr val="123F5D"/>
                </a:solidFill>
              </a:defRPr>
            </a:lvl3pPr>
            <a:lvl4pPr>
              <a:defRPr sz="2400" b="1">
                <a:solidFill>
                  <a:srgbClr val="123F5D"/>
                </a:solidFill>
              </a:defRPr>
            </a:lvl4pPr>
            <a:lvl5pPr>
              <a:defRPr sz="2400" b="1">
                <a:solidFill>
                  <a:srgbClr val="123F5D"/>
                </a:solidFill>
              </a:defRPr>
            </a:lvl5pPr>
            <a:lvl6pPr>
              <a:defRPr sz="2400" b="1">
                <a:solidFill>
                  <a:srgbClr val="123F5D"/>
                </a:solidFill>
              </a:defRPr>
            </a:lvl6pPr>
            <a:lvl7pPr>
              <a:defRPr sz="2400" b="1">
                <a:solidFill>
                  <a:srgbClr val="123F5D"/>
                </a:solidFill>
              </a:defRPr>
            </a:lvl7pPr>
            <a:lvl8pPr>
              <a:defRPr sz="2400" b="1">
                <a:solidFill>
                  <a:srgbClr val="123F5D"/>
                </a:solidFill>
              </a:defRPr>
            </a:lvl8pPr>
            <a:lvl9pPr>
              <a:defRPr sz="2400" b="1">
                <a:solidFill>
                  <a:srgbClr val="123F5D"/>
                </a:solidFill>
              </a:defRPr>
            </a:lvl9pPr>
          </a:lstStyle>
          <a:p xmlns:a="http://schemas.openxmlformats.org/drawingml/2006/main">
            <a:pPr>
              <a:defRPr sz="2400" b="1">
                <a:solidFill>
                  <a:srgbClr val="123F5D"/>
                </a:solidFill>
              </a:defRPr>
            </a:pPr>
            <a:r>
              <a:rPr sz="2400" b="1">
                <a:solidFill>
                  <a:srgbClr val="123F5D"/>
                </a:solidFill>
              </a:rPr>
              <a:t>EarlyStopping: dez épocas sem reduzir val_loss.</a:t>
            </a:r>
          </a:p>
          <a:p xmlns:a="http://schemas.openxmlformats.org/drawingml/2006/main">
            <a:pPr>
              <a:defRPr sz="2400" b="1">
                <a:solidFill>
                  <a:srgbClr val="123F5D"/>
                </a:solidFill>
              </a:defRPr>
            </a:pPr>
            <a:r>
              <a:rPr sz="2400" b="1">
                <a:solidFill>
                  <a:srgbClr val="123F5D"/>
                </a:solidFill>
              </a:rPr>
              <a:t>Restaurar os pesos da melhor época.</a:t>
            </a:r>
          </a:p>
        </p:txBody>
      </p:sp>
      <p:sp>
        <p:nvSpPr>
          <p:cNvPr id="7" name="">
            <a:extLst xmlns:a="http://schemas.openxmlformats.org/drawingml/2006/main">
              <a:ext uri="{FF2B5EF4-FFF2-40B4-BE49-F238E27FC236}">
                <a16:creationId xmlns:a16="http://schemas.microsoft.com/office/drawing/2014/main" id="{D5E6EFDF-5DFE-4321-BD29-DB1B058DB103}"/>
              </a:ext>
            </a:extLst>
          </p:cNvPr>
          <p:cNvSpPr>
            <a:spLocks xmlns:a="http://schemas.openxmlformats.org/drawingml/2006/main" noGrp="1"/>
          </p:cNvSpPr>
          <p:nvPr/>
        </p:nvSpPr>
        <p:spPr>
          <a:xfrm xmlns:a="http://schemas.openxmlformats.org/drawingml/2006/main">
            <a:off x="609600" y="53435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7C80"/>
                </a:solidFill>
              </a:defRPr>
            </a:defPPr>
            <a:lvl1pPr>
              <a:defRPr sz="2100" b="0">
                <a:solidFill>
                  <a:srgbClr val="157C80"/>
                </a:solidFill>
              </a:defRPr>
            </a:lvl1pPr>
            <a:lvl2pPr>
              <a:defRPr sz="2100" b="0">
                <a:solidFill>
                  <a:srgbClr val="157C80"/>
                </a:solidFill>
              </a:defRPr>
            </a:lvl2pPr>
            <a:lvl3pPr>
              <a:defRPr sz="2100" b="0">
                <a:solidFill>
                  <a:srgbClr val="157C80"/>
                </a:solidFill>
              </a:defRPr>
            </a:lvl3pPr>
            <a:lvl4pPr>
              <a:defRPr sz="2100" b="0">
                <a:solidFill>
                  <a:srgbClr val="157C80"/>
                </a:solidFill>
              </a:defRPr>
            </a:lvl4pPr>
            <a:lvl5pPr>
              <a:defRPr sz="2100" b="0">
                <a:solidFill>
                  <a:srgbClr val="157C80"/>
                </a:solidFill>
              </a:defRPr>
            </a:lvl5pPr>
            <a:lvl6pPr>
              <a:defRPr sz="2100" b="0">
                <a:solidFill>
                  <a:srgbClr val="157C80"/>
                </a:solidFill>
              </a:defRPr>
            </a:lvl6pPr>
            <a:lvl7pPr>
              <a:defRPr sz="2100" b="0">
                <a:solidFill>
                  <a:srgbClr val="157C80"/>
                </a:solidFill>
              </a:defRPr>
            </a:lvl7pPr>
            <a:lvl8pPr>
              <a:defRPr sz="2100" b="0">
                <a:solidFill>
                  <a:srgbClr val="157C80"/>
                </a:solidFill>
              </a:defRPr>
            </a:lvl8pPr>
            <a:lvl9pPr>
              <a:defRPr sz="2100" b="0">
                <a:solidFill>
                  <a:srgbClr val="157C80"/>
                </a:solidFill>
              </a:defRPr>
            </a:lvl9pPr>
          </a:lstStyle>
          <a:p xmlns:a="http://schemas.openxmlformats.org/drawingml/2006/main">
            <a:pPr>
              <a:defRPr sz="2100" b="0">
                <a:solidFill>
                  <a:srgbClr val="157C80"/>
                </a:solidFill>
              </a:defRPr>
            </a:pPr>
            <a:r>
              <a:rPr sz="2100" b="0">
                <a:solidFill>
                  <a:srgbClr val="157C80"/>
                </a:solidFill>
              </a:rPr>
              <a:t>Selecionar pela validação. Avaliar no teste somente ao final.</a:t>
            </a:r>
          </a:p>
        </p:txBody>
      </p:sp>
    </p:spTree>
    <p:extLst>
      <p:ext uri="{BB962C8B-B14F-4D97-AF65-F5344CB8AC3E}">
        <p14:creationId xmlns:p14="http://schemas.microsoft.com/office/powerpoint/2010/main" val="1855096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695393-052C-4E1D-BC53-280799B9A63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defRPr>
            </a:defPPr>
            <a:lvl1pPr>
              <a:defRPr sz="3300" b="1">
                <a:solidFill>
                  <a:srgbClr val="123F5D"/>
                </a:solidFill>
              </a:defRPr>
            </a:lvl1pPr>
            <a:lvl2pPr>
              <a:defRPr sz="3300" b="1">
                <a:solidFill>
                  <a:srgbClr val="123F5D"/>
                </a:solidFill>
              </a:defRPr>
            </a:lvl2pPr>
            <a:lvl3pPr>
              <a:defRPr sz="3300" b="1">
                <a:solidFill>
                  <a:srgbClr val="123F5D"/>
                </a:solidFill>
              </a:defRPr>
            </a:lvl3pPr>
            <a:lvl4pPr>
              <a:defRPr sz="3300" b="1">
                <a:solidFill>
                  <a:srgbClr val="123F5D"/>
                </a:solidFill>
              </a:defRPr>
            </a:lvl4pPr>
            <a:lvl5pPr>
              <a:defRPr sz="3300" b="1">
                <a:solidFill>
                  <a:srgbClr val="123F5D"/>
                </a:solidFill>
              </a:defRPr>
            </a:lvl5pPr>
            <a:lvl6pPr>
              <a:defRPr sz="3300" b="1">
                <a:solidFill>
                  <a:srgbClr val="123F5D"/>
                </a:solidFill>
              </a:defRPr>
            </a:lvl6pPr>
            <a:lvl7pPr>
              <a:defRPr sz="3300" b="1">
                <a:solidFill>
                  <a:srgbClr val="123F5D"/>
                </a:solidFill>
              </a:defRPr>
            </a:lvl7pPr>
            <a:lvl8pPr>
              <a:defRPr sz="3300" b="1">
                <a:solidFill>
                  <a:srgbClr val="123F5D"/>
                </a:solidFill>
              </a:defRPr>
            </a:lvl8pPr>
            <a:lvl9pPr>
              <a:defRPr sz="3300" b="1">
                <a:solidFill>
                  <a:srgbClr val="123F5D"/>
                </a:solidFill>
              </a:defRPr>
            </a:lvl9pPr>
          </a:lstStyle>
          <a:p xmlns:a="http://schemas.openxmlformats.org/drawingml/2006/main">
            <a:pPr>
              <a:defRPr sz="3300" b="1">
                <a:solidFill>
                  <a:srgbClr val="123F5D"/>
                </a:solidFill>
              </a:defRPr>
            </a:pPr>
            <a:r>
              <a:rPr sz="3300" b="1">
                <a:solidFill>
                  <a:srgbClr val="123F5D"/>
                </a:solidFill>
              </a:rPr>
              <a:t>Dropout melhorou a validação nesta execução</a:t>
            </a:r>
          </a:p>
        </p:txBody>
      </p:sp>
      <p:sp>
        <p:nvSpPr>
          <p:cNvPr id="2" name="">
            <a:extLst xmlns:a="http://schemas.openxmlformats.org/drawingml/2006/main">
              <a:ext uri="{FF2B5EF4-FFF2-40B4-BE49-F238E27FC236}">
                <a16:creationId xmlns:a16="http://schemas.microsoft.com/office/drawing/2014/main" id="{D01666A8-C1CE-4ADA-A5B9-90AAF83D4469}"/>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Wallace Jardim | 1 minuto e 30 segundos</a:t>
            </a:r>
          </a:p>
        </p:txBody>
      </p:sp>
      <p:sp>
        <p:nvSpPr>
          <p:cNvPr id="3" name="">
            <a:extLst xmlns:a="http://schemas.openxmlformats.org/drawingml/2006/main">
              <a:ext uri="{FF2B5EF4-FFF2-40B4-BE49-F238E27FC236}">
                <a16:creationId xmlns:a16="http://schemas.microsoft.com/office/drawing/2014/main" id="{0E12390B-3D9D-4EA2-87B1-6B19923ECC8D}"/>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7</a:t>
            </a:r>
          </a:p>
        </p:txBody>
      </p:sp>
      <p:graphicFrame>
        <p:nvGraphicFramePr>
          <p:cNvPr id="4" name="Chart">
            <a:extLst xmlns:a="http://schemas.openxmlformats.org/drawingml/2006/main">
              <a:ext uri="{FF2B5EF4-FFF2-40B4-BE49-F238E27FC236}">
                <a16:creationId xmlns:a16="http://schemas.microsoft.com/office/drawing/2014/main" id="{E5C5EFA9-69E5-4299-BDA4-0C4B53D7543C}"/>
              </a:ext>
            </a:extLst>
          </p:cNvPr>
          <p:cNvGraphicFramePr/>
          <p:nvPr/>
        </p:nvGraphicFramePr>
        <p:xfrm>
          <a:off xmlns:a="http://schemas.openxmlformats.org/drawingml/2006/main" x="609600" y="1524000"/>
          <a:ext xmlns:a="http://schemas.openxmlformats.org/drawingml/2006/main" cx="10972800" cy="3714750"/>
        </p:xfrm>
        <a:graphic xmlns:a="http://schemas.openxmlformats.org/drawingml/2006/main">
          <a:graphicData uri="http://schemas.openxmlformats.org/drawingml/2006/chart">
            <c:chart xmlns:r="http://schemas.openxmlformats.org/officeDocument/2006/relationships" xmlns:c="http://schemas.openxmlformats.org/drawingml/2006/chart" r:id="R7fdcc70193d04a32"/>
          </a:graphicData>
        </a:graphic>
      </p:graphicFrame>
      <p:sp>
        <p:nvSpPr>
          <p:cNvPr id="5" name="">
            <a:extLst xmlns:a="http://schemas.openxmlformats.org/drawingml/2006/main">
              <a:ext uri="{FF2B5EF4-FFF2-40B4-BE49-F238E27FC236}">
                <a16:creationId xmlns:a16="http://schemas.microsoft.com/office/drawing/2014/main" id="{88CC85B7-F495-4001-AC3A-65D91283FCCD}"/>
              </a:ext>
            </a:extLst>
          </p:cNvPr>
          <p:cNvSpPr>
            <a:spLocks xmlns:a="http://schemas.openxmlformats.org/drawingml/2006/main" noGrp="1"/>
          </p:cNvSpPr>
          <p:nvPr/>
        </p:nvSpPr>
        <p:spPr>
          <a:xfrm xmlns:a="http://schemas.openxmlformats.org/drawingml/2006/main">
            <a:off x="609600" y="53911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defRPr>
            </a:defPPr>
            <a:lvl1pPr>
              <a:defRPr sz="2025" b="0">
                <a:solidFill>
                  <a:srgbClr val="123F5D"/>
                </a:solidFill>
              </a:defRPr>
            </a:lvl1pPr>
            <a:lvl2pPr>
              <a:defRPr sz="2025" b="0">
                <a:solidFill>
                  <a:srgbClr val="123F5D"/>
                </a:solidFill>
              </a:defRPr>
            </a:lvl2pPr>
            <a:lvl3pPr>
              <a:defRPr sz="2025" b="0">
                <a:solidFill>
                  <a:srgbClr val="123F5D"/>
                </a:solidFill>
              </a:defRPr>
            </a:lvl3pPr>
            <a:lvl4pPr>
              <a:defRPr sz="2025" b="0">
                <a:solidFill>
                  <a:srgbClr val="123F5D"/>
                </a:solidFill>
              </a:defRPr>
            </a:lvl4pPr>
            <a:lvl5pPr>
              <a:defRPr sz="2025" b="0">
                <a:solidFill>
                  <a:srgbClr val="123F5D"/>
                </a:solidFill>
              </a:defRPr>
            </a:lvl5pPr>
            <a:lvl6pPr>
              <a:defRPr sz="2025" b="0">
                <a:solidFill>
                  <a:srgbClr val="123F5D"/>
                </a:solidFill>
              </a:defRPr>
            </a:lvl6pPr>
            <a:lvl7pPr>
              <a:defRPr sz="2025" b="0">
                <a:solidFill>
                  <a:srgbClr val="123F5D"/>
                </a:solidFill>
              </a:defRPr>
            </a:lvl7pPr>
            <a:lvl8pPr>
              <a:defRPr sz="2025" b="0">
                <a:solidFill>
                  <a:srgbClr val="123F5D"/>
                </a:solidFill>
              </a:defRPr>
            </a:lvl8pPr>
            <a:lvl9pPr>
              <a:defRPr sz="2025" b="0">
                <a:solidFill>
                  <a:srgbClr val="123F5D"/>
                </a:solidFill>
              </a:defRPr>
            </a:lvl9pPr>
          </a:lstStyle>
          <a:p xmlns:a="http://schemas.openxmlformats.org/drawingml/2006/main">
            <a:pPr>
              <a:defRPr sz="2025" b="0">
                <a:solidFill>
                  <a:srgbClr val="123F5D"/>
                </a:solidFill>
              </a:defRPr>
            </a:pPr>
            <a:r>
              <a:rPr sz="2025" b="0">
                <a:solidFill>
                  <a:srgbClr val="123F5D"/>
                </a:solidFill>
              </a:rPr>
              <a:t>CNN inicial: 73,73% → CNN Dropout: 77,42%</a:t>
            </a:r>
          </a:p>
          <a:p xmlns:a="http://schemas.openxmlformats.org/drawingml/2006/main">
            <a:pPr>
              <a:defRPr sz="2025" b="0">
                <a:solidFill>
                  <a:srgbClr val="123F5D"/>
                </a:solidFill>
              </a:defRPr>
            </a:pPr>
            <a:r>
              <a:rPr sz="2025" b="0">
                <a:solidFill>
                  <a:srgbClr val="123F5D"/>
                </a:solidFill>
              </a:rPr>
              <a:t>A melhoria foi acrescentar Dropout(0,3); o restante foi mantido.</a:t>
            </a:r>
          </a:p>
        </p:txBody>
      </p:sp>
    </p:spTree>
    <p:extLst>
      <p:ext uri="{BB962C8B-B14F-4D97-AF65-F5344CB8AC3E}">
        <p14:creationId xmlns:p14="http://schemas.microsoft.com/office/powerpoint/2010/main" val="6604590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C06CD4-F1CA-4706-B442-A687C6B48CE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defRPr>
            </a:defPPr>
            <a:lvl1pPr>
              <a:defRPr sz="3300" b="1">
                <a:solidFill>
                  <a:srgbClr val="123F5D"/>
                </a:solidFill>
              </a:defRPr>
            </a:lvl1pPr>
            <a:lvl2pPr>
              <a:defRPr sz="3300" b="1">
                <a:solidFill>
                  <a:srgbClr val="123F5D"/>
                </a:solidFill>
              </a:defRPr>
            </a:lvl2pPr>
            <a:lvl3pPr>
              <a:defRPr sz="3300" b="1">
                <a:solidFill>
                  <a:srgbClr val="123F5D"/>
                </a:solidFill>
              </a:defRPr>
            </a:lvl3pPr>
            <a:lvl4pPr>
              <a:defRPr sz="3300" b="1">
                <a:solidFill>
                  <a:srgbClr val="123F5D"/>
                </a:solidFill>
              </a:defRPr>
            </a:lvl4pPr>
            <a:lvl5pPr>
              <a:defRPr sz="3300" b="1">
                <a:solidFill>
                  <a:srgbClr val="123F5D"/>
                </a:solidFill>
              </a:defRPr>
            </a:lvl5pPr>
            <a:lvl6pPr>
              <a:defRPr sz="3300" b="1">
                <a:solidFill>
                  <a:srgbClr val="123F5D"/>
                </a:solidFill>
              </a:defRPr>
            </a:lvl6pPr>
            <a:lvl7pPr>
              <a:defRPr sz="3300" b="1">
                <a:solidFill>
                  <a:srgbClr val="123F5D"/>
                </a:solidFill>
              </a:defRPr>
            </a:lvl7pPr>
            <a:lvl8pPr>
              <a:defRPr sz="3300" b="1">
                <a:solidFill>
                  <a:srgbClr val="123F5D"/>
                </a:solidFill>
              </a:defRPr>
            </a:lvl8pPr>
            <a:lvl9pPr>
              <a:defRPr sz="3300" b="1">
                <a:solidFill>
                  <a:srgbClr val="123F5D"/>
                </a:solidFill>
              </a:defRPr>
            </a:lvl9pPr>
          </a:lstStyle>
          <a:p xmlns:a="http://schemas.openxmlformats.org/drawingml/2006/main">
            <a:pPr>
              <a:defRPr sz="3300" b="1">
                <a:solidFill>
                  <a:srgbClr val="123F5D"/>
                </a:solidFill>
              </a:defRPr>
            </a:pPr>
            <a:r>
              <a:rPr sz="3300" b="1">
                <a:solidFill>
                  <a:srgbClr val="123F5D"/>
                </a:solidFill>
              </a:rPr>
              <a:t>Perda de treino e validação</a:t>
            </a:r>
          </a:p>
        </p:txBody>
      </p:sp>
      <p:sp>
        <p:nvSpPr>
          <p:cNvPr id="2" name="">
            <a:extLst xmlns:a="http://schemas.openxmlformats.org/drawingml/2006/main">
              <a:ext uri="{FF2B5EF4-FFF2-40B4-BE49-F238E27FC236}">
                <a16:creationId xmlns:a16="http://schemas.microsoft.com/office/drawing/2014/main" id="{AECCC975-DCEA-4726-B34B-07C6C03DCB51}"/>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Wallace Jardim | 1 minuto e 30 segundos</a:t>
            </a:r>
          </a:p>
        </p:txBody>
      </p:sp>
      <p:sp>
        <p:nvSpPr>
          <p:cNvPr id="3" name="">
            <a:extLst xmlns:a="http://schemas.openxmlformats.org/drawingml/2006/main">
              <a:ext uri="{FF2B5EF4-FFF2-40B4-BE49-F238E27FC236}">
                <a16:creationId xmlns:a16="http://schemas.microsoft.com/office/drawing/2014/main" id="{F1AEA09E-B0B5-4C5F-80AC-20F9EBD24709}"/>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8</a:t>
            </a:r>
          </a:p>
        </p:txBody>
      </p:sp>
      <p:graphicFrame>
        <p:nvGraphicFramePr>
          <p:cNvPr id="4" name="Chart">
            <a:extLst xmlns:a="http://schemas.openxmlformats.org/drawingml/2006/main">
              <a:ext uri="{FF2B5EF4-FFF2-40B4-BE49-F238E27FC236}">
                <a16:creationId xmlns:a16="http://schemas.microsoft.com/office/drawing/2014/main" id="{3589C23E-8E5C-4167-992C-90A9D8001FB6}"/>
              </a:ext>
            </a:extLst>
          </p:cNvPr>
          <p:cNvGraphicFramePr/>
          <p:nvPr/>
        </p:nvGraphicFramePr>
        <p:xfrm>
          <a:off xmlns:a="http://schemas.openxmlformats.org/drawingml/2006/main" x="60960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47ea45ff333146bc"/>
          </a:graphicData>
        </a:graphic>
      </p:graphicFrame>
      <p:graphicFrame>
        <p:nvGraphicFramePr>
          <p:cNvPr id="5" name="Chart">
            <a:extLst xmlns:a="http://schemas.openxmlformats.org/drawingml/2006/main">
              <a:ext uri="{FF2B5EF4-FFF2-40B4-BE49-F238E27FC236}">
                <a16:creationId xmlns:a16="http://schemas.microsoft.com/office/drawing/2014/main" id="{187D5C28-A7B9-47EC-BFBD-9CE218899132}"/>
              </a:ext>
            </a:extLst>
          </p:cNvPr>
          <p:cNvGraphicFramePr/>
          <p:nvPr/>
        </p:nvGraphicFramePr>
        <p:xfrm>
          <a:off xmlns:a="http://schemas.openxmlformats.org/drawingml/2006/main" x="622935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fa4384f2ee8a45e5"/>
          </a:graphicData>
        </a:graphic>
      </p:graphicFrame>
      <p:sp>
        <p:nvSpPr>
          <p:cNvPr id="6" name="">
            <a:extLst xmlns:a="http://schemas.openxmlformats.org/drawingml/2006/main">
              <a:ext uri="{FF2B5EF4-FFF2-40B4-BE49-F238E27FC236}">
                <a16:creationId xmlns:a16="http://schemas.microsoft.com/office/drawing/2014/main" id="{50678A31-8EEC-4AB3-890D-CC3EAFE6FF2F}"/>
              </a:ext>
            </a:extLst>
          </p:cNvPr>
          <p:cNvSpPr>
            <a:spLocks xmlns:a="http://schemas.openxmlformats.org/drawingml/2006/main" noGrp="1"/>
          </p:cNvSpPr>
          <p:nvPr/>
        </p:nvSpPr>
        <p:spPr>
          <a:xfrm xmlns:a="http://schemas.openxmlformats.org/drawingml/2006/main">
            <a:off x="609600" y="5467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746"/>
                </a:solidFill>
              </a:defRPr>
            </a:defPPr>
            <a:lvl1pPr>
              <a:defRPr sz="1950" b="0">
                <a:solidFill>
                  <a:srgbClr val="243746"/>
                </a:solidFill>
              </a:defRPr>
            </a:lvl1pPr>
            <a:lvl2pPr>
              <a:defRPr sz="1950" b="0">
                <a:solidFill>
                  <a:srgbClr val="243746"/>
                </a:solidFill>
              </a:defRPr>
            </a:lvl2pPr>
            <a:lvl3pPr>
              <a:defRPr sz="1950" b="0">
                <a:solidFill>
                  <a:srgbClr val="243746"/>
                </a:solidFill>
              </a:defRPr>
            </a:lvl3pPr>
            <a:lvl4pPr>
              <a:defRPr sz="1950" b="0">
                <a:solidFill>
                  <a:srgbClr val="243746"/>
                </a:solidFill>
              </a:defRPr>
            </a:lvl4pPr>
            <a:lvl5pPr>
              <a:defRPr sz="1950" b="0">
                <a:solidFill>
                  <a:srgbClr val="243746"/>
                </a:solidFill>
              </a:defRPr>
            </a:lvl5pPr>
            <a:lvl6pPr>
              <a:defRPr sz="1950" b="0">
                <a:solidFill>
                  <a:srgbClr val="243746"/>
                </a:solidFill>
              </a:defRPr>
            </a:lvl6pPr>
            <a:lvl7pPr>
              <a:defRPr sz="1950" b="0">
                <a:solidFill>
                  <a:srgbClr val="243746"/>
                </a:solidFill>
              </a:defRPr>
            </a:lvl7pPr>
            <a:lvl8pPr>
              <a:defRPr sz="1950" b="0">
                <a:solidFill>
                  <a:srgbClr val="243746"/>
                </a:solidFill>
              </a:defRPr>
            </a:lvl8pPr>
            <a:lvl9pPr>
              <a:defRPr sz="1950" b="0">
                <a:solidFill>
                  <a:srgbClr val="243746"/>
                </a:solidFill>
              </a:defRPr>
            </a:lvl9pPr>
          </a:lstStyle>
          <a:p xmlns:a="http://schemas.openxmlformats.org/drawingml/2006/main">
            <a:pPr>
              <a:defRPr sz="1950" b="0">
                <a:solidFill>
                  <a:srgbClr val="243746"/>
                </a:solidFill>
              </a:defRPr>
            </a:pPr>
            <a:r>
              <a:rPr sz="1950" b="0">
                <a:solidFill>
                  <a:srgbClr val="243746"/>
                </a:solidFill>
              </a:rPr>
              <a:t>Pesos restaurados: época 10 na CNN inicial; época 29 com Dropout.</a:t>
            </a:r>
          </a:p>
          <a:p xmlns:a="http://schemas.openxmlformats.org/drawingml/2006/main">
            <a:pPr>
              <a:defRPr sz="1950" b="0">
                <a:solidFill>
                  <a:srgbClr val="243746"/>
                </a:solidFill>
              </a:defRPr>
            </a:pPr>
            <a:r>
              <a:rPr sz="1950" b="0">
                <a:solidFill>
                  <a:srgbClr val="243746"/>
                </a:solidFill>
              </a:rPr>
              <a:t>A validação estabiliza enquanto a perda de treino continua caindo.</a:t>
            </a:r>
          </a:p>
        </p:txBody>
      </p:sp>
    </p:spTree>
    <p:extLst>
      <p:ext uri="{BB962C8B-B14F-4D97-AF65-F5344CB8AC3E}">
        <p14:creationId xmlns:p14="http://schemas.microsoft.com/office/powerpoint/2010/main" val="12499821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47161F-1C71-4087-90B8-1A7BE52A353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defRPr>
            </a:defPPr>
            <a:lvl1pPr>
              <a:defRPr sz="3300" b="1">
                <a:solidFill>
                  <a:srgbClr val="123F5D"/>
                </a:solidFill>
              </a:defRPr>
            </a:lvl1pPr>
            <a:lvl2pPr>
              <a:defRPr sz="3300" b="1">
                <a:solidFill>
                  <a:srgbClr val="123F5D"/>
                </a:solidFill>
              </a:defRPr>
            </a:lvl2pPr>
            <a:lvl3pPr>
              <a:defRPr sz="3300" b="1">
                <a:solidFill>
                  <a:srgbClr val="123F5D"/>
                </a:solidFill>
              </a:defRPr>
            </a:lvl3pPr>
            <a:lvl4pPr>
              <a:defRPr sz="3300" b="1">
                <a:solidFill>
                  <a:srgbClr val="123F5D"/>
                </a:solidFill>
              </a:defRPr>
            </a:lvl4pPr>
            <a:lvl5pPr>
              <a:defRPr sz="3300" b="1">
                <a:solidFill>
                  <a:srgbClr val="123F5D"/>
                </a:solidFill>
              </a:defRPr>
            </a:lvl5pPr>
            <a:lvl6pPr>
              <a:defRPr sz="3300" b="1">
                <a:solidFill>
                  <a:srgbClr val="123F5D"/>
                </a:solidFill>
              </a:defRPr>
            </a:lvl6pPr>
            <a:lvl7pPr>
              <a:defRPr sz="3300" b="1">
                <a:solidFill>
                  <a:srgbClr val="123F5D"/>
                </a:solidFill>
              </a:defRPr>
            </a:lvl7pPr>
            <a:lvl8pPr>
              <a:defRPr sz="3300" b="1">
                <a:solidFill>
                  <a:srgbClr val="123F5D"/>
                </a:solidFill>
              </a:defRPr>
            </a:lvl8pPr>
            <a:lvl9pPr>
              <a:defRPr sz="3300" b="1">
                <a:solidFill>
                  <a:srgbClr val="123F5D"/>
                </a:solidFill>
              </a:defRPr>
            </a:lvl9pPr>
          </a:lstStyle>
          <a:p xmlns:a="http://schemas.openxmlformats.org/drawingml/2006/main">
            <a:pPr>
              <a:defRPr sz="3300" b="1">
                <a:solidFill>
                  <a:srgbClr val="123F5D"/>
                </a:solidFill>
              </a:defRPr>
            </a:pPr>
            <a:r>
              <a:rPr sz="3300" b="1">
                <a:solidFill>
                  <a:srgbClr val="123F5D"/>
                </a:solidFill>
              </a:rPr>
              <a:t>Teste final: 178 acertos em 216 imagens</a:t>
            </a:r>
          </a:p>
        </p:txBody>
      </p:sp>
      <p:sp>
        <p:nvSpPr>
          <p:cNvPr id="2" name="">
            <a:extLst xmlns:a="http://schemas.openxmlformats.org/drawingml/2006/main">
              <a:ext uri="{FF2B5EF4-FFF2-40B4-BE49-F238E27FC236}">
                <a16:creationId xmlns:a16="http://schemas.microsoft.com/office/drawing/2014/main" id="{57BDF6AE-B67E-49DA-A3D5-024E6C3E5550}"/>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Daniel Gil | 2 minutos</a:t>
            </a:r>
          </a:p>
        </p:txBody>
      </p:sp>
      <p:sp>
        <p:nvSpPr>
          <p:cNvPr id="3" name="">
            <a:extLst xmlns:a="http://schemas.openxmlformats.org/drawingml/2006/main">
              <a:ext uri="{FF2B5EF4-FFF2-40B4-BE49-F238E27FC236}">
                <a16:creationId xmlns:a16="http://schemas.microsoft.com/office/drawing/2014/main" id="{2B0950CF-D11D-49DE-B027-81611E682DE0}"/>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9</a:t>
            </a:r>
          </a:p>
        </p:txBody>
      </p:sp>
      <p:graphicFrame>
        <p:nvGraphicFramePr>
          <p:cNvPr id="4" name="">
            <a:extLst xmlns:a="http://schemas.openxmlformats.org/drawingml/2006/main">
              <a:ext uri="{FF2B5EF4-FFF2-40B4-BE49-F238E27FC236}">
                <a16:creationId xmlns:a16="http://schemas.microsoft.com/office/drawing/2014/main" id="{27E729B2-79E9-441E-A0F0-BF9497511B58}"/>
              </a:ext>
            </a:extLst>
          </p:cNvPr>
          <p:cNvGraphicFramePr/>
          <p:nvPr/>
        </p:nvGraphicFramePr>
        <p:xfrm>
          <a:off xmlns:a="http://schemas.openxmlformats.org/drawingml/2006/main" x="609600" y="1447800"/>
          <a:ext xmlns:a="http://schemas.openxmlformats.org/drawingml/2006/main" cx="10972800" cy="1714500"/>
        </p:xfrm>
        <a:graphic xmlns:a="http://schemas.openxmlformats.org/drawingml/2006/main">
          <a:graphicData uri="http://schemas.openxmlformats.org/drawingml/2006/table">
            <a:tbl>
              <a:tblPr/>
              <a:tblGrid>
                <a:gridCol w="4762500"/>
                <a:gridCol w="3105150"/>
                <a:gridCol w="3105150"/>
              </a:tblGrid>
              <a:tr h="571500">
                <a:tc>
                  <a:txBody>
                    <a:bodyPr/>
                    <a:lstStyle/>
                    <a:p>
                      <a:r>
                        <a:rPr sz="1800" b="1">
                          <a:solidFill>
                            <a:srgbClr val="243746"/>
                          </a:solidFill>
                        </a:rPr>
                        <a:t>Modelo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rPr>
                        <a:t>Acurácia</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rPr>
                        <a:t>Macro-F1</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rPr>
                        <a:t>Baseline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rPr>
                        <a:t>2,78%</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rPr>
                        <a:t>0,002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rPr>
                        <a:t>CNN Dropout</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rPr>
                        <a:t>82,41%</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rPr>
                        <a:t>0,817</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pic>
        <p:nvPicPr>
          <p:cNvPr id="5" name="">
            <a:extLst xmlns:a="http://schemas.openxmlformats.org/drawingml/2006/main">
              <a:ext uri="{FF2B5EF4-FFF2-40B4-BE49-F238E27FC236}">
                <a16:creationId xmlns:a16="http://schemas.microsoft.com/office/drawing/2014/main" id="{C3381C18-794A-4ED1-B43A-1E9B84C05C43}"/>
              </a:ext>
            </a:extLst>
          </p:cNvPr>
          <p:cNvPicPr>
            <a:picLocks xmlns:a="http://schemas.openxmlformats.org/drawingml/2006/main" noChangeAspect="1"/>
          </p:cNvPicPr>
          <p:nvPr/>
        </p:nvPicPr>
        <p:blipFill>
          <a:blip xmlns:r="http://schemas.openxmlformats.org/officeDocument/2006/relationships" xmlns:a="http://schemas.openxmlformats.org/drawingml/2006/main" r:embed="R688fa063510041e0"/>
          <a:stretch xmlns:a="http://schemas.openxmlformats.org/drawingml/2006/main"/>
        </p:blipFill>
        <p:spPr>
          <a:xfrm xmlns:a="http://schemas.openxmlformats.org/drawingml/2006/main">
            <a:off x="1151983" y="3429000"/>
            <a:ext cx="6154234" cy="2552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0B8FD37-475F-493D-A68F-F95B2CA7D2BC}"/>
              </a:ext>
            </a:extLst>
          </p:cNvPr>
          <p:cNvSpPr>
            <a:spLocks xmlns:a="http://schemas.openxmlformats.org/drawingml/2006/main" noGrp="1"/>
          </p:cNvSpPr>
          <p:nvPr/>
        </p:nvSpPr>
        <p:spPr>
          <a:xfrm xmlns:a="http://schemas.openxmlformats.org/drawingml/2006/main">
            <a:off x="8239125" y="3571875"/>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defRPr>
            </a:defPPr>
            <a:lvl1pPr>
              <a:defRPr sz="2025" b="0">
                <a:solidFill>
                  <a:srgbClr val="123F5D"/>
                </a:solidFill>
              </a:defRPr>
            </a:lvl1pPr>
            <a:lvl2pPr>
              <a:defRPr sz="2025" b="0">
                <a:solidFill>
                  <a:srgbClr val="123F5D"/>
                </a:solidFill>
              </a:defRPr>
            </a:lvl2pPr>
            <a:lvl3pPr>
              <a:defRPr sz="2025" b="0">
                <a:solidFill>
                  <a:srgbClr val="123F5D"/>
                </a:solidFill>
              </a:defRPr>
            </a:lvl3pPr>
            <a:lvl4pPr>
              <a:defRPr sz="2025" b="0">
                <a:solidFill>
                  <a:srgbClr val="123F5D"/>
                </a:solidFill>
              </a:defRPr>
            </a:lvl4pPr>
            <a:lvl5pPr>
              <a:defRPr sz="2025" b="0">
                <a:solidFill>
                  <a:srgbClr val="123F5D"/>
                </a:solidFill>
              </a:defRPr>
            </a:lvl5pPr>
            <a:lvl6pPr>
              <a:defRPr sz="2025" b="0">
                <a:solidFill>
                  <a:srgbClr val="123F5D"/>
                </a:solidFill>
              </a:defRPr>
            </a:lvl6pPr>
            <a:lvl7pPr>
              <a:defRPr sz="2025" b="0">
                <a:solidFill>
                  <a:srgbClr val="123F5D"/>
                </a:solidFill>
              </a:defRPr>
            </a:lvl7pPr>
            <a:lvl8pPr>
              <a:defRPr sz="2025" b="0">
                <a:solidFill>
                  <a:srgbClr val="123F5D"/>
                </a:solidFill>
              </a:defRPr>
            </a:lvl8pPr>
            <a:lvl9pPr>
              <a:defRPr sz="2025" b="0">
                <a:solidFill>
                  <a:srgbClr val="123F5D"/>
                </a:solidFill>
              </a:defRPr>
            </a:lvl9pPr>
          </a:lstStyle>
          <a:p xmlns:a="http://schemas.openxmlformats.org/drawingml/2006/main">
            <a:pPr>
              <a:defRPr sz="2025" b="0">
                <a:solidFill>
                  <a:srgbClr val="123F5D"/>
                </a:solidFill>
              </a:defRPr>
            </a:pPr>
            <a:r>
              <a:rPr sz="2025" b="0">
                <a:solidFill>
                  <a:srgbClr val="123F5D"/>
                </a:solidFill>
              </a:rPr>
              <a:t>38 erros</a:t>
            </a:r>
          </a:p>
          <a:p xmlns:a="http://schemas.openxmlformats.org/drawingml/2006/main">
            <a:r>
              <a:t/>
            </a:r>
          </a:p>
          <a:p xmlns:a="http://schemas.openxmlformats.org/drawingml/2006/main">
            <a:pPr>
              <a:defRPr sz="2025" b="0">
                <a:solidFill>
                  <a:srgbClr val="123F5D"/>
                </a:solidFill>
              </a:defRPr>
            </a:pPr>
            <a:r>
              <a:rPr sz="2025" b="0">
                <a:solidFill>
                  <a:srgbClr val="123F5D"/>
                </a:solidFill>
              </a:rPr>
              <a:t>O → 0: 4 casos</a:t>
            </a:r>
          </a:p>
          <a:p xmlns:a="http://schemas.openxmlformats.org/drawingml/2006/main">
            <a:pPr>
              <a:defRPr sz="2025" b="0">
                <a:solidFill>
                  <a:srgbClr val="123F5D"/>
                </a:solidFill>
              </a:defRPr>
            </a:pPr>
            <a:r>
              <a:rPr sz="2025" b="0">
                <a:solidFill>
                  <a:srgbClr val="123F5D"/>
                </a:solidFill>
              </a:rPr>
              <a:t>S → 5: 2 casos</a:t>
            </a:r>
          </a:p>
        </p:txBody>
      </p:sp>
    </p:spTree>
    <p:extLst>
      <p:ext uri="{BB962C8B-B14F-4D97-AF65-F5344CB8AC3E}">
        <p14:creationId xmlns:p14="http://schemas.microsoft.com/office/powerpoint/2010/main" val="9770664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218371-2B4A-4963-93E7-5FB826D9E42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defRPr>
            </a:defPPr>
            <a:lvl1pPr>
              <a:defRPr sz="3300" b="1">
                <a:solidFill>
                  <a:srgbClr val="123F5D"/>
                </a:solidFill>
              </a:defRPr>
            </a:lvl1pPr>
            <a:lvl2pPr>
              <a:defRPr sz="3300" b="1">
                <a:solidFill>
                  <a:srgbClr val="123F5D"/>
                </a:solidFill>
              </a:defRPr>
            </a:lvl2pPr>
            <a:lvl3pPr>
              <a:defRPr sz="3300" b="1">
                <a:solidFill>
                  <a:srgbClr val="123F5D"/>
                </a:solidFill>
              </a:defRPr>
            </a:lvl3pPr>
            <a:lvl4pPr>
              <a:defRPr sz="3300" b="1">
                <a:solidFill>
                  <a:srgbClr val="123F5D"/>
                </a:solidFill>
              </a:defRPr>
            </a:lvl4pPr>
            <a:lvl5pPr>
              <a:defRPr sz="3300" b="1">
                <a:solidFill>
                  <a:srgbClr val="123F5D"/>
                </a:solidFill>
              </a:defRPr>
            </a:lvl5pPr>
            <a:lvl6pPr>
              <a:defRPr sz="3300" b="1">
                <a:solidFill>
                  <a:srgbClr val="123F5D"/>
                </a:solidFill>
              </a:defRPr>
            </a:lvl6pPr>
            <a:lvl7pPr>
              <a:defRPr sz="3300" b="1">
                <a:solidFill>
                  <a:srgbClr val="123F5D"/>
                </a:solidFill>
              </a:defRPr>
            </a:lvl7pPr>
            <a:lvl8pPr>
              <a:defRPr sz="3300" b="1">
                <a:solidFill>
                  <a:srgbClr val="123F5D"/>
                </a:solidFill>
              </a:defRPr>
            </a:lvl8pPr>
            <a:lvl9pPr>
              <a:defRPr sz="3300" b="1">
                <a:solidFill>
                  <a:srgbClr val="123F5D"/>
                </a:solidFill>
              </a:defRPr>
            </a:lvl9pPr>
          </a:lstStyle>
          <a:p xmlns:a="http://schemas.openxmlformats.org/drawingml/2006/main">
            <a:pPr>
              <a:defRPr sz="3300" b="1">
                <a:solidFill>
                  <a:srgbClr val="123F5D"/>
                </a:solidFill>
              </a:defRPr>
            </a:pPr>
            <a:r>
              <a:rPr sz="3300" b="1">
                <a:solidFill>
                  <a:srgbClr val="123F5D"/>
                </a:solidFill>
              </a:rPr>
              <a:t>Uso pretendido e limitações</a:t>
            </a:r>
          </a:p>
        </p:txBody>
      </p:sp>
      <p:sp>
        <p:nvSpPr>
          <p:cNvPr id="2" name="">
            <a:extLst xmlns:a="http://schemas.openxmlformats.org/drawingml/2006/main">
              <a:ext uri="{FF2B5EF4-FFF2-40B4-BE49-F238E27FC236}">
                <a16:creationId xmlns:a16="http://schemas.microsoft.com/office/drawing/2014/main" id="{09F5C42C-D92A-4414-9B06-F5D9A84F29A7}"/>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Daniel Gil | 1 minuto</a:t>
            </a:r>
          </a:p>
        </p:txBody>
      </p:sp>
      <p:sp>
        <p:nvSpPr>
          <p:cNvPr id="3" name="">
            <a:extLst xmlns:a="http://schemas.openxmlformats.org/drawingml/2006/main">
              <a:ext uri="{FF2B5EF4-FFF2-40B4-BE49-F238E27FC236}">
                <a16:creationId xmlns:a16="http://schemas.microsoft.com/office/drawing/2014/main" id="{48065215-63D5-42D0-93EA-9FAFC9D0C62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defRPr>
            </a:defPPr>
            <a:lvl1pPr>
              <a:defRPr sz="1350" b="0">
                <a:solidFill>
                  <a:srgbClr val="52616B"/>
                </a:solidFill>
              </a:defRPr>
            </a:lvl1pPr>
            <a:lvl2pPr>
              <a:defRPr sz="1350" b="0">
                <a:solidFill>
                  <a:srgbClr val="52616B"/>
                </a:solidFill>
              </a:defRPr>
            </a:lvl2pPr>
            <a:lvl3pPr>
              <a:defRPr sz="1350" b="0">
                <a:solidFill>
                  <a:srgbClr val="52616B"/>
                </a:solidFill>
              </a:defRPr>
            </a:lvl3pPr>
            <a:lvl4pPr>
              <a:defRPr sz="1350" b="0">
                <a:solidFill>
                  <a:srgbClr val="52616B"/>
                </a:solidFill>
              </a:defRPr>
            </a:lvl4pPr>
            <a:lvl5pPr>
              <a:defRPr sz="1350" b="0">
                <a:solidFill>
                  <a:srgbClr val="52616B"/>
                </a:solidFill>
              </a:defRPr>
            </a:lvl5pPr>
            <a:lvl6pPr>
              <a:defRPr sz="1350" b="0">
                <a:solidFill>
                  <a:srgbClr val="52616B"/>
                </a:solidFill>
              </a:defRPr>
            </a:lvl6pPr>
            <a:lvl7pPr>
              <a:defRPr sz="1350" b="0">
                <a:solidFill>
                  <a:srgbClr val="52616B"/>
                </a:solidFill>
              </a:defRPr>
            </a:lvl7pPr>
            <a:lvl8pPr>
              <a:defRPr sz="1350" b="0">
                <a:solidFill>
                  <a:srgbClr val="52616B"/>
                </a:solidFill>
              </a:defRPr>
            </a:lvl8pPr>
            <a:lvl9pPr>
              <a:defRPr sz="1350" b="0">
                <a:solidFill>
                  <a:srgbClr val="52616B"/>
                </a:solidFill>
              </a:defRPr>
            </a:lvl9pPr>
          </a:lstStyle>
          <a:p xmlns:a="http://schemas.openxmlformats.org/drawingml/2006/main">
            <a:pPr>
              <a:defRPr sz="1350" b="0">
                <a:solidFill>
                  <a:srgbClr val="52616B"/>
                </a:solidFill>
              </a:defRPr>
            </a:pPr>
            <a:r>
              <a:rPr sz="1350" b="0">
                <a:solidFill>
                  <a:srgbClr val="52616B"/>
                </a:solidFill>
              </a:rPr>
              <a:t>10</a:t>
            </a:r>
          </a:p>
        </p:txBody>
      </p:sp>
      <p:sp>
        <p:nvSpPr>
          <p:cNvPr id="4" name="">
            <a:extLst xmlns:a="http://schemas.openxmlformats.org/drawingml/2006/main">
              <a:ext uri="{FF2B5EF4-FFF2-40B4-BE49-F238E27FC236}">
                <a16:creationId xmlns:a16="http://schemas.microsoft.com/office/drawing/2014/main" id="{F668EEFD-9E68-4600-B862-437C05FF8CFB}"/>
              </a:ext>
            </a:extLst>
          </p:cNvPr>
          <p:cNvSpPr>
            <a:spLocks xmlns:a="http://schemas.openxmlformats.org/drawingml/2006/main" noGrp="1"/>
          </p:cNvSpPr>
          <p:nvPr/>
        </p:nvSpPr>
        <p:spPr>
          <a:xfrm xmlns:a="http://schemas.openxmlformats.org/drawingml/2006/main">
            <a:off x="609600" y="1571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57C80"/>
                </a:solidFill>
              </a:defRPr>
            </a:defPPr>
            <a:lvl1pPr>
              <a:defRPr sz="2700" b="1">
                <a:solidFill>
                  <a:srgbClr val="157C80"/>
                </a:solidFill>
              </a:defRPr>
            </a:lvl1pPr>
            <a:lvl2pPr>
              <a:defRPr sz="2700" b="1">
                <a:solidFill>
                  <a:srgbClr val="157C80"/>
                </a:solidFill>
              </a:defRPr>
            </a:lvl2pPr>
            <a:lvl3pPr>
              <a:defRPr sz="2700" b="1">
                <a:solidFill>
                  <a:srgbClr val="157C80"/>
                </a:solidFill>
              </a:defRPr>
            </a:lvl3pPr>
            <a:lvl4pPr>
              <a:defRPr sz="2700" b="1">
                <a:solidFill>
                  <a:srgbClr val="157C80"/>
                </a:solidFill>
              </a:defRPr>
            </a:lvl4pPr>
            <a:lvl5pPr>
              <a:defRPr sz="2700" b="1">
                <a:solidFill>
                  <a:srgbClr val="157C80"/>
                </a:solidFill>
              </a:defRPr>
            </a:lvl5pPr>
            <a:lvl6pPr>
              <a:defRPr sz="2700" b="1">
                <a:solidFill>
                  <a:srgbClr val="157C80"/>
                </a:solidFill>
              </a:defRPr>
            </a:lvl6pPr>
            <a:lvl7pPr>
              <a:defRPr sz="2700" b="1">
                <a:solidFill>
                  <a:srgbClr val="157C80"/>
                </a:solidFill>
              </a:defRPr>
            </a:lvl7pPr>
            <a:lvl8pPr>
              <a:defRPr sz="2700" b="1">
                <a:solidFill>
                  <a:srgbClr val="157C80"/>
                </a:solidFill>
              </a:defRPr>
            </a:lvl8pPr>
            <a:lvl9pPr>
              <a:defRPr sz="2700" b="1">
                <a:solidFill>
                  <a:srgbClr val="157C80"/>
                </a:solidFill>
              </a:defRPr>
            </a:lvl9pPr>
          </a:lstStyle>
          <a:p xmlns:a="http://schemas.openxmlformats.org/drawingml/2006/main">
            <a:pPr>
              <a:defRPr sz="2700" b="1">
                <a:solidFill>
                  <a:srgbClr val="157C80"/>
                </a:solidFill>
              </a:defRPr>
            </a:pPr>
            <a:r>
              <a:rPr sz="2700" b="1">
                <a:solidFill>
                  <a:srgbClr val="157C80"/>
                </a:solidFill>
              </a:rPr>
              <a:t>Demonstração de caracteres isolados, com revisão humana.</a:t>
            </a:r>
          </a:p>
        </p:txBody>
      </p:sp>
      <p:sp>
        <p:nvSpPr>
          <p:cNvPr id="5" name="">
            <a:extLst xmlns:a="http://schemas.openxmlformats.org/drawingml/2006/main">
              <a:ext uri="{FF2B5EF4-FFF2-40B4-BE49-F238E27FC236}">
                <a16:creationId xmlns:a16="http://schemas.microsoft.com/office/drawing/2014/main" id="{5A397632-198A-48BD-A155-7C4B82F0C080}"/>
              </a:ext>
            </a:extLst>
          </p:cNvPr>
          <p:cNvSpPr>
            <a:spLocks xmlns:a="http://schemas.openxmlformats.org/drawingml/2006/main" noGrp="1"/>
          </p:cNvSpPr>
          <p:nvPr/>
        </p:nvSpPr>
        <p:spPr>
          <a:xfrm xmlns:a="http://schemas.openxmlformats.org/drawingml/2006/main">
            <a:off x="609600" y="280035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746"/>
                </a:solidFill>
              </a:defRPr>
            </a:defPPr>
            <a:lvl1pPr>
              <a:defRPr sz="2325" b="0">
                <a:solidFill>
                  <a:srgbClr val="243746"/>
                </a:solidFill>
              </a:defRPr>
            </a:lvl1pPr>
            <a:lvl2pPr>
              <a:defRPr sz="2325" b="0">
                <a:solidFill>
                  <a:srgbClr val="243746"/>
                </a:solidFill>
              </a:defRPr>
            </a:lvl2pPr>
            <a:lvl3pPr>
              <a:defRPr sz="2325" b="0">
                <a:solidFill>
                  <a:srgbClr val="243746"/>
                </a:solidFill>
              </a:defRPr>
            </a:lvl3pPr>
            <a:lvl4pPr>
              <a:defRPr sz="2325" b="0">
                <a:solidFill>
                  <a:srgbClr val="243746"/>
                </a:solidFill>
              </a:defRPr>
            </a:lvl4pPr>
            <a:lvl5pPr>
              <a:defRPr sz="2325" b="0">
                <a:solidFill>
                  <a:srgbClr val="243746"/>
                </a:solidFill>
              </a:defRPr>
            </a:lvl5pPr>
            <a:lvl6pPr>
              <a:defRPr sz="2325" b="0">
                <a:solidFill>
                  <a:srgbClr val="243746"/>
                </a:solidFill>
              </a:defRPr>
            </a:lvl6pPr>
            <a:lvl7pPr>
              <a:defRPr sz="2325" b="0">
                <a:solidFill>
                  <a:srgbClr val="243746"/>
                </a:solidFill>
              </a:defRPr>
            </a:lvl7pPr>
            <a:lvl8pPr>
              <a:defRPr sz="2325" b="0">
                <a:solidFill>
                  <a:srgbClr val="243746"/>
                </a:solidFill>
              </a:defRPr>
            </a:lvl8pPr>
            <a:lvl9pPr>
              <a:defRPr sz="2325" b="0">
                <a:solidFill>
                  <a:srgbClr val="243746"/>
                </a:solidFill>
              </a:defRPr>
            </a:lvl9pPr>
          </a:lstStyle>
          <a:p xmlns:a="http://schemas.openxmlformats.org/drawingml/2006/main">
            <a:pPr>
              <a:defRPr sz="2325" b="0">
                <a:solidFill>
                  <a:srgbClr val="243746"/>
                </a:solidFill>
              </a:defRPr>
            </a:pPr>
            <a:r>
              <a:rPr sz="2325" b="0">
                <a:solidFill>
                  <a:srgbClr val="243746"/>
                </a:solidFill>
              </a:rPr>
              <a:t>0/O: pixels idênticos, rótulos conflitantes.</a:t>
            </a:r>
          </a:p>
          <a:p xmlns:a="http://schemas.openxmlformats.org/drawingml/2006/main">
            <a:pPr>
              <a:defRPr sz="2325" b="0">
                <a:solidFill>
                  <a:srgbClr val="243746"/>
                </a:solidFill>
              </a:defRPr>
            </a:pPr>
            <a:r>
              <a:rPr sz="2325" b="0">
                <a:solidFill>
                  <a:srgbClr val="243746"/>
                </a:solidFill>
              </a:rPr>
              <a:t>Poucos exemplos por classe e uma única divisão.</a:t>
            </a:r>
          </a:p>
          <a:p xmlns:a="http://schemas.openxmlformats.org/drawingml/2006/main">
            <a:pPr>
              <a:defRPr sz="2325" b="0">
                <a:solidFill>
                  <a:srgbClr val="243746"/>
                </a:solidFill>
              </a:defRPr>
            </a:pPr>
            <a:r>
              <a:rPr sz="2325" b="0">
                <a:solidFill>
                  <a:srgbClr val="243746"/>
                </a:solidFill>
              </a:rPr>
              <a:t>Sem avaliação em fotografias, placas ou documentos reais.</a:t>
            </a:r>
          </a:p>
        </p:txBody>
      </p:sp>
      <p:sp>
        <p:nvSpPr>
          <p:cNvPr id="6" name="">
            <a:extLst xmlns:a="http://schemas.openxmlformats.org/drawingml/2006/main">
              <a:ext uri="{FF2B5EF4-FFF2-40B4-BE49-F238E27FC236}">
                <a16:creationId xmlns:a16="http://schemas.microsoft.com/office/drawing/2014/main" id="{4CBDAA3F-9A62-4ECE-8D2C-250A80739938}"/>
              </a:ext>
            </a:extLst>
          </p:cNvPr>
          <p:cNvSpPr>
            <a:spLocks xmlns:a="http://schemas.openxmlformats.org/drawingml/2006/main" noGrp="1"/>
          </p:cNvSpPr>
          <p:nvPr/>
        </p:nvSpPr>
        <p:spPr>
          <a:xfrm xmlns:a="http://schemas.openxmlformats.org/drawingml/2006/main">
            <a:off x="609600" y="5000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F5D"/>
                </a:solidFill>
              </a:defRPr>
            </a:defPPr>
            <a:lvl1pPr>
              <a:defRPr sz="2100" b="0">
                <a:solidFill>
                  <a:srgbClr val="123F5D"/>
                </a:solidFill>
              </a:defRPr>
            </a:lvl1pPr>
            <a:lvl2pPr>
              <a:defRPr sz="2100" b="0">
                <a:solidFill>
                  <a:srgbClr val="123F5D"/>
                </a:solidFill>
              </a:defRPr>
            </a:lvl2pPr>
            <a:lvl3pPr>
              <a:defRPr sz="2100" b="0">
                <a:solidFill>
                  <a:srgbClr val="123F5D"/>
                </a:solidFill>
              </a:defRPr>
            </a:lvl3pPr>
            <a:lvl4pPr>
              <a:defRPr sz="2100" b="0">
                <a:solidFill>
                  <a:srgbClr val="123F5D"/>
                </a:solidFill>
              </a:defRPr>
            </a:lvl4pPr>
            <a:lvl5pPr>
              <a:defRPr sz="2100" b="0">
                <a:solidFill>
                  <a:srgbClr val="123F5D"/>
                </a:solidFill>
              </a:defRPr>
            </a:lvl5pPr>
            <a:lvl6pPr>
              <a:defRPr sz="2100" b="0">
                <a:solidFill>
                  <a:srgbClr val="123F5D"/>
                </a:solidFill>
              </a:defRPr>
            </a:lvl6pPr>
            <a:lvl7pPr>
              <a:defRPr sz="2100" b="0">
                <a:solidFill>
                  <a:srgbClr val="123F5D"/>
                </a:solidFill>
              </a:defRPr>
            </a:lvl7pPr>
            <a:lvl8pPr>
              <a:defRPr sz="2100" b="0">
                <a:solidFill>
                  <a:srgbClr val="123F5D"/>
                </a:solidFill>
              </a:defRPr>
            </a:lvl8pPr>
            <a:lvl9pPr>
              <a:defRPr sz="2100" b="0">
                <a:solidFill>
                  <a:srgbClr val="123F5D"/>
                </a:solidFill>
              </a:defRPr>
            </a:lvl9pPr>
          </a:lstStyle>
          <a:p xmlns:a="http://schemas.openxmlformats.org/drawingml/2006/main">
            <a:pPr>
              <a:defRPr sz="2100" b="0">
                <a:solidFill>
                  <a:srgbClr val="123F5D"/>
                </a:solidFill>
              </a:defRPr>
            </a:pPr>
            <a:r>
              <a:rPr sz="2100" b="0">
                <a:solidFill>
                  <a:srgbClr val="123F5D"/>
                </a:solidFill>
              </a:rPr>
              <a:t>Próximo passo: validar em dados externos e medir quando o modelo</a:t>
            </a:r>
          </a:p>
          <a:p xmlns:a="http://schemas.openxmlformats.org/drawingml/2006/main">
            <a:pPr>
              <a:defRPr sz="2100" b="0">
                <a:solidFill>
                  <a:srgbClr val="123F5D"/>
                </a:solidFill>
              </a:defRPr>
            </a:pPr>
            <a:r>
              <a:rPr sz="2100" b="0">
                <a:solidFill>
                  <a:srgbClr val="123F5D"/>
                </a:solidFill>
              </a:rPr>
              <a:t>deve se abster, antes de propor qualquer aplicação operacional.</a:t>
            </a:r>
          </a:p>
        </p:txBody>
      </p:sp>
    </p:spTree>
    <p:extLst>
      <p:ext uri="{BB962C8B-B14F-4D97-AF65-F5344CB8AC3E}">
        <p14:creationId xmlns:p14="http://schemas.microsoft.com/office/powerpoint/2010/main" val="4162188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2026-10-19T14:02:04.6550000Z</dcterms:created>
  <dcterms:modified xsi:type="dcterms:W3CDTF">2026-10-19T14:02:04.6550000Z</dcterms:modified>
</coreProperties>
</file>