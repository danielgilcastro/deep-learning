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95f24ebeff40c3" /><Relationship Type="http://schemas.openxmlformats.org/officeDocument/2006/relationships/extended-properties" Target="/docProps/app.xml" Id="R3a4682313bc2441d" /><Relationship Type="http://schemas.openxmlformats.org/officeDocument/2006/relationships/officeDocument" Target="/ppt/presentation.xml" Id="R28066559eabc4197" /></Relationships>
</file>

<file path=ppt/presentation.xml><?xml version="1.0" encoding="utf-8"?>
<p:presentation xmlns:p="http://schemas.openxmlformats.org/presentationml/2006/main">
  <p:sldMasterIdLst>
    <p:sldMasterId xmlns:r="http://schemas.openxmlformats.org/officeDocument/2006/relationships" id="2147483648" r:id="Re5dee1c2aee5491a"/>
  </p:sldMasterIdLst>
  <p:notesMasterIdLst>
    <p:notesMasterId xmlns:r="http://schemas.openxmlformats.org/officeDocument/2006/relationships" r:id="Rc62ee2c0fbc6488b"/>
  </p:notesMasterIdLst>
  <p:sldIdLst>
    <p:sldId xmlns:r="http://schemas.openxmlformats.org/officeDocument/2006/relationships" id="256" r:id="R14f7246177cc4ff7"/>
    <p:sldId xmlns:r="http://schemas.openxmlformats.org/officeDocument/2006/relationships" id="257" r:id="R25ee3f416b754d83"/>
    <p:sldId xmlns:r="http://schemas.openxmlformats.org/officeDocument/2006/relationships" id="258" r:id="R7e4d8c9357b84b13"/>
    <p:sldId xmlns:r="http://schemas.openxmlformats.org/officeDocument/2006/relationships" id="259" r:id="R702fa8c09fdf4d1c"/>
    <p:sldId xmlns:r="http://schemas.openxmlformats.org/officeDocument/2006/relationships" id="260" r:id="R02525c7d19014f4d"/>
    <p:sldId xmlns:r="http://schemas.openxmlformats.org/officeDocument/2006/relationships" id="261" r:id="R5c60da1e57fb4727"/>
    <p:sldId xmlns:r="http://schemas.openxmlformats.org/officeDocument/2006/relationships" id="262" r:id="R3cb4d361994c49aa"/>
    <p:sldId xmlns:r="http://schemas.openxmlformats.org/officeDocument/2006/relationships" id="263" r:id="R1708ec12fa524753"/>
    <p:sldId xmlns:r="http://schemas.openxmlformats.org/officeDocument/2006/relationships" id="264" r:id="R6a6c45161e634057"/>
    <p:sldId xmlns:r="http://schemas.openxmlformats.org/officeDocument/2006/relationships" id="265" r:id="Rf30f6a24f4474d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26113685bd4d26" /><Relationship Type="http://schemas.openxmlformats.org/officeDocument/2006/relationships/slideMaster" Target="/ppt/slideMasters/slideMaster1.xml" Id="Re5dee1c2aee5491a" /><Relationship Type="http://schemas.openxmlformats.org/officeDocument/2006/relationships/notesMaster" Target="/ppt/notesMasters/notesMaster1.xml" Id="Rc62ee2c0fbc6488b" /><Relationship Type="http://schemas.openxmlformats.org/officeDocument/2006/relationships/presProps" Target="/ppt/presProps.xml" Id="Rdba876aa33ee4c6c" /><Relationship Type="http://schemas.openxmlformats.org/officeDocument/2006/relationships/tableStyles" Target="/ppt/tableStyles.xml" Id="Ra0d69631953b4082" /><Relationship Type="http://schemas.openxmlformats.org/officeDocument/2006/relationships/slide" Target="/ppt/slides/slide1.xml" Id="R14f7246177cc4ff7" /><Relationship Type="http://schemas.openxmlformats.org/officeDocument/2006/relationships/slide" Target="/ppt/slides/slide2.xml" Id="R25ee3f416b754d83" /><Relationship Type="http://schemas.openxmlformats.org/officeDocument/2006/relationships/slide" Target="/ppt/slides/slide3.xml" Id="R7e4d8c9357b84b13" /><Relationship Type="http://schemas.openxmlformats.org/officeDocument/2006/relationships/slide" Target="/ppt/slides/slide4.xml" Id="R702fa8c09fdf4d1c" /><Relationship Type="http://schemas.openxmlformats.org/officeDocument/2006/relationships/slide" Target="/ppt/slides/slide5.xml" Id="R02525c7d19014f4d" /><Relationship Type="http://schemas.openxmlformats.org/officeDocument/2006/relationships/slide" Target="/ppt/slides/slide6.xml" Id="R5c60da1e57fb4727" /><Relationship Type="http://schemas.openxmlformats.org/officeDocument/2006/relationships/slide" Target="/ppt/slides/slide7.xml" Id="R3cb4d361994c49aa" /><Relationship Type="http://schemas.openxmlformats.org/officeDocument/2006/relationships/slide" Target="/ppt/slides/slide8.xml" Id="R1708ec12fa524753" /><Relationship Type="http://schemas.openxmlformats.org/officeDocument/2006/relationships/slide" Target="/ppt/slides/slide9.xml" Id="R6a6c45161e634057" /><Relationship Type="http://schemas.openxmlformats.org/officeDocument/2006/relationships/slide" Target="/ppt/slides/slide10.xml" Id="Rf30f6a24f4474d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68a01b307041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9cd141e7a14a54" /><Relationship Type="http://schemas.openxmlformats.org/officeDocument/2006/relationships/notesMaster" Target="/ppt/notesMasters/notesMaster1.xml" Id="R33e2dfae15e746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2ab712f608426f" /><Relationship Type="http://schemas.openxmlformats.org/officeDocument/2006/relationships/notesMaster" Target="/ppt/notesMasters/notesMaster1.xml" Id="R6078a02c57b74d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21f64bc50e46a3" /><Relationship Type="http://schemas.openxmlformats.org/officeDocument/2006/relationships/notesMaster" Target="/ppt/notesMasters/notesMaster1.xml" Id="R3cab3f423a8f4b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546778f34c49ce" /><Relationship Type="http://schemas.openxmlformats.org/officeDocument/2006/relationships/notesMaster" Target="/ppt/notesMasters/notesMaster1.xml" Id="R5613569f24eb41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4d86ff9ee42e2" /><Relationship Type="http://schemas.openxmlformats.org/officeDocument/2006/relationships/notesMaster" Target="/ppt/notesMasters/notesMaster1.xml" Id="Rb6d7bcaaeb334a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9da33da169464c" /><Relationship Type="http://schemas.openxmlformats.org/officeDocument/2006/relationships/notesMaster" Target="/ppt/notesMasters/notesMaster1.xml" Id="R31bae2c407d443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f70ef61ec34b14" /><Relationship Type="http://schemas.openxmlformats.org/officeDocument/2006/relationships/notesMaster" Target="/ppt/notesMasters/notesMaster1.xml" Id="Rd843b4e5b42a4f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019f4f1b7b47ff" /><Relationship Type="http://schemas.openxmlformats.org/officeDocument/2006/relationships/notesMaster" Target="/ppt/notesMasters/notesMaster1.xml" Id="R2548b226c2bd4b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8a9a86dd8a4e1f" /><Relationship Type="http://schemas.openxmlformats.org/officeDocument/2006/relationships/notesMaster" Target="/ppt/notesMasters/notesMaster1.xml" Id="Rab5e4c0a8d7247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5f5191b80d40fb" /><Relationship Type="http://schemas.openxmlformats.org/officeDocument/2006/relationships/notesMaster" Target="/ppt/notesMasters/notesMaster1.xml" Id="R061746f12c194e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d2f3479c124d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c31ad2419c493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9bc708b3a847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fe583ca1774e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9d2ab49d29d47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d182f58dfd4d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17EE51-B2BD-4866-9D2E-6E16A4E4D3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001266-806E-4979-84FF-A0BD0A2C1F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9ACEBC-4CF3-45F1-8833-D471BAADF1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8AE50C-301F-4BA0-94F2-762EA72EFD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DE7ED3-153E-4FFC-AFBD-AB940DD51B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066536-F9B6-44FB-B385-F49A8545A2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A2C79A-9056-4D0D-A806-C897C4457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374BB8-26D7-45BD-808B-36A72D90D1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D8DCF7-AB99-458E-A386-8AFCFCF9EC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865B57-6360-478E-86C5-54BE0F8E64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0e664afcb84c8e" /><Relationship Type="http://schemas.openxmlformats.org/officeDocument/2006/relationships/slideLayout" Target="/ppt/slideLayouts/slideLayout1.xml" Id="R0aa5a1467d6a45f9" /><Relationship Type="http://schemas.openxmlformats.org/officeDocument/2006/relationships/slideLayout" Target="/ppt/slideLayouts/slideLayout2.xml" Id="R0f22610f42ed43eb" /><Relationship Type="http://schemas.openxmlformats.org/officeDocument/2006/relationships/slideLayout" Target="/ppt/slideLayouts/slideLayout3.xml" Id="R2121253149e541ce" /><Relationship Type="http://schemas.openxmlformats.org/officeDocument/2006/relationships/slideLayout" Target="/ppt/slideLayouts/slideLayout4.xml" Id="Ra390a12342c3463b" /><Relationship Type="http://schemas.openxmlformats.org/officeDocument/2006/relationships/slideLayout" Target="/ppt/slideLayouts/slideLayout5.xml" Id="Racffc3b4ff00450d" /><Relationship Type="http://schemas.openxmlformats.org/officeDocument/2006/relationships/slideLayout" Target="/ppt/slideLayouts/slideLayout6.xml" Id="R29ce998d109a4e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a5a1467d6a45f9"/>
    <p:sldLayoutId xmlns:r="http://schemas.openxmlformats.org/officeDocument/2006/relationships" id="2147483650" r:id="R0f22610f42ed43eb"/>
    <p:sldLayoutId xmlns:r="http://schemas.openxmlformats.org/officeDocument/2006/relationships" id="2147483651" r:id="R2121253149e541ce"/>
    <p:sldLayoutId xmlns:r="http://schemas.openxmlformats.org/officeDocument/2006/relationships" id="2147483652" r:id="Ra390a12342c3463b"/>
    <p:sldLayoutId xmlns:r="http://schemas.openxmlformats.org/officeDocument/2006/relationships" id="2147483653" r:id="Racffc3b4ff00450d"/>
    <p:sldLayoutId xmlns:r="http://schemas.openxmlformats.org/officeDocument/2006/relationships" id="2147483654" r:id="R29ce998d109a4e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c82d51e5ae4957" /><Relationship Type="http://schemas.openxmlformats.org/officeDocument/2006/relationships/notesSlide" Target="/ppt/notesSlides/notesSlide1.xml" Id="Rcc60e0d2051d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5d2253e6dc14560" /><Relationship Type="http://schemas.openxmlformats.org/officeDocument/2006/relationships/notesSlide" Target="/ppt/notesSlides/notesSlide2.xml" Id="R21770ba9bc944c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cfb59d34404d7d" /><Relationship Type="http://schemas.openxmlformats.org/officeDocument/2006/relationships/image" Target="/ppt/media/image.png" Id="R2de43e10280f489f" /><Relationship Type="http://schemas.openxmlformats.org/officeDocument/2006/relationships/notesSlide" Target="/ppt/notesSlides/notesSlide3.xml" Id="R8a7f1e2c66df40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8218b00862044de" /><Relationship Type="http://schemas.openxmlformats.org/officeDocument/2006/relationships/notesSlide" Target="/ppt/notesSlides/notesSlide4.xml" Id="R71e05651548243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ad0ed43f044f63" /><Relationship Type="http://schemas.openxmlformats.org/officeDocument/2006/relationships/notesSlide" Target="/ppt/notesSlides/notesSlide5.xml" Id="Rb577541e2cbd4f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cc9ff75fd2b48da" /><Relationship Type="http://schemas.openxmlformats.org/officeDocument/2006/relationships/notesSlide" Target="/ppt/notesSlides/notesSlide6.xml" Id="Rb799462ef9a540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82dc807c074968" /><Relationship Type="http://schemas.openxmlformats.org/officeDocument/2006/relationships/chart" Target="/ppt/slides/charts/chart1.xml" Id="R3585557e40dd409c" /><Relationship Type="http://schemas.openxmlformats.org/officeDocument/2006/relationships/notesSlide" Target="/ppt/notesSlides/notesSlide7.xml" Id="Rcd103145946a44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8c13d85d45141e8" /><Relationship Type="http://schemas.openxmlformats.org/officeDocument/2006/relationships/chart" Target="/ppt/slides/charts/chart2.xml" Id="R413d3b8c15394386" /><Relationship Type="http://schemas.openxmlformats.org/officeDocument/2006/relationships/chart" Target="/ppt/slides/charts/chart3.xml" Id="Re5c8d47289a84bfe" /><Relationship Type="http://schemas.openxmlformats.org/officeDocument/2006/relationships/notesSlide" Target="/ppt/notesSlides/notesSlide8.xml" Id="R9bfb51c40ce143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b82ab3425a4887" /><Relationship Type="http://schemas.openxmlformats.org/officeDocument/2006/relationships/image" Target="/ppt/media/image2.png" Id="R3f3f06b498cc4ce2" /><Relationship Type="http://schemas.openxmlformats.org/officeDocument/2006/relationships/notesSlide" Target="/ppt/notesSlides/notesSlide9.xml" Id="R5d68044d13224e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b0cab1ed0d45ba" /><Relationship Type="http://schemas.openxmlformats.org/officeDocument/2006/relationships/notesSlide" Target="/ppt/notesSlides/notesSlide10.xml" Id="R48f6c30aeb9e4cfe" /></Relationships>
</file>

<file path=ppt/slides/charts/chart1.xml><?xml version="1.0" encoding="utf-8"?>
<c:chartSpace xmlns:c="http://schemas.openxmlformats.org/drawingml/2006/chart">
  <c:lang val="en-US"/>
  <c:chart>
    <c:plotArea>
      <c:barChart>
        <c:barDir val="col"/>
        <c:varyColors val="0"/>
        <c:ser>
          <c:idx val="0"/>
          <c:order val="0"/>
          <c:tx>
            <c:v>Acurácia de validação</c:v>
          </c:tx>
          <c:spPr>
            <a:solidFill xmlns:a="http://schemas.openxmlformats.org/drawingml/2006/main">
              <a:srgbClr val="157C80"/>
            </a:solidFill>
          </c:spPr>
          <c:invertIfNegative val="0"/>
          <c:cat>
            <c:strLit>
              <c:ptCount val="4"/>
              <c:pt idx="0">
                <c:v>Baseline</c:v>
              </c:pt>
              <c:pt idx="1">
                <c:v>MLP</c:v>
              </c:pt>
              <c:pt idx="2">
                <c:v>CNN inicial</c:v>
              </c:pt>
              <c:pt idx="3">
                <c:v>CNN Dropout</c:v>
              </c:pt>
            </c:strLit>
          </c:cat>
          <c:val>
            <c:numLit>
              <c:formatCode>0%</c:formatCode>
              <c:ptCount val="4"/>
              <c:pt idx="0">
                <c:v>0.0276497696</c:v>
              </c:pt>
              <c:pt idx="1">
                <c:v>0.7142857143</c:v>
              </c:pt>
              <c:pt idx="2">
                <c:v>0.7373271889</c:v>
              </c:pt>
              <c:pt idx="3">
                <c:v>0.7741935484</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xVal>
          <c:yVal>
            <c:numLit>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Lit>
          </c:yVal>
        </c:ser>
        <c:ser>
          <c:idx val="1"/>
          <c:order val="1"/>
          <c:tx>
            <c:v>Validação</c:v>
          </c:tx>
          <c:spPr>
            <a:ln xmlns:a="http://schemas.openxmlformats.org/drawingml/2006/main" w="28575">
              <a:solidFill>
                <a:srgbClr val="D97706"/>
              </a:solidFill>
            </a:ln>
          </c:spPr>
          <c:xVal>
            <c:numLit>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Lit>
          </c:xVal>
          <c:yVal>
            <c:numLit>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Lit>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Lit>
          </c:xVal>
          <c:yVal>
            <c:numLit>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Lit>
          </c:yVal>
        </c:ser>
        <c:ser>
          <c:idx val="1"/>
          <c:order val="1"/>
          <c:tx>
            <c:v>Validação</c:v>
          </c:tx>
          <c:spPr>
            <a:ln xmlns:a="http://schemas.openxmlformats.org/drawingml/2006/main" w="28575">
              <a:solidFill>
                <a:srgbClr val="D97706"/>
              </a:solidFill>
            </a:ln>
          </c:spPr>
          <c:xVal>
            <c:numLit>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Lit>
          </c:xVal>
          <c:yVal>
            <c:numLit>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D6A350-4D72-433A-8BF6-5590EEA5BF2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Reconhecimento de caracteres</a:t>
            </a:r>
          </a:p>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alfanuméricos</a:t>
            </a:r>
          </a:p>
        </p:txBody>
      </p:sp>
      <p:sp>
        <p:nvSpPr>
          <p:cNvPr id="2" name="">
            <a:extLst xmlns:a="http://schemas.openxmlformats.org/drawingml/2006/main">
              <a:ext uri="{FF2B5EF4-FFF2-40B4-BE49-F238E27FC236}">
                <a16:creationId xmlns:a16="http://schemas.microsoft.com/office/drawing/2014/main" id="{3C390044-976F-4167-942E-E8440EE00A8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Grupo 4 | IASEG | Deep Learning | 19/10/2026</a:t>
            </a:r>
          </a:p>
        </p:txBody>
      </p:sp>
      <p:sp>
        <p:nvSpPr>
          <p:cNvPr id="3" name="">
            <a:extLst xmlns:a="http://schemas.openxmlformats.org/drawingml/2006/main">
              <a:ext uri="{FF2B5EF4-FFF2-40B4-BE49-F238E27FC236}">
                <a16:creationId xmlns:a16="http://schemas.microsoft.com/office/drawing/2014/main" id="{9E7D5D49-7B3E-43FD-B488-48E2672E99F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B9733742-364E-437D-A04F-A42BD8B65CFC}"/>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latin typeface="Arial"/>
                <a:ea typeface="Arial"/>
                <a:cs typeface="Arial"/>
              </a:defRPr>
            </a:defPPr>
            <a:lvl1pPr>
              <a:defRPr sz="2550" b="0">
                <a:solidFill>
                  <a:srgbClr val="157C80"/>
                </a:solidFill>
                <a:latin typeface="Arial"/>
                <a:ea typeface="Arial"/>
                <a:cs typeface="Arial"/>
              </a:defRPr>
            </a:lvl1pPr>
            <a:lvl2pPr>
              <a:defRPr sz="2550" b="0">
                <a:solidFill>
                  <a:srgbClr val="157C80"/>
                </a:solidFill>
                <a:latin typeface="Arial"/>
                <a:ea typeface="Arial"/>
                <a:cs typeface="Arial"/>
              </a:defRPr>
            </a:lvl2pPr>
            <a:lvl3pPr>
              <a:defRPr sz="2550" b="0">
                <a:solidFill>
                  <a:srgbClr val="157C80"/>
                </a:solidFill>
                <a:latin typeface="Arial"/>
                <a:ea typeface="Arial"/>
                <a:cs typeface="Arial"/>
              </a:defRPr>
            </a:lvl3pPr>
            <a:lvl4pPr>
              <a:defRPr sz="2550" b="0">
                <a:solidFill>
                  <a:srgbClr val="157C80"/>
                </a:solidFill>
                <a:latin typeface="Arial"/>
                <a:ea typeface="Arial"/>
                <a:cs typeface="Arial"/>
              </a:defRPr>
            </a:lvl4pPr>
            <a:lvl5pPr>
              <a:defRPr sz="2550" b="0">
                <a:solidFill>
                  <a:srgbClr val="157C80"/>
                </a:solidFill>
                <a:latin typeface="Arial"/>
                <a:ea typeface="Arial"/>
                <a:cs typeface="Arial"/>
              </a:defRPr>
            </a:lvl5pPr>
            <a:lvl6pPr>
              <a:defRPr sz="2550" b="0">
                <a:solidFill>
                  <a:srgbClr val="157C80"/>
                </a:solidFill>
                <a:latin typeface="Arial"/>
                <a:ea typeface="Arial"/>
                <a:cs typeface="Arial"/>
              </a:defRPr>
            </a:lvl6pPr>
            <a:lvl7pPr>
              <a:defRPr sz="2550" b="0">
                <a:solidFill>
                  <a:srgbClr val="157C80"/>
                </a:solidFill>
                <a:latin typeface="Arial"/>
                <a:ea typeface="Arial"/>
                <a:cs typeface="Arial"/>
              </a:defRPr>
            </a:lvl7pPr>
            <a:lvl8pPr>
              <a:defRPr sz="2550" b="0">
                <a:solidFill>
                  <a:srgbClr val="157C80"/>
                </a:solidFill>
                <a:latin typeface="Arial"/>
                <a:ea typeface="Arial"/>
                <a:cs typeface="Arial"/>
              </a:defRPr>
            </a:lvl8pPr>
            <a:lvl9pPr>
              <a:defRPr sz="2550" b="0">
                <a:solidFill>
                  <a:srgbClr val="157C80"/>
                </a:solidFill>
                <a:latin typeface="Arial"/>
                <a:ea typeface="Arial"/>
                <a:cs typeface="Arial"/>
              </a:defRPr>
            </a:lvl9pPr>
          </a:lstStyle>
          <a:p xmlns:a="http://schemas.openxmlformats.org/drawingml/2006/main">
            <a:pPr>
              <a:defRPr sz="2550" b="0">
                <a:solidFill>
                  <a:srgbClr val="157C80"/>
                </a:solidFill>
                <a:latin typeface="Arial"/>
                <a:ea typeface="Arial"/>
                <a:cs typeface="Arial"/>
              </a:defRPr>
            </a:pPr>
            <a:r>
              <a:rPr sz="2550" b="0">
                <a:solidFill>
                  <a:srgbClr val="157C80"/>
                </a:solidFill>
                <a:latin typeface="Arial"/>
                <a:ea typeface="Arial"/>
                <a:cs typeface="Aria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7489937C-2545-4610-9A4D-6CB55F00F469}"/>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Bruno Groppo · Bruno Pimentel · Reynato Junior</a:t>
            </a:r>
          </a:p>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Wallace Jardim · Daniel Gil</a:t>
            </a:r>
          </a:p>
        </p:txBody>
      </p:sp>
    </p:spTree>
    <p:extLst>
      <p:ext uri="{BB962C8B-B14F-4D97-AF65-F5344CB8AC3E}">
        <p14:creationId xmlns:p14="http://schemas.microsoft.com/office/powerpoint/2010/main" val="12178847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846333-5398-4813-83C0-C11FB4578F2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Problema e referência de comparação</a:t>
            </a:r>
          </a:p>
        </p:txBody>
      </p:sp>
      <p:sp>
        <p:nvSpPr>
          <p:cNvPr id="2" name="">
            <a:extLst xmlns:a="http://schemas.openxmlformats.org/drawingml/2006/main">
              <a:ext uri="{FF2B5EF4-FFF2-40B4-BE49-F238E27FC236}">
                <a16:creationId xmlns:a16="http://schemas.microsoft.com/office/drawing/2014/main" id="{2253A167-F863-4531-8783-5AFDE66A20CA}"/>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Groppo | 2 minutos</a:t>
            </a:r>
          </a:p>
        </p:txBody>
      </p:sp>
      <p:sp>
        <p:nvSpPr>
          <p:cNvPr id="3" name="">
            <a:extLst xmlns:a="http://schemas.openxmlformats.org/drawingml/2006/main">
              <a:ext uri="{FF2B5EF4-FFF2-40B4-BE49-F238E27FC236}">
                <a16:creationId xmlns:a16="http://schemas.microsoft.com/office/drawing/2014/main" id="{370C6CD6-B5DF-4C66-AAB9-98BB561A3ED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2B87D4DE-2088-4FE2-8124-842B1B02E9EB}"/>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8D83C191-3D2E-464C-ADAB-EE61C9066FF9}"/>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 caractere isolado, binário,</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com orientação já definida.</a:t>
            </a:r>
          </a:p>
        </p:txBody>
      </p:sp>
      <p:sp>
        <p:nvSpPr>
          <p:cNvPr id="6" name="">
            <a:extLst xmlns:a="http://schemas.openxmlformats.org/drawingml/2006/main">
              <a:ext uri="{FF2B5EF4-FFF2-40B4-BE49-F238E27FC236}">
                <a16:creationId xmlns:a16="http://schemas.microsoft.com/office/drawing/2014/main" id="{3C853731-F75A-451F-9A27-689827A0393B}"/>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Saída</a:t>
            </a:r>
          </a:p>
        </p:txBody>
      </p:sp>
      <p:sp>
        <p:nvSpPr>
          <p:cNvPr id="7" name="">
            <a:extLst xmlns:a="http://schemas.openxmlformats.org/drawingml/2006/main">
              <a:ext uri="{FF2B5EF4-FFF2-40B4-BE49-F238E27FC236}">
                <a16:creationId xmlns:a16="http://schemas.microsoft.com/office/drawing/2014/main" id="{11E227A5-B477-43FD-885E-81B283263661}"/>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36 pontuações softmax.</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Escolhemos a maior.</a:t>
            </a:r>
          </a:p>
        </p:txBody>
      </p:sp>
      <p:sp>
        <p:nvSpPr>
          <p:cNvPr id="8" name="">
            <a:extLst xmlns:a="http://schemas.openxmlformats.org/drawingml/2006/main">
              <a:ext uri="{FF2B5EF4-FFF2-40B4-BE49-F238E27FC236}">
                <a16:creationId xmlns:a16="http://schemas.microsoft.com/office/drawing/2014/main" id="{0A915274-B253-4FFD-A324-3AADCE980482}"/>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latin typeface="Arial"/>
                <a:ea typeface="Arial"/>
                <a:cs typeface="Arial"/>
              </a:defRPr>
            </a:defPPr>
            <a:lvl1pPr>
              <a:defRPr sz="2700" b="1">
                <a:solidFill>
                  <a:srgbClr val="123F5D"/>
                </a:solidFill>
                <a:latin typeface="Arial"/>
                <a:ea typeface="Arial"/>
                <a:cs typeface="Arial"/>
              </a:defRPr>
            </a:lvl1pPr>
            <a:lvl2pPr>
              <a:defRPr sz="2700" b="1">
                <a:solidFill>
                  <a:srgbClr val="123F5D"/>
                </a:solidFill>
                <a:latin typeface="Arial"/>
                <a:ea typeface="Arial"/>
                <a:cs typeface="Arial"/>
              </a:defRPr>
            </a:lvl2pPr>
            <a:lvl3pPr>
              <a:defRPr sz="2700" b="1">
                <a:solidFill>
                  <a:srgbClr val="123F5D"/>
                </a:solidFill>
                <a:latin typeface="Arial"/>
                <a:ea typeface="Arial"/>
                <a:cs typeface="Arial"/>
              </a:defRPr>
            </a:lvl3pPr>
            <a:lvl4pPr>
              <a:defRPr sz="2700" b="1">
                <a:solidFill>
                  <a:srgbClr val="123F5D"/>
                </a:solidFill>
                <a:latin typeface="Arial"/>
                <a:ea typeface="Arial"/>
                <a:cs typeface="Arial"/>
              </a:defRPr>
            </a:lvl4pPr>
            <a:lvl5pPr>
              <a:defRPr sz="2700" b="1">
                <a:solidFill>
                  <a:srgbClr val="123F5D"/>
                </a:solidFill>
                <a:latin typeface="Arial"/>
                <a:ea typeface="Arial"/>
                <a:cs typeface="Arial"/>
              </a:defRPr>
            </a:lvl5pPr>
            <a:lvl6pPr>
              <a:defRPr sz="2700" b="1">
                <a:solidFill>
                  <a:srgbClr val="123F5D"/>
                </a:solidFill>
                <a:latin typeface="Arial"/>
                <a:ea typeface="Arial"/>
                <a:cs typeface="Arial"/>
              </a:defRPr>
            </a:lvl6pPr>
            <a:lvl7pPr>
              <a:defRPr sz="2700" b="1">
                <a:solidFill>
                  <a:srgbClr val="123F5D"/>
                </a:solidFill>
                <a:latin typeface="Arial"/>
                <a:ea typeface="Arial"/>
                <a:cs typeface="Arial"/>
              </a:defRPr>
            </a:lvl7pPr>
            <a:lvl8pPr>
              <a:defRPr sz="2700" b="1">
                <a:solidFill>
                  <a:srgbClr val="123F5D"/>
                </a:solidFill>
                <a:latin typeface="Arial"/>
                <a:ea typeface="Arial"/>
                <a:cs typeface="Arial"/>
              </a:defRPr>
            </a:lvl8pPr>
            <a:lvl9pPr>
              <a:defRPr sz="2700" b="1">
                <a:solidFill>
                  <a:srgbClr val="123F5D"/>
                </a:solidFill>
                <a:latin typeface="Arial"/>
                <a:ea typeface="Arial"/>
                <a:cs typeface="Arial"/>
              </a:defRPr>
            </a:lvl9pPr>
          </a:lstStyle>
          <a:p xmlns:a="http://schemas.openxmlformats.org/drawingml/2006/main">
            <a:pPr>
              <a:defRPr sz="2700" b="1">
                <a:solidFill>
                  <a:srgbClr val="123F5D"/>
                </a:solidFill>
                <a:latin typeface="Arial"/>
                <a:ea typeface="Arial"/>
                <a:cs typeface="Arial"/>
              </a:defRPr>
            </a:pPr>
            <a:r>
              <a:rPr sz="2700" b="1">
                <a:solidFill>
                  <a:srgbClr val="123F5D"/>
                </a:solidFill>
                <a:latin typeface="Arial"/>
                <a:ea typeface="Arial"/>
                <a:cs typeface="Arial"/>
              </a:rPr>
              <a:t>Baseline: sempre prever 0</a:t>
            </a:r>
          </a:p>
        </p:txBody>
      </p:sp>
      <p:sp>
        <p:nvSpPr>
          <p:cNvPr id="9" name="">
            <a:extLst xmlns:a="http://schemas.openxmlformats.org/drawingml/2006/main">
              <a:ext uri="{FF2B5EF4-FFF2-40B4-BE49-F238E27FC236}">
                <a16:creationId xmlns:a16="http://schemas.microsoft.com/office/drawing/2014/main" id="{2300D3CC-7D89-4DBF-92E0-5D2154D09FFF}"/>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6 acertos em 217 imagens de validação: 2,76%.</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Uma MLP adicional compara a CNN com uma rede densa.</a:t>
            </a:r>
          </a:p>
        </p:txBody>
      </p:sp>
    </p:spTree>
    <p:extLst>
      <p:ext uri="{BB962C8B-B14F-4D97-AF65-F5344CB8AC3E}">
        <p14:creationId xmlns:p14="http://schemas.microsoft.com/office/powerpoint/2010/main" val="5256439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45FAF1-1C20-4C3B-BB57-E14CA5DEDEA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Binary Alpha Digits</a:t>
            </a:r>
          </a:p>
        </p:txBody>
      </p:sp>
      <p:sp>
        <p:nvSpPr>
          <p:cNvPr id="2" name="">
            <a:extLst xmlns:a="http://schemas.openxmlformats.org/drawingml/2006/main">
              <a:ext uri="{FF2B5EF4-FFF2-40B4-BE49-F238E27FC236}">
                <a16:creationId xmlns:a16="http://schemas.microsoft.com/office/drawing/2014/main" id="{9FBE60C6-21AA-4714-8F2A-1999E431330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59C63EBA-E5D2-404B-81E2-639E8C992EF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81AAC9E2-1B65-406B-B7E1-464C9C0530E4}"/>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latin typeface="Arial"/>
                <a:ea typeface="Arial"/>
                <a:cs typeface="Arial"/>
              </a:defRPr>
            </a:defPPr>
            <a:lvl1pPr>
              <a:defRPr sz="2250" b="0">
                <a:solidFill>
                  <a:srgbClr val="157C80"/>
                </a:solidFill>
                <a:latin typeface="Arial"/>
                <a:ea typeface="Arial"/>
                <a:cs typeface="Arial"/>
              </a:defRPr>
            </a:lvl1pPr>
            <a:lvl2pPr>
              <a:defRPr sz="2250" b="0">
                <a:solidFill>
                  <a:srgbClr val="157C80"/>
                </a:solidFill>
                <a:latin typeface="Arial"/>
                <a:ea typeface="Arial"/>
                <a:cs typeface="Arial"/>
              </a:defRPr>
            </a:lvl2pPr>
            <a:lvl3pPr>
              <a:defRPr sz="2250" b="0">
                <a:solidFill>
                  <a:srgbClr val="157C80"/>
                </a:solidFill>
                <a:latin typeface="Arial"/>
                <a:ea typeface="Arial"/>
                <a:cs typeface="Arial"/>
              </a:defRPr>
            </a:lvl3pPr>
            <a:lvl4pPr>
              <a:defRPr sz="2250" b="0">
                <a:solidFill>
                  <a:srgbClr val="157C80"/>
                </a:solidFill>
                <a:latin typeface="Arial"/>
                <a:ea typeface="Arial"/>
                <a:cs typeface="Arial"/>
              </a:defRPr>
            </a:lvl4pPr>
            <a:lvl5pPr>
              <a:defRPr sz="2250" b="0">
                <a:solidFill>
                  <a:srgbClr val="157C80"/>
                </a:solidFill>
                <a:latin typeface="Arial"/>
                <a:ea typeface="Arial"/>
                <a:cs typeface="Arial"/>
              </a:defRPr>
            </a:lvl5pPr>
            <a:lvl6pPr>
              <a:defRPr sz="2250" b="0">
                <a:solidFill>
                  <a:srgbClr val="157C80"/>
                </a:solidFill>
                <a:latin typeface="Arial"/>
                <a:ea typeface="Arial"/>
                <a:cs typeface="Arial"/>
              </a:defRPr>
            </a:lvl6pPr>
            <a:lvl7pPr>
              <a:defRPr sz="2250" b="0">
                <a:solidFill>
                  <a:srgbClr val="157C80"/>
                </a:solidFill>
                <a:latin typeface="Arial"/>
                <a:ea typeface="Arial"/>
                <a:cs typeface="Arial"/>
              </a:defRPr>
            </a:lvl7pPr>
            <a:lvl8pPr>
              <a:defRPr sz="2250" b="0">
                <a:solidFill>
                  <a:srgbClr val="157C80"/>
                </a:solidFill>
                <a:latin typeface="Arial"/>
                <a:ea typeface="Arial"/>
                <a:cs typeface="Arial"/>
              </a:defRPr>
            </a:lvl8pPr>
            <a:lvl9pPr>
              <a:defRPr sz="2250" b="0">
                <a:solidFill>
                  <a:srgbClr val="157C80"/>
                </a:solidFill>
                <a:latin typeface="Arial"/>
                <a:ea typeface="Arial"/>
                <a:cs typeface="Arial"/>
              </a:defRPr>
            </a:lvl9pPr>
          </a:lstStyle>
          <a:p xmlns:a="http://schemas.openxmlformats.org/drawingml/2006/main">
            <a:pPr>
              <a:defRPr sz="2250" b="0">
                <a:solidFill>
                  <a:srgbClr val="157C80"/>
                </a:solidFill>
                <a:latin typeface="Arial"/>
                <a:ea typeface="Arial"/>
                <a:cs typeface="Arial"/>
              </a:defRPr>
            </a:pPr>
            <a:r>
              <a:rPr sz="2250" b="0">
                <a:solidFill>
                  <a:srgbClr val="157C80"/>
                </a:solidFill>
                <a:latin typeface="Arial"/>
                <a:ea typeface="Arial"/>
                <a:cs typeface="Arial"/>
              </a:rPr>
              <a:t>1.404 imagens · 36 classes · 39 exemplos por classe</a:t>
            </a:r>
          </a:p>
        </p:txBody>
      </p:sp>
      <p:pic>
        <p:nvPicPr>
          <p:cNvPr id="5" name="">
            <a:extLst xmlns:a="http://schemas.openxmlformats.org/drawingml/2006/main">
              <a:ext uri="{FF2B5EF4-FFF2-40B4-BE49-F238E27FC236}">
                <a16:creationId xmlns:a16="http://schemas.microsoft.com/office/drawing/2014/main" id="{20D09DEA-1E4A-45CD-86B6-F2AA91BFE407}"/>
              </a:ext>
            </a:extLst>
          </p:cNvPr>
          <p:cNvPicPr>
            <a:picLocks xmlns:a="http://schemas.openxmlformats.org/drawingml/2006/main" noChangeAspect="1"/>
          </p:cNvPicPr>
          <p:nvPr/>
        </p:nvPicPr>
        <p:blipFill>
          <a:blip xmlns:r="http://schemas.openxmlformats.org/officeDocument/2006/relationships" xmlns:a="http://schemas.openxmlformats.org/drawingml/2006/main" r:embed="R2de43e10280f489f"/>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4677316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983C7E-0FD8-49D4-88F7-EAF5E002B11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Cópias idênticas ficam no mesmo conjunto</a:t>
            </a:r>
          </a:p>
        </p:txBody>
      </p:sp>
      <p:sp>
        <p:nvSpPr>
          <p:cNvPr id="2" name="">
            <a:extLst xmlns:a="http://schemas.openxmlformats.org/drawingml/2006/main">
              <a:ext uri="{FF2B5EF4-FFF2-40B4-BE49-F238E27FC236}">
                <a16:creationId xmlns:a16="http://schemas.microsoft.com/office/drawing/2014/main" id="{CEE3EC6F-6B39-4457-A399-C4E06772CCDC}"/>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EC549F17-44CB-4439-A5BD-A92C48B1C4F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2C5584F4-99FD-4845-AFA9-9DB6A3B31D5B}"/>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As imagens de 0 e O são iguais, com rótulos diferentes.</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0A05204A-CA21-4463-8B2D-7544C826A3D6}"/>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latin typeface="Arial"/>
                          <a:ea typeface="Arial"/>
                          <a:cs typeface="Aria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latin typeface="Arial"/>
                          <a:ea typeface="Arial"/>
                          <a:cs typeface="Aria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latin typeface="Arial"/>
                          <a:ea typeface="Arial"/>
                          <a:cs typeface="Aria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latin typeface="Arial"/>
                          <a:ea typeface="Arial"/>
                          <a:cs typeface="Aria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40C61A8-FFD8-4788-B692-A112A3AE243D}"/>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latin typeface="Arial"/>
                <a:ea typeface="Arial"/>
                <a:cs typeface="Arial"/>
              </a:defRPr>
            </a:defPPr>
            <a:lvl1pPr>
              <a:defRPr sz="1875" b="0">
                <a:solidFill>
                  <a:srgbClr val="157C80"/>
                </a:solidFill>
                <a:latin typeface="Arial"/>
                <a:ea typeface="Arial"/>
                <a:cs typeface="Arial"/>
              </a:defRPr>
            </a:lvl1pPr>
            <a:lvl2pPr>
              <a:defRPr sz="1875" b="0">
                <a:solidFill>
                  <a:srgbClr val="157C80"/>
                </a:solidFill>
                <a:latin typeface="Arial"/>
                <a:ea typeface="Arial"/>
                <a:cs typeface="Arial"/>
              </a:defRPr>
            </a:lvl2pPr>
            <a:lvl3pPr>
              <a:defRPr sz="1875" b="0">
                <a:solidFill>
                  <a:srgbClr val="157C80"/>
                </a:solidFill>
                <a:latin typeface="Arial"/>
                <a:ea typeface="Arial"/>
                <a:cs typeface="Arial"/>
              </a:defRPr>
            </a:lvl3pPr>
            <a:lvl4pPr>
              <a:defRPr sz="1875" b="0">
                <a:solidFill>
                  <a:srgbClr val="157C80"/>
                </a:solidFill>
                <a:latin typeface="Arial"/>
                <a:ea typeface="Arial"/>
                <a:cs typeface="Arial"/>
              </a:defRPr>
            </a:lvl4pPr>
            <a:lvl5pPr>
              <a:defRPr sz="1875" b="0">
                <a:solidFill>
                  <a:srgbClr val="157C80"/>
                </a:solidFill>
                <a:latin typeface="Arial"/>
                <a:ea typeface="Arial"/>
                <a:cs typeface="Arial"/>
              </a:defRPr>
            </a:lvl5pPr>
            <a:lvl6pPr>
              <a:defRPr sz="1875" b="0">
                <a:solidFill>
                  <a:srgbClr val="157C80"/>
                </a:solidFill>
                <a:latin typeface="Arial"/>
                <a:ea typeface="Arial"/>
                <a:cs typeface="Arial"/>
              </a:defRPr>
            </a:lvl6pPr>
            <a:lvl7pPr>
              <a:defRPr sz="1875" b="0">
                <a:solidFill>
                  <a:srgbClr val="157C80"/>
                </a:solidFill>
                <a:latin typeface="Arial"/>
                <a:ea typeface="Arial"/>
                <a:cs typeface="Arial"/>
              </a:defRPr>
            </a:lvl7pPr>
            <a:lvl8pPr>
              <a:defRPr sz="1875" b="0">
                <a:solidFill>
                  <a:srgbClr val="157C80"/>
                </a:solidFill>
                <a:latin typeface="Arial"/>
                <a:ea typeface="Arial"/>
                <a:cs typeface="Arial"/>
              </a:defRPr>
            </a:lvl8pPr>
            <a:lvl9pPr>
              <a:defRPr sz="1875" b="0">
                <a:solidFill>
                  <a:srgbClr val="157C80"/>
                </a:solidFill>
                <a:latin typeface="Arial"/>
                <a:ea typeface="Arial"/>
                <a:cs typeface="Arial"/>
              </a:defRPr>
            </a:lvl9pPr>
          </a:lstStyle>
          <a:p xmlns:a="http://schemas.openxmlformats.org/drawingml/2006/main">
            <a:pPr>
              <a:defRPr sz="1875" b="0">
                <a:solidFill>
                  <a:srgbClr val="157C80"/>
                </a:solidFill>
                <a:latin typeface="Arial"/>
                <a:ea typeface="Arial"/>
                <a:cs typeface="Arial"/>
              </a:defRPr>
            </a:pPr>
            <a:r>
              <a:rPr sz="1875" b="0">
                <a:solidFill>
                  <a:srgbClr val="157C80"/>
                </a:solidFill>
                <a:latin typeface="Arial"/>
                <a:ea typeface="Arial"/>
                <a:cs typeface="Arial"/>
              </a:rPr>
              <a:t>Seed 42 · Nenhuma cópia exata atravessa os conjuntos</a:t>
            </a:r>
          </a:p>
        </p:txBody>
      </p:sp>
    </p:spTree>
    <p:extLst>
      <p:ext uri="{BB962C8B-B14F-4D97-AF65-F5344CB8AC3E}">
        <p14:creationId xmlns:p14="http://schemas.microsoft.com/office/powerpoint/2010/main" val="1078041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8A8FB6-6BE5-4888-B8C8-8B017D2D02E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Arquitetura da CNN</a:t>
            </a:r>
          </a:p>
        </p:txBody>
      </p:sp>
      <p:sp>
        <p:nvSpPr>
          <p:cNvPr id="2" name="">
            <a:extLst xmlns:a="http://schemas.openxmlformats.org/drawingml/2006/main">
              <a:ext uri="{FF2B5EF4-FFF2-40B4-BE49-F238E27FC236}">
                <a16:creationId xmlns:a16="http://schemas.microsoft.com/office/drawing/2014/main" id="{81F47707-8372-4310-9427-1929B5FB07C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2 minutos</a:t>
            </a:r>
          </a:p>
        </p:txBody>
      </p:sp>
      <p:sp>
        <p:nvSpPr>
          <p:cNvPr id="3" name="">
            <a:extLst xmlns:a="http://schemas.openxmlformats.org/drawingml/2006/main">
              <a:ext uri="{FF2B5EF4-FFF2-40B4-BE49-F238E27FC236}">
                <a16:creationId xmlns:a16="http://schemas.microsoft.com/office/drawing/2014/main" id="{0C172FDC-34FB-4B90-8BE9-E8841B07C3B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A398DEA7-9F70-40D1-AE80-87EBCD940882}"/>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latin typeface="Arial"/>
                          <a:ea typeface="Arial"/>
                          <a:cs typeface="Aria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9EB35FAC-AAA8-4DB0-AFCF-7F5048C5C1D1}"/>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latin typeface="Arial"/>
                <a:ea typeface="Arial"/>
                <a:cs typeface="Arial"/>
              </a:defRPr>
            </a:defPPr>
            <a:lvl1pPr>
              <a:defRPr sz="1800" b="0">
                <a:solidFill>
                  <a:srgbClr val="157C80"/>
                </a:solidFill>
                <a:latin typeface="Arial"/>
                <a:ea typeface="Arial"/>
                <a:cs typeface="Arial"/>
              </a:defRPr>
            </a:lvl1pPr>
            <a:lvl2pPr>
              <a:defRPr sz="1800" b="0">
                <a:solidFill>
                  <a:srgbClr val="157C80"/>
                </a:solidFill>
                <a:latin typeface="Arial"/>
                <a:ea typeface="Arial"/>
                <a:cs typeface="Arial"/>
              </a:defRPr>
            </a:lvl2pPr>
            <a:lvl3pPr>
              <a:defRPr sz="1800" b="0">
                <a:solidFill>
                  <a:srgbClr val="157C80"/>
                </a:solidFill>
                <a:latin typeface="Arial"/>
                <a:ea typeface="Arial"/>
                <a:cs typeface="Arial"/>
              </a:defRPr>
            </a:lvl3pPr>
            <a:lvl4pPr>
              <a:defRPr sz="1800" b="0">
                <a:solidFill>
                  <a:srgbClr val="157C80"/>
                </a:solidFill>
                <a:latin typeface="Arial"/>
                <a:ea typeface="Arial"/>
                <a:cs typeface="Arial"/>
              </a:defRPr>
            </a:lvl4pPr>
            <a:lvl5pPr>
              <a:defRPr sz="1800" b="0">
                <a:solidFill>
                  <a:srgbClr val="157C80"/>
                </a:solidFill>
                <a:latin typeface="Arial"/>
                <a:ea typeface="Arial"/>
                <a:cs typeface="Arial"/>
              </a:defRPr>
            </a:lvl5pPr>
            <a:lvl6pPr>
              <a:defRPr sz="1800" b="0">
                <a:solidFill>
                  <a:srgbClr val="157C80"/>
                </a:solidFill>
                <a:latin typeface="Arial"/>
                <a:ea typeface="Arial"/>
                <a:cs typeface="Arial"/>
              </a:defRPr>
            </a:lvl6pPr>
            <a:lvl7pPr>
              <a:defRPr sz="1800" b="0">
                <a:solidFill>
                  <a:srgbClr val="157C80"/>
                </a:solidFill>
                <a:latin typeface="Arial"/>
                <a:ea typeface="Arial"/>
                <a:cs typeface="Arial"/>
              </a:defRPr>
            </a:lvl7pPr>
            <a:lvl8pPr>
              <a:defRPr sz="1800" b="0">
                <a:solidFill>
                  <a:srgbClr val="157C80"/>
                </a:solidFill>
                <a:latin typeface="Arial"/>
                <a:ea typeface="Arial"/>
                <a:cs typeface="Arial"/>
              </a:defRPr>
            </a:lvl8pPr>
            <a:lvl9pPr>
              <a:defRPr sz="1800" b="0">
                <a:solidFill>
                  <a:srgbClr val="157C80"/>
                </a:solidFill>
                <a:latin typeface="Arial"/>
                <a:ea typeface="Arial"/>
                <a:cs typeface="Arial"/>
              </a:defRPr>
            </a:lvl9pPr>
          </a:lstStyle>
          <a:p xmlns:a="http://schemas.openxmlformats.org/drawingml/2006/main">
            <a:pPr>
              <a:defRPr sz="1800" b="0">
                <a:solidFill>
                  <a:srgbClr val="157C80"/>
                </a:solidFill>
                <a:latin typeface="Arial"/>
                <a:ea typeface="Arial"/>
                <a:cs typeface="Arial"/>
              </a:defRPr>
            </a:pPr>
            <a:r>
              <a:rPr sz="1800" b="0">
                <a:solidFill>
                  <a:srgbClr val="157C80"/>
                </a:solidFill>
                <a:latin typeface="Arial"/>
                <a:ea typeface="Arial"/>
                <a:cs typeface="Arial"/>
              </a:rPr>
              <a:t>48.164 parâmetros nas duas CNNs; Dropout não adiciona pesos.</a:t>
            </a:r>
          </a:p>
        </p:txBody>
      </p:sp>
    </p:spTree>
    <p:extLst>
      <p:ext uri="{BB962C8B-B14F-4D97-AF65-F5344CB8AC3E}">
        <p14:creationId xmlns:p14="http://schemas.microsoft.com/office/powerpoint/2010/main" val="12035986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717808-7B98-40D3-AE70-81B6FA354CE9}"/>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Treinamento e seleção</a:t>
            </a:r>
          </a:p>
        </p:txBody>
      </p:sp>
      <p:sp>
        <p:nvSpPr>
          <p:cNvPr id="2" name="">
            <a:extLst xmlns:a="http://schemas.openxmlformats.org/drawingml/2006/main">
              <a:ext uri="{FF2B5EF4-FFF2-40B4-BE49-F238E27FC236}">
                <a16:creationId xmlns:a16="http://schemas.microsoft.com/office/drawing/2014/main" id="{A0E040D7-6D99-43A6-86B2-61ECC9D8ACB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1 minuto</a:t>
            </a:r>
          </a:p>
        </p:txBody>
      </p:sp>
      <p:sp>
        <p:nvSpPr>
          <p:cNvPr id="3" name="">
            <a:extLst xmlns:a="http://schemas.openxmlformats.org/drawingml/2006/main">
              <a:ext uri="{FF2B5EF4-FFF2-40B4-BE49-F238E27FC236}">
                <a16:creationId xmlns:a16="http://schemas.microsoft.com/office/drawing/2014/main" id="{84081771-859E-4944-9880-D80495F4F7F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F0CAD222-CC60-4E3E-91C1-45E0CFE94043}"/>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Adam: taxa 0,001</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Batch: 32 imagens</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Limite: 80 épocas</a:t>
            </a:r>
          </a:p>
        </p:txBody>
      </p:sp>
      <p:sp>
        <p:nvSpPr>
          <p:cNvPr id="5" name="">
            <a:extLst xmlns:a="http://schemas.openxmlformats.org/drawingml/2006/main">
              <a:ext uri="{FF2B5EF4-FFF2-40B4-BE49-F238E27FC236}">
                <a16:creationId xmlns:a16="http://schemas.microsoft.com/office/drawing/2014/main" id="{73528E51-C38D-4BCF-A3CC-0EEC448BC6E4}"/>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Perda: entropia cruzada</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Rótulos inteiros (sparse)</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Métrica principal: acurácia</a:t>
            </a:r>
          </a:p>
        </p:txBody>
      </p:sp>
      <p:sp>
        <p:nvSpPr>
          <p:cNvPr id="6" name="">
            <a:extLst xmlns:a="http://schemas.openxmlformats.org/drawingml/2006/main">
              <a:ext uri="{FF2B5EF4-FFF2-40B4-BE49-F238E27FC236}">
                <a16:creationId xmlns:a16="http://schemas.microsoft.com/office/drawing/2014/main" id="{51D405EA-DD71-45D7-A6BA-47BCDF32C4F6}"/>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latin typeface="Arial"/>
                <a:ea typeface="Arial"/>
                <a:cs typeface="Arial"/>
              </a:defRPr>
            </a:defPPr>
            <a:lvl1pPr>
              <a:defRPr sz="2400" b="1">
                <a:solidFill>
                  <a:srgbClr val="123F5D"/>
                </a:solidFill>
                <a:latin typeface="Arial"/>
                <a:ea typeface="Arial"/>
                <a:cs typeface="Arial"/>
              </a:defRPr>
            </a:lvl1pPr>
            <a:lvl2pPr>
              <a:defRPr sz="2400" b="1">
                <a:solidFill>
                  <a:srgbClr val="123F5D"/>
                </a:solidFill>
                <a:latin typeface="Arial"/>
                <a:ea typeface="Arial"/>
                <a:cs typeface="Arial"/>
              </a:defRPr>
            </a:lvl2pPr>
            <a:lvl3pPr>
              <a:defRPr sz="2400" b="1">
                <a:solidFill>
                  <a:srgbClr val="123F5D"/>
                </a:solidFill>
                <a:latin typeface="Arial"/>
                <a:ea typeface="Arial"/>
                <a:cs typeface="Arial"/>
              </a:defRPr>
            </a:lvl3pPr>
            <a:lvl4pPr>
              <a:defRPr sz="2400" b="1">
                <a:solidFill>
                  <a:srgbClr val="123F5D"/>
                </a:solidFill>
                <a:latin typeface="Arial"/>
                <a:ea typeface="Arial"/>
                <a:cs typeface="Arial"/>
              </a:defRPr>
            </a:lvl4pPr>
            <a:lvl5pPr>
              <a:defRPr sz="2400" b="1">
                <a:solidFill>
                  <a:srgbClr val="123F5D"/>
                </a:solidFill>
                <a:latin typeface="Arial"/>
                <a:ea typeface="Arial"/>
                <a:cs typeface="Arial"/>
              </a:defRPr>
            </a:lvl5pPr>
            <a:lvl6pPr>
              <a:defRPr sz="2400" b="1">
                <a:solidFill>
                  <a:srgbClr val="123F5D"/>
                </a:solidFill>
                <a:latin typeface="Arial"/>
                <a:ea typeface="Arial"/>
                <a:cs typeface="Arial"/>
              </a:defRPr>
            </a:lvl6pPr>
            <a:lvl7pPr>
              <a:defRPr sz="2400" b="1">
                <a:solidFill>
                  <a:srgbClr val="123F5D"/>
                </a:solidFill>
                <a:latin typeface="Arial"/>
                <a:ea typeface="Arial"/>
                <a:cs typeface="Arial"/>
              </a:defRPr>
            </a:lvl7pPr>
            <a:lvl8pPr>
              <a:defRPr sz="2400" b="1">
                <a:solidFill>
                  <a:srgbClr val="123F5D"/>
                </a:solidFill>
                <a:latin typeface="Arial"/>
                <a:ea typeface="Arial"/>
                <a:cs typeface="Arial"/>
              </a:defRPr>
            </a:lvl8pPr>
            <a:lvl9pPr>
              <a:defRPr sz="2400" b="1">
                <a:solidFill>
                  <a:srgbClr val="123F5D"/>
                </a:solidFill>
                <a:latin typeface="Arial"/>
                <a:ea typeface="Arial"/>
                <a:cs typeface="Arial"/>
              </a:defRPr>
            </a:lvl9pPr>
          </a:lstStyle>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EarlyStopping: dez épocas sem reduzir val_loss.</a:t>
            </a:r>
          </a:p>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Restaurar os pesos da melhor época.</a:t>
            </a:r>
          </a:p>
        </p:txBody>
      </p:sp>
      <p:sp>
        <p:nvSpPr>
          <p:cNvPr id="7" name="">
            <a:extLst xmlns:a="http://schemas.openxmlformats.org/drawingml/2006/main">
              <a:ext uri="{FF2B5EF4-FFF2-40B4-BE49-F238E27FC236}">
                <a16:creationId xmlns:a16="http://schemas.microsoft.com/office/drawing/2014/main" id="{0856AC98-F7B9-4F18-B0CE-510D5D72661C}"/>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latin typeface="Arial"/>
                <a:ea typeface="Arial"/>
                <a:cs typeface="Arial"/>
              </a:defRPr>
            </a:defPPr>
            <a:lvl1pPr>
              <a:defRPr sz="2100" b="0">
                <a:solidFill>
                  <a:srgbClr val="157C80"/>
                </a:solidFill>
                <a:latin typeface="Arial"/>
                <a:ea typeface="Arial"/>
                <a:cs typeface="Arial"/>
              </a:defRPr>
            </a:lvl1pPr>
            <a:lvl2pPr>
              <a:defRPr sz="2100" b="0">
                <a:solidFill>
                  <a:srgbClr val="157C80"/>
                </a:solidFill>
                <a:latin typeface="Arial"/>
                <a:ea typeface="Arial"/>
                <a:cs typeface="Arial"/>
              </a:defRPr>
            </a:lvl2pPr>
            <a:lvl3pPr>
              <a:defRPr sz="2100" b="0">
                <a:solidFill>
                  <a:srgbClr val="157C80"/>
                </a:solidFill>
                <a:latin typeface="Arial"/>
                <a:ea typeface="Arial"/>
                <a:cs typeface="Arial"/>
              </a:defRPr>
            </a:lvl3pPr>
            <a:lvl4pPr>
              <a:defRPr sz="2100" b="0">
                <a:solidFill>
                  <a:srgbClr val="157C80"/>
                </a:solidFill>
                <a:latin typeface="Arial"/>
                <a:ea typeface="Arial"/>
                <a:cs typeface="Arial"/>
              </a:defRPr>
            </a:lvl4pPr>
            <a:lvl5pPr>
              <a:defRPr sz="2100" b="0">
                <a:solidFill>
                  <a:srgbClr val="157C80"/>
                </a:solidFill>
                <a:latin typeface="Arial"/>
                <a:ea typeface="Arial"/>
                <a:cs typeface="Arial"/>
              </a:defRPr>
            </a:lvl5pPr>
            <a:lvl6pPr>
              <a:defRPr sz="2100" b="0">
                <a:solidFill>
                  <a:srgbClr val="157C80"/>
                </a:solidFill>
                <a:latin typeface="Arial"/>
                <a:ea typeface="Arial"/>
                <a:cs typeface="Arial"/>
              </a:defRPr>
            </a:lvl6pPr>
            <a:lvl7pPr>
              <a:defRPr sz="2100" b="0">
                <a:solidFill>
                  <a:srgbClr val="157C80"/>
                </a:solidFill>
                <a:latin typeface="Arial"/>
                <a:ea typeface="Arial"/>
                <a:cs typeface="Arial"/>
              </a:defRPr>
            </a:lvl7pPr>
            <a:lvl8pPr>
              <a:defRPr sz="2100" b="0">
                <a:solidFill>
                  <a:srgbClr val="157C80"/>
                </a:solidFill>
                <a:latin typeface="Arial"/>
                <a:ea typeface="Arial"/>
                <a:cs typeface="Arial"/>
              </a:defRPr>
            </a:lvl8pPr>
            <a:lvl9pPr>
              <a:defRPr sz="2100" b="0">
                <a:solidFill>
                  <a:srgbClr val="157C80"/>
                </a:solidFill>
                <a:latin typeface="Arial"/>
                <a:ea typeface="Arial"/>
                <a:cs typeface="Arial"/>
              </a:defRPr>
            </a:lvl9pPr>
          </a:lstStyle>
          <a:p xmlns:a="http://schemas.openxmlformats.org/drawingml/2006/main">
            <a:pPr>
              <a:defRPr sz="2100" b="0">
                <a:solidFill>
                  <a:srgbClr val="157C80"/>
                </a:solidFill>
                <a:latin typeface="Arial"/>
                <a:ea typeface="Arial"/>
                <a:cs typeface="Arial"/>
              </a:defRPr>
            </a:pPr>
            <a:r>
              <a:rPr sz="2100" b="0">
                <a:solidFill>
                  <a:srgbClr val="157C80"/>
                </a:solidFill>
                <a:latin typeface="Arial"/>
                <a:ea typeface="Arial"/>
                <a:cs typeface="Arial"/>
              </a:rPr>
              <a:t>Selecionar pela validação. Avaliar no teste somente ao final.</a:t>
            </a:r>
          </a:p>
        </p:txBody>
      </p:sp>
    </p:spTree>
    <p:extLst>
      <p:ext uri="{BB962C8B-B14F-4D97-AF65-F5344CB8AC3E}">
        <p14:creationId xmlns:p14="http://schemas.microsoft.com/office/powerpoint/2010/main" val="9602727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8B5467-C131-47AE-A525-9A4FC29216C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Dropout melhorou a validação nesta execução</a:t>
            </a:r>
          </a:p>
        </p:txBody>
      </p:sp>
      <p:sp>
        <p:nvSpPr>
          <p:cNvPr id="2" name="">
            <a:extLst xmlns:a="http://schemas.openxmlformats.org/drawingml/2006/main">
              <a:ext uri="{FF2B5EF4-FFF2-40B4-BE49-F238E27FC236}">
                <a16:creationId xmlns:a16="http://schemas.microsoft.com/office/drawing/2014/main" id="{5978DF06-0C20-4DD9-AAC7-5C31E14C55D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EF7051F6-4459-429C-90DC-AC09246C08B1}"/>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7A9C75BF-439A-41DB-A6A7-E7D36CC56740}"/>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3585557e40dd409c"/>
          </a:graphicData>
        </a:graphic>
      </p:graphicFrame>
      <p:sp>
        <p:nvSpPr>
          <p:cNvPr id="5" name="">
            <a:extLst xmlns:a="http://schemas.openxmlformats.org/drawingml/2006/main">
              <a:ext uri="{FF2B5EF4-FFF2-40B4-BE49-F238E27FC236}">
                <a16:creationId xmlns:a16="http://schemas.microsoft.com/office/drawing/2014/main" id="{FD714969-ABF8-4C3B-AFBE-370A9D6DBE6C}"/>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CNN inicial: 73,73% → CNN Dropout: 77,42%</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A melhoria foi acrescentar Dropout(0,3); o restante foi mantido.</a:t>
            </a:r>
          </a:p>
        </p:txBody>
      </p:sp>
    </p:spTree>
    <p:extLst>
      <p:ext uri="{BB962C8B-B14F-4D97-AF65-F5344CB8AC3E}">
        <p14:creationId xmlns:p14="http://schemas.microsoft.com/office/powerpoint/2010/main" val="1785024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01BA14-30ED-4B53-89B0-AD1C4DDFBA7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Perda de treino e validação</a:t>
            </a:r>
          </a:p>
        </p:txBody>
      </p:sp>
      <p:sp>
        <p:nvSpPr>
          <p:cNvPr id="2" name="">
            <a:extLst xmlns:a="http://schemas.openxmlformats.org/drawingml/2006/main">
              <a:ext uri="{FF2B5EF4-FFF2-40B4-BE49-F238E27FC236}">
                <a16:creationId xmlns:a16="http://schemas.microsoft.com/office/drawing/2014/main" id="{7FB2C92A-436F-4B52-95CA-46661744A667}"/>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BEC7C248-72D0-44C7-9EA0-456484B5BCD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BB81F69B-EF93-4E4C-8AE0-ED014FCE315B}"/>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413d3b8c15394386"/>
          </a:graphicData>
        </a:graphic>
      </p:graphicFrame>
      <p:graphicFrame>
        <p:nvGraphicFramePr>
          <p:cNvPr id="5" name="Chart">
            <a:extLst xmlns:a="http://schemas.openxmlformats.org/drawingml/2006/main">
              <a:ext uri="{FF2B5EF4-FFF2-40B4-BE49-F238E27FC236}">
                <a16:creationId xmlns:a16="http://schemas.microsoft.com/office/drawing/2014/main" id="{59FC895A-0292-4078-AD13-52A3EAE0650C}"/>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e5c8d47289a84bfe"/>
          </a:graphicData>
        </a:graphic>
      </p:graphicFrame>
      <p:sp>
        <p:nvSpPr>
          <p:cNvPr id="6" name="">
            <a:extLst xmlns:a="http://schemas.openxmlformats.org/drawingml/2006/main">
              <a:ext uri="{FF2B5EF4-FFF2-40B4-BE49-F238E27FC236}">
                <a16:creationId xmlns:a16="http://schemas.microsoft.com/office/drawing/2014/main" id="{37A66C48-A38E-4BDE-B5A0-2BA1779251F4}"/>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latin typeface="Arial"/>
                <a:ea typeface="Arial"/>
                <a:cs typeface="Arial"/>
              </a:defRPr>
            </a:defPPr>
            <a:lvl1pPr>
              <a:defRPr sz="1950" b="0">
                <a:solidFill>
                  <a:srgbClr val="243746"/>
                </a:solidFill>
                <a:latin typeface="Arial"/>
                <a:ea typeface="Arial"/>
                <a:cs typeface="Arial"/>
              </a:defRPr>
            </a:lvl1pPr>
            <a:lvl2pPr>
              <a:defRPr sz="1950" b="0">
                <a:solidFill>
                  <a:srgbClr val="243746"/>
                </a:solidFill>
                <a:latin typeface="Arial"/>
                <a:ea typeface="Arial"/>
                <a:cs typeface="Arial"/>
              </a:defRPr>
            </a:lvl2pPr>
            <a:lvl3pPr>
              <a:defRPr sz="1950" b="0">
                <a:solidFill>
                  <a:srgbClr val="243746"/>
                </a:solidFill>
                <a:latin typeface="Arial"/>
                <a:ea typeface="Arial"/>
                <a:cs typeface="Arial"/>
              </a:defRPr>
            </a:lvl3pPr>
            <a:lvl4pPr>
              <a:defRPr sz="1950" b="0">
                <a:solidFill>
                  <a:srgbClr val="243746"/>
                </a:solidFill>
                <a:latin typeface="Arial"/>
                <a:ea typeface="Arial"/>
                <a:cs typeface="Arial"/>
              </a:defRPr>
            </a:lvl4pPr>
            <a:lvl5pPr>
              <a:defRPr sz="1950" b="0">
                <a:solidFill>
                  <a:srgbClr val="243746"/>
                </a:solidFill>
                <a:latin typeface="Arial"/>
                <a:ea typeface="Arial"/>
                <a:cs typeface="Arial"/>
              </a:defRPr>
            </a:lvl5pPr>
            <a:lvl6pPr>
              <a:defRPr sz="1950" b="0">
                <a:solidFill>
                  <a:srgbClr val="243746"/>
                </a:solidFill>
                <a:latin typeface="Arial"/>
                <a:ea typeface="Arial"/>
                <a:cs typeface="Arial"/>
              </a:defRPr>
            </a:lvl6pPr>
            <a:lvl7pPr>
              <a:defRPr sz="1950" b="0">
                <a:solidFill>
                  <a:srgbClr val="243746"/>
                </a:solidFill>
                <a:latin typeface="Arial"/>
                <a:ea typeface="Arial"/>
                <a:cs typeface="Arial"/>
              </a:defRPr>
            </a:lvl7pPr>
            <a:lvl8pPr>
              <a:defRPr sz="1950" b="0">
                <a:solidFill>
                  <a:srgbClr val="243746"/>
                </a:solidFill>
                <a:latin typeface="Arial"/>
                <a:ea typeface="Arial"/>
                <a:cs typeface="Arial"/>
              </a:defRPr>
            </a:lvl8pPr>
            <a:lvl9pPr>
              <a:defRPr sz="1950" b="0">
                <a:solidFill>
                  <a:srgbClr val="243746"/>
                </a:solidFill>
                <a:latin typeface="Arial"/>
                <a:ea typeface="Arial"/>
                <a:cs typeface="Arial"/>
              </a:defRPr>
            </a:lvl9pPr>
          </a:lstStyle>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Pesos restaurados: época 10 na CNN inicial; época 29 com Dropout.</a:t>
            </a:r>
          </a:p>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A validação estabiliza enquanto a perda de treino continua caindo.</a:t>
            </a:r>
          </a:p>
        </p:txBody>
      </p:sp>
    </p:spTree>
    <p:extLst>
      <p:ext uri="{BB962C8B-B14F-4D97-AF65-F5344CB8AC3E}">
        <p14:creationId xmlns:p14="http://schemas.microsoft.com/office/powerpoint/2010/main" val="19516217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547E4F-1B61-40DC-A222-E09A7688D52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Teste final: 178 acertos em 216 imagens</a:t>
            </a:r>
          </a:p>
        </p:txBody>
      </p:sp>
      <p:sp>
        <p:nvSpPr>
          <p:cNvPr id="2" name="">
            <a:extLst xmlns:a="http://schemas.openxmlformats.org/drawingml/2006/main">
              <a:ext uri="{FF2B5EF4-FFF2-40B4-BE49-F238E27FC236}">
                <a16:creationId xmlns:a16="http://schemas.microsoft.com/office/drawing/2014/main" id="{B5166A1F-F5DF-4C92-95E2-A3D75835E73C}"/>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2 minutos</a:t>
            </a:r>
          </a:p>
        </p:txBody>
      </p:sp>
      <p:sp>
        <p:nvSpPr>
          <p:cNvPr id="3" name="">
            <a:extLst xmlns:a="http://schemas.openxmlformats.org/drawingml/2006/main">
              <a:ext uri="{FF2B5EF4-FFF2-40B4-BE49-F238E27FC236}">
                <a16:creationId xmlns:a16="http://schemas.microsoft.com/office/drawing/2014/main" id="{7B2B41E9-EE4E-497B-B750-15F80480C7A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535FD211-FCC3-44D6-8109-1DC55006A8A6}"/>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latin typeface="Arial"/>
                          <a:ea typeface="Arial"/>
                          <a:cs typeface="Aria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0B22322F-D1CC-483F-8040-61305071363F}"/>
              </a:ext>
            </a:extLst>
          </p:cNvPr>
          <p:cNvPicPr>
            <a:picLocks xmlns:a="http://schemas.openxmlformats.org/drawingml/2006/main" noChangeAspect="1"/>
          </p:cNvPicPr>
          <p:nvPr/>
        </p:nvPicPr>
        <p:blipFill>
          <a:blip xmlns:r="http://schemas.openxmlformats.org/officeDocument/2006/relationships" xmlns:a="http://schemas.openxmlformats.org/drawingml/2006/main" r:embed="R3f3f06b498cc4ce2"/>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1AABCFD-6409-4B97-BDC9-A68DD2893F8E}"/>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38 erros</a:t>
            </a:r>
          </a:p>
          <a:p xmlns:a="http://schemas.openxmlformats.org/drawingml/2006/main">
            <a:r>
              <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O → 0: 4 casos</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S → 5: 2 casos</a:t>
            </a:r>
          </a:p>
        </p:txBody>
      </p:sp>
    </p:spTree>
    <p:extLst>
      <p:ext uri="{BB962C8B-B14F-4D97-AF65-F5344CB8AC3E}">
        <p14:creationId xmlns:p14="http://schemas.microsoft.com/office/powerpoint/2010/main" val="20060348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9C6091-FE66-434C-B5D7-69062A4BEA6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Uso pretendido e limitações</a:t>
            </a:r>
          </a:p>
        </p:txBody>
      </p:sp>
      <p:sp>
        <p:nvSpPr>
          <p:cNvPr id="2" name="">
            <a:extLst xmlns:a="http://schemas.openxmlformats.org/drawingml/2006/main">
              <a:ext uri="{FF2B5EF4-FFF2-40B4-BE49-F238E27FC236}">
                <a16:creationId xmlns:a16="http://schemas.microsoft.com/office/drawing/2014/main" id="{E1DBF212-F455-42F6-B3C3-9BFC638241E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1 minuto</a:t>
            </a:r>
          </a:p>
        </p:txBody>
      </p:sp>
      <p:sp>
        <p:nvSpPr>
          <p:cNvPr id="3" name="">
            <a:extLst xmlns:a="http://schemas.openxmlformats.org/drawingml/2006/main">
              <a:ext uri="{FF2B5EF4-FFF2-40B4-BE49-F238E27FC236}">
                <a16:creationId xmlns:a16="http://schemas.microsoft.com/office/drawing/2014/main" id="{153E6715-9152-4A25-8A7B-BECC94278D2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2F9C44BB-54F9-4DE4-9515-B6806C579774}"/>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latin typeface="Arial"/>
                <a:ea typeface="Arial"/>
                <a:cs typeface="Arial"/>
              </a:defRPr>
            </a:defPPr>
            <a:lvl1pPr>
              <a:defRPr sz="2700" b="1">
                <a:solidFill>
                  <a:srgbClr val="157C80"/>
                </a:solidFill>
                <a:latin typeface="Arial"/>
                <a:ea typeface="Arial"/>
                <a:cs typeface="Arial"/>
              </a:defRPr>
            </a:lvl1pPr>
            <a:lvl2pPr>
              <a:defRPr sz="2700" b="1">
                <a:solidFill>
                  <a:srgbClr val="157C80"/>
                </a:solidFill>
                <a:latin typeface="Arial"/>
                <a:ea typeface="Arial"/>
                <a:cs typeface="Arial"/>
              </a:defRPr>
            </a:lvl2pPr>
            <a:lvl3pPr>
              <a:defRPr sz="2700" b="1">
                <a:solidFill>
                  <a:srgbClr val="157C80"/>
                </a:solidFill>
                <a:latin typeface="Arial"/>
                <a:ea typeface="Arial"/>
                <a:cs typeface="Arial"/>
              </a:defRPr>
            </a:lvl3pPr>
            <a:lvl4pPr>
              <a:defRPr sz="2700" b="1">
                <a:solidFill>
                  <a:srgbClr val="157C80"/>
                </a:solidFill>
                <a:latin typeface="Arial"/>
                <a:ea typeface="Arial"/>
                <a:cs typeface="Arial"/>
              </a:defRPr>
            </a:lvl4pPr>
            <a:lvl5pPr>
              <a:defRPr sz="2700" b="1">
                <a:solidFill>
                  <a:srgbClr val="157C80"/>
                </a:solidFill>
                <a:latin typeface="Arial"/>
                <a:ea typeface="Arial"/>
                <a:cs typeface="Arial"/>
              </a:defRPr>
            </a:lvl5pPr>
            <a:lvl6pPr>
              <a:defRPr sz="2700" b="1">
                <a:solidFill>
                  <a:srgbClr val="157C80"/>
                </a:solidFill>
                <a:latin typeface="Arial"/>
                <a:ea typeface="Arial"/>
                <a:cs typeface="Arial"/>
              </a:defRPr>
            </a:lvl6pPr>
            <a:lvl7pPr>
              <a:defRPr sz="2700" b="1">
                <a:solidFill>
                  <a:srgbClr val="157C80"/>
                </a:solidFill>
                <a:latin typeface="Arial"/>
                <a:ea typeface="Arial"/>
                <a:cs typeface="Arial"/>
              </a:defRPr>
            </a:lvl7pPr>
            <a:lvl8pPr>
              <a:defRPr sz="2700" b="1">
                <a:solidFill>
                  <a:srgbClr val="157C80"/>
                </a:solidFill>
                <a:latin typeface="Arial"/>
                <a:ea typeface="Arial"/>
                <a:cs typeface="Arial"/>
              </a:defRPr>
            </a:lvl8pPr>
            <a:lvl9pPr>
              <a:defRPr sz="2700" b="1">
                <a:solidFill>
                  <a:srgbClr val="157C80"/>
                </a:solidFill>
                <a:latin typeface="Arial"/>
                <a:ea typeface="Arial"/>
                <a:cs typeface="Arial"/>
              </a:defRPr>
            </a:lvl9pPr>
          </a:lstStyle>
          <a:p xmlns:a="http://schemas.openxmlformats.org/drawingml/2006/main">
            <a:pPr>
              <a:defRPr sz="2700" b="1">
                <a:solidFill>
                  <a:srgbClr val="157C80"/>
                </a:solidFill>
                <a:latin typeface="Arial"/>
                <a:ea typeface="Arial"/>
                <a:cs typeface="Arial"/>
              </a:defRPr>
            </a:pPr>
            <a:r>
              <a:rPr sz="2700" b="1">
                <a:solidFill>
                  <a:srgbClr val="157C80"/>
                </a:solidFill>
                <a:latin typeface="Arial"/>
                <a:ea typeface="Arial"/>
                <a:cs typeface="Aria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54552092-6934-40FD-B18F-D90AB0338C4A}"/>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latin typeface="Arial"/>
                <a:ea typeface="Arial"/>
                <a:cs typeface="Arial"/>
              </a:defRPr>
            </a:defPPr>
            <a:lvl1pPr>
              <a:defRPr sz="2325" b="0">
                <a:solidFill>
                  <a:srgbClr val="243746"/>
                </a:solidFill>
                <a:latin typeface="Arial"/>
                <a:ea typeface="Arial"/>
                <a:cs typeface="Arial"/>
              </a:defRPr>
            </a:lvl1pPr>
            <a:lvl2pPr>
              <a:defRPr sz="2325" b="0">
                <a:solidFill>
                  <a:srgbClr val="243746"/>
                </a:solidFill>
                <a:latin typeface="Arial"/>
                <a:ea typeface="Arial"/>
                <a:cs typeface="Arial"/>
              </a:defRPr>
            </a:lvl2pPr>
            <a:lvl3pPr>
              <a:defRPr sz="2325" b="0">
                <a:solidFill>
                  <a:srgbClr val="243746"/>
                </a:solidFill>
                <a:latin typeface="Arial"/>
                <a:ea typeface="Arial"/>
                <a:cs typeface="Arial"/>
              </a:defRPr>
            </a:lvl3pPr>
            <a:lvl4pPr>
              <a:defRPr sz="2325" b="0">
                <a:solidFill>
                  <a:srgbClr val="243746"/>
                </a:solidFill>
                <a:latin typeface="Arial"/>
                <a:ea typeface="Arial"/>
                <a:cs typeface="Arial"/>
              </a:defRPr>
            </a:lvl4pPr>
            <a:lvl5pPr>
              <a:defRPr sz="2325" b="0">
                <a:solidFill>
                  <a:srgbClr val="243746"/>
                </a:solidFill>
                <a:latin typeface="Arial"/>
                <a:ea typeface="Arial"/>
                <a:cs typeface="Arial"/>
              </a:defRPr>
            </a:lvl5pPr>
            <a:lvl6pPr>
              <a:defRPr sz="2325" b="0">
                <a:solidFill>
                  <a:srgbClr val="243746"/>
                </a:solidFill>
                <a:latin typeface="Arial"/>
                <a:ea typeface="Arial"/>
                <a:cs typeface="Arial"/>
              </a:defRPr>
            </a:lvl6pPr>
            <a:lvl7pPr>
              <a:defRPr sz="2325" b="0">
                <a:solidFill>
                  <a:srgbClr val="243746"/>
                </a:solidFill>
                <a:latin typeface="Arial"/>
                <a:ea typeface="Arial"/>
                <a:cs typeface="Arial"/>
              </a:defRPr>
            </a:lvl7pPr>
            <a:lvl8pPr>
              <a:defRPr sz="2325" b="0">
                <a:solidFill>
                  <a:srgbClr val="243746"/>
                </a:solidFill>
                <a:latin typeface="Arial"/>
                <a:ea typeface="Arial"/>
                <a:cs typeface="Arial"/>
              </a:defRPr>
            </a:lvl8pPr>
            <a:lvl9pPr>
              <a:defRPr sz="2325" b="0">
                <a:solidFill>
                  <a:srgbClr val="243746"/>
                </a:solidFill>
                <a:latin typeface="Arial"/>
                <a:ea typeface="Arial"/>
                <a:cs typeface="Arial"/>
              </a:defRPr>
            </a:lvl9pPr>
          </a:lstStyle>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0/O: pixels idênticos, rótulos conflitantes.</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Poucos exemplos por classe e uma única divisão.</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E849B53B-1B20-4F28-AE59-71606A43353D}"/>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latin typeface="Arial"/>
                <a:ea typeface="Arial"/>
                <a:cs typeface="Arial"/>
              </a:defRPr>
            </a:defPPr>
            <a:lvl1pPr>
              <a:defRPr sz="2100" b="0">
                <a:solidFill>
                  <a:srgbClr val="123F5D"/>
                </a:solidFill>
                <a:latin typeface="Arial"/>
                <a:ea typeface="Arial"/>
                <a:cs typeface="Arial"/>
              </a:defRPr>
            </a:lvl1pPr>
            <a:lvl2pPr>
              <a:defRPr sz="2100" b="0">
                <a:solidFill>
                  <a:srgbClr val="123F5D"/>
                </a:solidFill>
                <a:latin typeface="Arial"/>
                <a:ea typeface="Arial"/>
                <a:cs typeface="Arial"/>
              </a:defRPr>
            </a:lvl2pPr>
            <a:lvl3pPr>
              <a:defRPr sz="2100" b="0">
                <a:solidFill>
                  <a:srgbClr val="123F5D"/>
                </a:solidFill>
                <a:latin typeface="Arial"/>
                <a:ea typeface="Arial"/>
                <a:cs typeface="Arial"/>
              </a:defRPr>
            </a:lvl3pPr>
            <a:lvl4pPr>
              <a:defRPr sz="2100" b="0">
                <a:solidFill>
                  <a:srgbClr val="123F5D"/>
                </a:solidFill>
                <a:latin typeface="Arial"/>
                <a:ea typeface="Arial"/>
                <a:cs typeface="Arial"/>
              </a:defRPr>
            </a:lvl4pPr>
            <a:lvl5pPr>
              <a:defRPr sz="2100" b="0">
                <a:solidFill>
                  <a:srgbClr val="123F5D"/>
                </a:solidFill>
                <a:latin typeface="Arial"/>
                <a:ea typeface="Arial"/>
                <a:cs typeface="Arial"/>
              </a:defRPr>
            </a:lvl5pPr>
            <a:lvl6pPr>
              <a:defRPr sz="2100" b="0">
                <a:solidFill>
                  <a:srgbClr val="123F5D"/>
                </a:solidFill>
                <a:latin typeface="Arial"/>
                <a:ea typeface="Arial"/>
                <a:cs typeface="Arial"/>
              </a:defRPr>
            </a:lvl6pPr>
            <a:lvl7pPr>
              <a:defRPr sz="2100" b="0">
                <a:solidFill>
                  <a:srgbClr val="123F5D"/>
                </a:solidFill>
                <a:latin typeface="Arial"/>
                <a:ea typeface="Arial"/>
                <a:cs typeface="Arial"/>
              </a:defRPr>
            </a:lvl7pPr>
            <a:lvl8pPr>
              <a:defRPr sz="2100" b="0">
                <a:solidFill>
                  <a:srgbClr val="123F5D"/>
                </a:solidFill>
                <a:latin typeface="Arial"/>
                <a:ea typeface="Arial"/>
                <a:cs typeface="Arial"/>
              </a:defRPr>
            </a:lvl8pPr>
            <a:lvl9pPr>
              <a:defRPr sz="2100" b="0">
                <a:solidFill>
                  <a:srgbClr val="123F5D"/>
                </a:solidFill>
                <a:latin typeface="Arial"/>
                <a:ea typeface="Arial"/>
                <a:cs typeface="Arial"/>
              </a:defRPr>
            </a:lvl9pPr>
          </a:lstStyle>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Próximo passo: validar em dados externos e medir quando o modelo</a:t>
            </a:r>
          </a:p>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deve se abster, antes de propor qualquer aplicação operacional.</a:t>
            </a:r>
          </a:p>
        </p:txBody>
      </p:sp>
    </p:spTree>
    <p:extLst>
      <p:ext uri="{BB962C8B-B14F-4D97-AF65-F5344CB8AC3E}">
        <p14:creationId xmlns:p14="http://schemas.microsoft.com/office/powerpoint/2010/main" val="438505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2026-10-19T14:05:25.8110000Z</dcterms:created>
  <dcterms:modified xsi:type="dcterms:W3CDTF">2026-10-19T14:05:25.8110000Z</dcterms:modified>
</coreProperties>
</file>